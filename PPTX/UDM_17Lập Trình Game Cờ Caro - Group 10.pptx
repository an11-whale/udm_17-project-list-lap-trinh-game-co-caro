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7" r:id="rId7"/>
    <p:sldId id="262" r:id="rId8"/>
    <p:sldId id="283" r:id="rId9"/>
    <p:sldId id="268" r:id="rId10"/>
    <p:sldId id="261" r:id="rId11"/>
    <p:sldId id="269" r:id="rId12"/>
    <p:sldId id="270" r:id="rId13"/>
    <p:sldId id="271" r:id="rId14"/>
    <p:sldId id="272" r:id="rId15"/>
    <p:sldId id="274" r:id="rId16"/>
    <p:sldId id="278" r:id="rId17"/>
    <p:sldId id="279" r:id="rId18"/>
    <p:sldId id="280" r:id="rId19"/>
    <p:sldId id="273" r:id="rId20"/>
    <p:sldId id="275" r:id="rId21"/>
    <p:sldId id="281" r:id="rId22"/>
    <p:sldId id="276" r:id="rId23"/>
    <p:sldId id="277" r:id="rId24"/>
    <p:sldId id="282" r:id="rId25"/>
    <p:sldId id="266" r:id="rId26"/>
    <p:sldId id="263" r:id="rId27"/>
    <p:sldId id="264" r:id="rId28"/>
    <p:sldId id="265" r:id="rId29"/>
  </p:sldIdLst>
  <p:sldSz cx="18288000" cy="10287000"/>
  <p:notesSz cx="6858000" cy="9144000"/>
  <p:embeddedFontLst>
    <p:embeddedFont>
      <p:font typeface="Bahnschrift SemiBold" panose="020B0502040204020203" pitchFamily="34" charset="0"/>
      <p:bold r:id="rId30"/>
    </p:embeddedFont>
    <p:embeddedFont>
      <p:font typeface="Bahnschrift SemiBold SemiConden" panose="020B0502040204020203" pitchFamily="34" charset="0"/>
      <p:bold r:id="rId31"/>
    </p:embeddedFont>
    <p:embeddedFont>
      <p:font typeface="Calibri" panose="020F0502020204030204" pitchFamily="34" charset="0"/>
      <p:regular r:id="rId32"/>
      <p:bold r:id="rId33"/>
      <p:italic r:id="rId34"/>
      <p:boldItalic r:id="rId35"/>
    </p:embeddedFont>
    <p:embeddedFont>
      <p:font typeface="Canva Sans Bold" panose="020B0604020202020204" charset="0"/>
      <p:regular r:id="rId36"/>
    </p:embeddedFont>
    <p:embeddedFont>
      <p:font typeface="Heading Now 71-78" panose="020B0604020202020204" charset="0"/>
      <p:regular r:id="rId37"/>
    </p:embeddedFont>
    <p:embeddedFont>
      <p:font typeface="Public Sans" panose="020B0604020202020204" charset="0"/>
      <p:regular r:id="rId38"/>
    </p:embeddedFont>
    <p:embeddedFont>
      <p:font typeface="Public Sans Bold" panose="020B0604020202020204" charset="0"/>
      <p:regular r:id="rId39"/>
    </p:embeddedFont>
    <p:embeddedFont>
      <p:font typeface="Public Sans Thin" panose="020B0604020202020204" charset="0"/>
      <p:regular r:id="rId40"/>
    </p:embeddedFont>
    <p:embeddedFont>
      <p:font typeface="TT Firs Neue" panose="020B0604020202020204" charset="0"/>
      <p:regular r:id="rId41"/>
    </p:embeddedFont>
    <p:embeddedFont>
      <p:font typeface="TT Firs Neue Bold" panose="020B0604020202020204"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àng Pha" initials="HP" lastIdx="1" clrIdx="0">
    <p:extLst>
      <p:ext uri="{19B8F6BF-5375-455C-9EA6-DF929625EA0E}">
        <p15:presenceInfo xmlns:p15="http://schemas.microsoft.com/office/powerpoint/2012/main" userId="733839d69f52755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32D"/>
    <a:srgbClr val="FFFFFF"/>
    <a:srgbClr val="E1FEFF"/>
    <a:srgbClr val="4172C6"/>
    <a:srgbClr val="D0D9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6733" autoAdjust="0"/>
  </p:normalViewPr>
  <p:slideViewPr>
    <p:cSldViewPr>
      <p:cViewPr varScale="1">
        <p:scale>
          <a:sx n="58" d="100"/>
          <a:sy n="58" d="100"/>
        </p:scale>
        <p:origin x="51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2.svg"/><Relationship Id="rId10" Type="http://schemas.openxmlformats.org/officeDocument/2006/relationships/image" Target="../media/image10.jpeg"/><Relationship Id="rId4" Type="http://schemas.openxmlformats.org/officeDocument/2006/relationships/image" Target="../media/image1.png"/><Relationship Id="rId9"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0.jpeg"/><Relationship Id="rId7" Type="http://schemas.openxmlformats.org/officeDocument/2006/relationships/image" Target="../media/image4.sv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10.jpe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4.sv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8.svg"/><Relationship Id="rId7"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4.svg"/><Relationship Id="rId10"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8.svg"/><Relationship Id="rId7"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4.svg"/><Relationship Id="rId10" Type="http://schemas.openxmlformats.org/officeDocument/2006/relationships/image" Target="../media/image22.png"/><Relationship Id="rId4" Type="http://schemas.openxmlformats.org/officeDocument/2006/relationships/image" Target="../media/image3.png"/><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4.svg"/><Relationship Id="rId7"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8.svg"/><Relationship Id="rId10" Type="http://schemas.openxmlformats.org/officeDocument/2006/relationships/image" Target="../media/image23.png"/><Relationship Id="rId4" Type="http://schemas.openxmlformats.org/officeDocument/2006/relationships/image" Target="../media/image7.png"/><Relationship Id="rId9"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8.sv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8.sv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8.sv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8.sv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8.sv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svg"/><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30.png"/></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svg"/><Relationship Id="rId7"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2.png"/><Relationship Id="rId5" Type="http://schemas.openxmlformats.org/officeDocument/2006/relationships/image" Target="../media/image8.svg"/><Relationship Id="rId10" Type="http://schemas.openxmlformats.org/officeDocument/2006/relationships/image" Target="../media/image31.png"/><Relationship Id="rId4" Type="http://schemas.openxmlformats.org/officeDocument/2006/relationships/image" Target="../media/image7.png"/><Relationship Id="rId9"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8.sv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8" Type="http://schemas.openxmlformats.org/officeDocument/2006/relationships/image" Target="../media/image41.svg"/><Relationship Id="rId13" Type="http://schemas.openxmlformats.org/officeDocument/2006/relationships/image" Target="../media/image46.png"/><Relationship Id="rId3" Type="http://schemas.openxmlformats.org/officeDocument/2006/relationships/image" Target="../media/image3.png"/><Relationship Id="rId7" Type="http://schemas.openxmlformats.org/officeDocument/2006/relationships/image" Target="../media/image40.png"/><Relationship Id="rId12" Type="http://schemas.openxmlformats.org/officeDocument/2006/relationships/image" Target="../media/image45.svg"/><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39.sv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4.svg"/><Relationship Id="rId9" Type="http://schemas.openxmlformats.org/officeDocument/2006/relationships/image" Target="../media/image42.png"/><Relationship Id="rId14" Type="http://schemas.openxmlformats.org/officeDocument/2006/relationships/image" Target="../media/image47.svg"/></Relationships>
</file>

<file path=ppt/slides/_rels/slide28.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4.svg"/><Relationship Id="rId7" Type="http://schemas.openxmlformats.org/officeDocument/2006/relationships/image" Target="../media/image5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878377" y="0"/>
            <a:ext cx="6409623" cy="10218240"/>
          </a:xfrm>
          <a:custGeom>
            <a:avLst/>
            <a:gdLst/>
            <a:ahLst/>
            <a:cxnLst/>
            <a:rect l="l" t="t" r="r" b="b"/>
            <a:pathLst>
              <a:path w="6409623" h="10218240">
                <a:moveTo>
                  <a:pt x="0" y="0"/>
                </a:moveTo>
                <a:lnTo>
                  <a:pt x="6409623" y="0"/>
                </a:lnTo>
                <a:lnTo>
                  <a:pt x="6409623" y="10218240"/>
                </a:lnTo>
                <a:lnTo>
                  <a:pt x="0" y="102182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16070" y="0"/>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453034" y="1726940"/>
            <a:ext cx="6734109" cy="390428"/>
          </a:xfrm>
          <a:prstGeom prst="rect">
            <a:avLst/>
          </a:prstGeom>
        </p:spPr>
        <p:txBody>
          <a:bodyPr wrap="square" lIns="0" tIns="0" rIns="0" bIns="0" rtlCol="0" anchor="t">
            <a:spAutoFit/>
          </a:bodyPr>
          <a:lstStyle/>
          <a:p>
            <a:pPr>
              <a:lnSpc>
                <a:spcPts val="3359"/>
              </a:lnSpc>
            </a:pPr>
            <a:r>
              <a:rPr lang="vi-VN" sz="2400">
                <a:solidFill>
                  <a:srgbClr val="000000"/>
                </a:solidFill>
                <a:latin typeface="Bahnschrift SemiBold" panose="020B0502040204020203" pitchFamily="34" charset="0"/>
                <a:ea typeface="TT Firs Neue"/>
                <a:cs typeface="TT Firs Neue"/>
                <a:sym typeface="TT Firs Neue"/>
              </a:rPr>
              <a:t>Lập trình mạng (</a:t>
            </a:r>
            <a:r>
              <a:rPr lang="en-US" sz="2400" i="0">
                <a:solidFill>
                  <a:srgbClr val="3B2A56"/>
                </a:solidFill>
                <a:effectLst/>
                <a:latin typeface="Bahnschrift SemiBold" panose="020B0502040204020203" pitchFamily="34" charset="0"/>
                <a:cs typeface="Times New Roman" panose="02020603050405020304" pitchFamily="18" charset="0"/>
              </a:rPr>
              <a:t>01</a:t>
            </a:r>
            <a:r>
              <a:rPr lang="vi-VN" sz="2400" i="0">
                <a:solidFill>
                  <a:srgbClr val="3B2A56"/>
                </a:solidFill>
                <a:effectLst/>
                <a:latin typeface="Bahnschrift SemiBold" panose="020B0502040204020203" pitchFamily="34" charset="0"/>
                <a:cs typeface="Times New Roman" panose="02020603050405020304" pitchFamily="18" charset="0"/>
              </a:rPr>
              <a:t>2012301306)</a:t>
            </a:r>
            <a:endParaRPr lang="en-US" sz="2400">
              <a:solidFill>
                <a:srgbClr val="000000"/>
              </a:solidFill>
              <a:latin typeface="Bahnschrift SemiBold" panose="020B0502040204020203" pitchFamily="34" charset="0"/>
              <a:ea typeface="TT Firs Neue"/>
              <a:cs typeface="TT Firs Neue"/>
              <a:sym typeface="TT Firs Neue"/>
            </a:endParaRPr>
          </a:p>
        </p:txBody>
      </p:sp>
      <p:sp>
        <p:nvSpPr>
          <p:cNvPr id="7" name="TextBox 7"/>
          <p:cNvSpPr txBox="1"/>
          <p:nvPr/>
        </p:nvSpPr>
        <p:spPr>
          <a:xfrm>
            <a:off x="1440982" y="3917078"/>
            <a:ext cx="7768585" cy="2092881"/>
          </a:xfrm>
          <a:prstGeom prst="rect">
            <a:avLst/>
          </a:prstGeom>
        </p:spPr>
        <p:txBody>
          <a:bodyPr lIns="0" tIns="0" rIns="0" bIns="0" rtlCol="0" anchor="t">
            <a:spAutoFit/>
          </a:bodyPr>
          <a:lstStyle/>
          <a:p>
            <a:pPr algn="l"/>
            <a:r>
              <a:rPr lang="vi-VN" sz="6800">
                <a:solidFill>
                  <a:srgbClr val="000000"/>
                </a:solidFill>
                <a:latin typeface="Heading Now 71-78"/>
                <a:ea typeface="Heading Now 71-78"/>
                <a:cs typeface="Heading Now 71-78"/>
                <a:sym typeface="Heading Now 71-78"/>
              </a:rPr>
              <a:t>Lập Trình Game</a:t>
            </a:r>
          </a:p>
          <a:p>
            <a:pPr algn="l"/>
            <a:r>
              <a:rPr lang="vi-VN" sz="6800">
                <a:solidFill>
                  <a:srgbClr val="000000"/>
                </a:solidFill>
                <a:latin typeface="Heading Now 71-78"/>
                <a:ea typeface="Heading Now 71-78"/>
                <a:cs typeface="Heading Now 71-78"/>
                <a:sym typeface="Heading Now 71-78"/>
              </a:rPr>
              <a:t>Cờ Caro</a:t>
            </a:r>
            <a:endParaRPr lang="en-US" sz="6800">
              <a:solidFill>
                <a:srgbClr val="000000"/>
              </a:solidFill>
              <a:latin typeface="Heading Now 71-78"/>
              <a:ea typeface="Heading Now 71-78"/>
              <a:cs typeface="Heading Now 71-78"/>
              <a:sym typeface="Heading Now 71-78"/>
            </a:endParaRPr>
          </a:p>
        </p:txBody>
      </p:sp>
      <p:sp>
        <p:nvSpPr>
          <p:cNvPr id="8" name="TextBox 8"/>
          <p:cNvSpPr txBox="1"/>
          <p:nvPr/>
        </p:nvSpPr>
        <p:spPr>
          <a:xfrm>
            <a:off x="1453034" y="7381988"/>
            <a:ext cx="7135268" cy="855362"/>
          </a:xfrm>
          <a:prstGeom prst="rect">
            <a:avLst/>
          </a:prstGeom>
        </p:spPr>
        <p:txBody>
          <a:bodyPr wrap="square" lIns="0" tIns="0" rIns="0" bIns="0" rtlCol="0" anchor="t">
            <a:spAutoFit/>
          </a:bodyPr>
          <a:lstStyle/>
          <a:p>
            <a:pPr algn="l">
              <a:lnSpc>
                <a:spcPts val="3359"/>
              </a:lnSpc>
            </a:pPr>
            <a:r>
              <a:rPr lang="vi-VN" sz="2400" b="0" i="0">
                <a:effectLst/>
                <a:latin typeface="Mona Sans VF"/>
              </a:rPr>
              <a:t>Ứng dụng game cờ caro nhiều người chơi (Multiplayer) theo mô hình Client - Server</a:t>
            </a:r>
            <a:endParaRPr lang="en-US" sz="2400">
              <a:latin typeface="TT Firs Neue"/>
              <a:ea typeface="TT Firs Neue"/>
              <a:cs typeface="TT Firs Neue"/>
              <a:sym typeface="TT Firs Neue"/>
            </a:endParaRPr>
          </a:p>
        </p:txBody>
      </p:sp>
      <p:grpSp>
        <p:nvGrpSpPr>
          <p:cNvPr id="13" name="Group 12">
            <a:extLst>
              <a:ext uri="{FF2B5EF4-FFF2-40B4-BE49-F238E27FC236}">
                <a16:creationId xmlns:a16="http://schemas.microsoft.com/office/drawing/2014/main" id="{33E86B1B-DFA0-4250-9975-2A46981C02F1}"/>
              </a:ext>
            </a:extLst>
          </p:cNvPr>
          <p:cNvGrpSpPr/>
          <p:nvPr/>
        </p:nvGrpSpPr>
        <p:grpSpPr>
          <a:xfrm>
            <a:off x="1453034" y="8830374"/>
            <a:ext cx="4688479" cy="420045"/>
            <a:chOff x="228600" y="8522242"/>
            <a:chExt cx="4688479" cy="420045"/>
          </a:xfrm>
        </p:grpSpPr>
        <p:sp>
          <p:nvSpPr>
            <p:cNvPr id="9" name="TextBox 9"/>
            <p:cNvSpPr txBox="1"/>
            <p:nvPr/>
          </p:nvSpPr>
          <p:spPr>
            <a:xfrm>
              <a:off x="228600" y="8522242"/>
              <a:ext cx="2133600" cy="417615"/>
            </a:xfrm>
            <a:prstGeom prst="rect">
              <a:avLst/>
            </a:prstGeom>
          </p:spPr>
          <p:txBody>
            <a:bodyPr wrap="square" lIns="0" tIns="0" rIns="0" bIns="0" rtlCol="0" anchor="t">
              <a:spAutoFit/>
            </a:bodyPr>
            <a:lstStyle/>
            <a:p>
              <a:pPr algn="l">
                <a:lnSpc>
                  <a:spcPts val="3359"/>
                </a:lnSpc>
              </a:pPr>
              <a:r>
                <a:rPr lang="vi-VN" sz="2400">
                  <a:solidFill>
                    <a:srgbClr val="000000"/>
                  </a:solidFill>
                  <a:latin typeface="TT Firs Neue"/>
                  <a:ea typeface="TT Firs Neue"/>
                  <a:cs typeface="TT Firs Neue"/>
                  <a:sym typeface="TT Firs Neue"/>
                </a:rPr>
                <a:t>Trình bày bởi</a:t>
              </a:r>
              <a:r>
                <a:rPr lang="en-US" sz="2400">
                  <a:solidFill>
                    <a:srgbClr val="000000"/>
                  </a:solidFill>
                  <a:latin typeface="TT Firs Neue"/>
                  <a:ea typeface="TT Firs Neue"/>
                  <a:cs typeface="TT Firs Neue"/>
                  <a:sym typeface="TT Firs Neue"/>
                </a:rPr>
                <a:t>:</a:t>
              </a:r>
            </a:p>
          </p:txBody>
        </p:sp>
        <p:sp>
          <p:nvSpPr>
            <p:cNvPr id="10" name="TextBox 10"/>
            <p:cNvSpPr txBox="1"/>
            <p:nvPr/>
          </p:nvSpPr>
          <p:spPr>
            <a:xfrm>
              <a:off x="2277699" y="8522941"/>
              <a:ext cx="2639380" cy="419346"/>
            </a:xfrm>
            <a:prstGeom prst="rect">
              <a:avLst/>
            </a:prstGeom>
          </p:spPr>
          <p:txBody>
            <a:bodyPr lIns="0" tIns="0" rIns="0" bIns="0" rtlCol="0" anchor="t">
              <a:spAutoFit/>
            </a:bodyPr>
            <a:lstStyle/>
            <a:p>
              <a:pPr algn="l">
                <a:lnSpc>
                  <a:spcPts val="3359"/>
                </a:lnSpc>
              </a:pPr>
              <a:r>
                <a:rPr lang="vi-VN" sz="2400" b="1">
                  <a:solidFill>
                    <a:srgbClr val="000000"/>
                  </a:solidFill>
                  <a:latin typeface="TT Firs Neue Bold"/>
                  <a:ea typeface="TT Firs Neue Bold"/>
                  <a:cs typeface="TT Firs Neue Bold"/>
                  <a:sym typeface="TT Firs Neue Bold"/>
                </a:rPr>
                <a:t>Nhóm 10</a:t>
              </a:r>
              <a:endParaRPr lang="en-US" sz="2400" b="1">
                <a:solidFill>
                  <a:srgbClr val="000000"/>
                </a:solidFill>
                <a:latin typeface="TT Firs Neue Bold"/>
                <a:ea typeface="TT Firs Neue Bold"/>
                <a:cs typeface="TT Firs Neue Bold"/>
                <a:sym typeface="TT Firs Neue Bold"/>
              </a:endParaRPr>
            </a:p>
          </p:txBody>
        </p:sp>
      </p:grpSp>
      <p:sp>
        <p:nvSpPr>
          <p:cNvPr id="11" name="Freeform 11"/>
          <p:cNvSpPr/>
          <p:nvPr/>
        </p:nvSpPr>
        <p:spPr>
          <a:xfrm rot="-10800000">
            <a:off x="5532183" y="9038317"/>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AutoShape 12"/>
          <p:cNvSpPr/>
          <p:nvPr/>
        </p:nvSpPr>
        <p:spPr>
          <a:xfrm>
            <a:off x="1472084" y="2254983"/>
            <a:ext cx="4060099" cy="14496"/>
          </a:xfrm>
          <a:prstGeom prst="line">
            <a:avLst/>
          </a:prstGeom>
          <a:ln w="38100" cap="flat">
            <a:solidFill>
              <a:srgbClr val="000000"/>
            </a:solidFill>
            <a:prstDash val="solid"/>
            <a:headEnd type="none" w="sm" len="sm"/>
            <a:tailEnd type="none" w="sm" len="sm"/>
          </a:ln>
        </p:spPr>
      </p:sp>
      <p:pic>
        <p:nvPicPr>
          <p:cNvPr id="1028" name="Picture 4" descr="Trường Đại học Giao thông vận tải TP.HCM">
            <a:extLst>
              <a:ext uri="{FF2B5EF4-FFF2-40B4-BE49-F238E27FC236}">
                <a16:creationId xmlns:a16="http://schemas.microsoft.com/office/drawing/2014/main" id="{D7776AC8-4202-4636-BB59-8C050DCE5A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7837" y="-723900"/>
            <a:ext cx="4046642" cy="3190771"/>
          </a:xfrm>
          <a:prstGeom prst="rect">
            <a:avLst/>
          </a:prstGeom>
          <a:noFill/>
          <a:extLst>
            <a:ext uri="{909E8E84-426E-40DD-AFC4-6F175D3DCCD1}">
              <a14:hiddenFill xmlns:a14="http://schemas.microsoft.com/office/drawing/2010/main">
                <a:solidFill>
                  <a:srgbClr val="FFFFFF"/>
                </a:solidFill>
              </a14:hiddenFill>
            </a:ext>
          </a:extLst>
        </p:spPr>
      </p:pic>
      <p:sp>
        <p:nvSpPr>
          <p:cNvPr id="22" name="Freeform 6">
            <a:extLst>
              <a:ext uri="{FF2B5EF4-FFF2-40B4-BE49-F238E27FC236}">
                <a16:creationId xmlns:a16="http://schemas.microsoft.com/office/drawing/2014/main" id="{1F2847D4-D4D5-49A1-875E-FB5A6D714258}"/>
              </a:ext>
            </a:extLst>
          </p:cNvPr>
          <p:cNvSpPr/>
          <p:nvPr/>
        </p:nvSpPr>
        <p:spPr>
          <a:xfrm>
            <a:off x="9194327" y="-1874950"/>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3" name="Group 14">
            <a:extLst>
              <a:ext uri="{FF2B5EF4-FFF2-40B4-BE49-F238E27FC236}">
                <a16:creationId xmlns:a16="http://schemas.microsoft.com/office/drawing/2014/main" id="{4753AFD1-73B3-453A-B3A4-10B3464F42A6}"/>
              </a:ext>
            </a:extLst>
          </p:cNvPr>
          <p:cNvGrpSpPr/>
          <p:nvPr/>
        </p:nvGrpSpPr>
        <p:grpSpPr>
          <a:xfrm rot="-5400000">
            <a:off x="16731542" y="8200261"/>
            <a:ext cx="3945198" cy="4120540"/>
            <a:chOff x="0" y="0"/>
            <a:chExt cx="571500" cy="596900"/>
          </a:xfrm>
        </p:grpSpPr>
        <p:sp>
          <p:nvSpPr>
            <p:cNvPr id="24" name="Freeform 15">
              <a:extLst>
                <a:ext uri="{FF2B5EF4-FFF2-40B4-BE49-F238E27FC236}">
                  <a16:creationId xmlns:a16="http://schemas.microsoft.com/office/drawing/2014/main" id="{CEC1A29E-D025-4BCB-AA0A-292C4F61C56F}"/>
                </a:ext>
              </a:extLst>
            </p:cNvPr>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25" name="TextBox 16">
              <a:extLst>
                <a:ext uri="{FF2B5EF4-FFF2-40B4-BE49-F238E27FC236}">
                  <a16:creationId xmlns:a16="http://schemas.microsoft.com/office/drawing/2014/main" id="{974854E3-B021-4528-83BD-392A8439BC6C}"/>
                </a:ext>
              </a:extLst>
            </p:cNvPr>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Freeform 11">
            <a:extLst>
              <a:ext uri="{FF2B5EF4-FFF2-40B4-BE49-F238E27FC236}">
                <a16:creationId xmlns:a16="http://schemas.microsoft.com/office/drawing/2014/main" id="{244BC1CF-2CA6-4AF7-83BB-07EC25E63CD8}"/>
              </a:ext>
            </a:extLst>
          </p:cNvPr>
          <p:cNvSpPr/>
          <p:nvPr/>
        </p:nvSpPr>
        <p:spPr>
          <a:xfrm rot="10800000">
            <a:off x="533400" y="1037586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27" name="Group 11">
            <a:extLst>
              <a:ext uri="{FF2B5EF4-FFF2-40B4-BE49-F238E27FC236}">
                <a16:creationId xmlns:a16="http://schemas.microsoft.com/office/drawing/2014/main" id="{E214E78C-0445-4195-ADEE-EBA5C6193980}"/>
              </a:ext>
            </a:extLst>
          </p:cNvPr>
          <p:cNvGrpSpPr/>
          <p:nvPr/>
        </p:nvGrpSpPr>
        <p:grpSpPr>
          <a:xfrm rot="5400000">
            <a:off x="-1972599" y="-2261778"/>
            <a:ext cx="3945198" cy="4120540"/>
            <a:chOff x="0" y="0"/>
            <a:chExt cx="571500" cy="596900"/>
          </a:xfrm>
        </p:grpSpPr>
        <p:sp>
          <p:nvSpPr>
            <p:cNvPr id="28" name="Freeform 12">
              <a:extLst>
                <a:ext uri="{FF2B5EF4-FFF2-40B4-BE49-F238E27FC236}">
                  <a16:creationId xmlns:a16="http://schemas.microsoft.com/office/drawing/2014/main" id="{077938AD-636C-4A1F-9BE2-FA3F7624E85E}"/>
                </a:ext>
              </a:extLst>
            </p:cNvPr>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29" name="TextBox 13">
              <a:extLst>
                <a:ext uri="{FF2B5EF4-FFF2-40B4-BE49-F238E27FC236}">
                  <a16:creationId xmlns:a16="http://schemas.microsoft.com/office/drawing/2014/main" id="{F9206904-F628-4BFC-A476-27D4CACBC8AC}"/>
                </a:ext>
              </a:extLst>
            </p:cNvPr>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30" name="TextBox 7">
            <a:extLst>
              <a:ext uri="{FF2B5EF4-FFF2-40B4-BE49-F238E27FC236}">
                <a16:creationId xmlns:a16="http://schemas.microsoft.com/office/drawing/2014/main" id="{0CC53EAC-4B79-48B6-959A-F32349A8DDCD}"/>
              </a:ext>
            </a:extLst>
          </p:cNvPr>
          <p:cNvSpPr txBox="1"/>
          <p:nvPr/>
        </p:nvSpPr>
        <p:spPr>
          <a:xfrm>
            <a:off x="3054581" y="-1017688"/>
            <a:ext cx="8633148"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Thành viên</a:t>
            </a:r>
            <a:endParaRPr lang="en-US" sz="6800" spc="-374">
              <a:solidFill>
                <a:srgbClr val="231F20"/>
              </a:solidFill>
              <a:latin typeface="Heading Now 71-78"/>
              <a:ea typeface="Heading Now 71-78"/>
              <a:cs typeface="Heading Now 71-78"/>
              <a:sym typeface="Heading Now 71-78"/>
            </a:endParaRPr>
          </a:p>
        </p:txBody>
      </p:sp>
      <p:sp>
        <p:nvSpPr>
          <p:cNvPr id="31" name="TextBox 8">
            <a:extLst>
              <a:ext uri="{FF2B5EF4-FFF2-40B4-BE49-F238E27FC236}">
                <a16:creationId xmlns:a16="http://schemas.microsoft.com/office/drawing/2014/main" id="{0CF961B0-CFCD-495A-BF95-F0C486EF543E}"/>
              </a:ext>
            </a:extLst>
          </p:cNvPr>
          <p:cNvSpPr txBox="1"/>
          <p:nvPr/>
        </p:nvSpPr>
        <p:spPr>
          <a:xfrm>
            <a:off x="3079564" y="-1575195"/>
            <a:ext cx="4361213" cy="419346"/>
          </a:xfrm>
          <a:prstGeom prst="rect">
            <a:avLst/>
          </a:prstGeom>
        </p:spPr>
        <p:txBody>
          <a:bodyPr lIns="0" tIns="0" rIns="0" bIns="0" rtlCol="0" anchor="t">
            <a:spAutoFit/>
          </a:bodyPr>
          <a:lstStyle/>
          <a:p>
            <a:pPr algn="l">
              <a:lnSpc>
                <a:spcPts val="3359"/>
              </a:lnSpc>
            </a:pPr>
            <a:r>
              <a:rPr lang="vi-VN" sz="2400" b="1">
                <a:solidFill>
                  <a:srgbClr val="231F20"/>
                </a:solidFill>
                <a:latin typeface="TT Firs Neue Bold"/>
                <a:ea typeface="TT Firs Neue Bold"/>
                <a:cs typeface="TT Firs Neue Bold"/>
                <a:sym typeface="TT Firs Neue Bold"/>
              </a:rPr>
              <a:t>Nhóm 10</a:t>
            </a:r>
            <a:endParaRPr lang="en-US" sz="2400" b="1">
              <a:solidFill>
                <a:srgbClr val="231F20"/>
              </a:solidFill>
              <a:latin typeface="TT Firs Neue Bold"/>
              <a:ea typeface="TT Firs Neue Bold"/>
              <a:cs typeface="TT Firs Neue Bold"/>
              <a:sym typeface="TT Firs Neue Bold"/>
            </a:endParaRPr>
          </a:p>
        </p:txBody>
      </p:sp>
      <p:grpSp>
        <p:nvGrpSpPr>
          <p:cNvPr id="32" name="Group 31">
            <a:extLst>
              <a:ext uri="{FF2B5EF4-FFF2-40B4-BE49-F238E27FC236}">
                <a16:creationId xmlns:a16="http://schemas.microsoft.com/office/drawing/2014/main" id="{FDA78B54-BCF8-4084-9E3D-D92E9086D153}"/>
              </a:ext>
            </a:extLst>
          </p:cNvPr>
          <p:cNvGrpSpPr/>
          <p:nvPr/>
        </p:nvGrpSpPr>
        <p:grpSpPr>
          <a:xfrm>
            <a:off x="18375375" y="4113071"/>
            <a:ext cx="15063770" cy="1700894"/>
            <a:chOff x="1728265" y="4083359"/>
            <a:chExt cx="15063770" cy="1700894"/>
          </a:xfrm>
        </p:grpSpPr>
        <p:sp>
          <p:nvSpPr>
            <p:cNvPr id="33" name="TextBox 4">
              <a:extLst>
                <a:ext uri="{FF2B5EF4-FFF2-40B4-BE49-F238E27FC236}">
                  <a16:creationId xmlns:a16="http://schemas.microsoft.com/office/drawing/2014/main" id="{E0F19163-C488-4676-A2D3-6D652D664FA1}"/>
                </a:ext>
              </a:extLst>
            </p:cNvPr>
            <p:cNvSpPr txBox="1"/>
            <p:nvPr/>
          </p:nvSpPr>
          <p:spPr>
            <a:xfrm>
              <a:off x="2819400" y="4097788"/>
              <a:ext cx="3778731" cy="509755"/>
            </a:xfrm>
            <a:prstGeom prst="rect">
              <a:avLst/>
            </a:prstGeom>
          </p:spPr>
          <p:txBody>
            <a:bodyPr lIns="0" tIns="0" rIns="0" bIns="0" rtlCol="0" anchor="t">
              <a:spAutoFit/>
            </a:bodyPr>
            <a:lstStyle/>
            <a:p>
              <a:pPr algn="r">
                <a:lnSpc>
                  <a:spcPts val="3850"/>
                </a:lnSpc>
              </a:pPr>
              <a:r>
                <a:rPr lang="en-US" sz="3600" spc="112">
                  <a:latin typeface="Bahnschrift SemiBold SemiConden" panose="020B0502040204020203" pitchFamily="34" charset="0"/>
                  <a:ea typeface="Open Sauce"/>
                  <a:cs typeface="Open Sauce"/>
                  <a:sym typeface="Open Sauce"/>
                </a:rPr>
                <a:t>LÊ THÀNH AN</a:t>
              </a:r>
            </a:p>
          </p:txBody>
        </p:sp>
        <p:sp>
          <p:nvSpPr>
            <p:cNvPr id="34" name="TextBox 5">
              <a:extLst>
                <a:ext uri="{FF2B5EF4-FFF2-40B4-BE49-F238E27FC236}">
                  <a16:creationId xmlns:a16="http://schemas.microsoft.com/office/drawing/2014/main" id="{8960EEF9-8634-4079-BAA4-C7F73487A1B9}"/>
                </a:ext>
              </a:extLst>
            </p:cNvPr>
            <p:cNvSpPr txBox="1"/>
            <p:nvPr/>
          </p:nvSpPr>
          <p:spPr>
            <a:xfrm>
              <a:off x="7379315" y="4088167"/>
              <a:ext cx="5166482" cy="500137"/>
            </a:xfrm>
            <a:prstGeom prst="rect">
              <a:avLst/>
            </a:prstGeom>
          </p:spPr>
          <p:txBody>
            <a:bodyPr lIns="0" tIns="0" rIns="0" bIns="0" rtlCol="0" anchor="t">
              <a:spAutoFit/>
            </a:bodyPr>
            <a:lstStyle/>
            <a:p>
              <a:pPr>
                <a:lnSpc>
                  <a:spcPts val="3850"/>
                </a:lnSpc>
              </a:pPr>
              <a:r>
                <a:rPr lang="en-US" sz="3600" spc="112">
                  <a:latin typeface="Bahnschrift SemiBold SemiConden" panose="020B0502040204020203" pitchFamily="34" charset="0"/>
                  <a:ea typeface="Open Sauce"/>
                  <a:cs typeface="Open Sauce"/>
                  <a:sym typeface="Open Sauce"/>
                </a:rPr>
                <a:t>NGUYỄN HOÀNG PHA </a:t>
              </a:r>
            </a:p>
          </p:txBody>
        </p:sp>
        <p:sp>
          <p:nvSpPr>
            <p:cNvPr id="35" name="TextBox 6">
              <a:extLst>
                <a:ext uri="{FF2B5EF4-FFF2-40B4-BE49-F238E27FC236}">
                  <a16:creationId xmlns:a16="http://schemas.microsoft.com/office/drawing/2014/main" id="{255E8D3E-A9EC-430E-9EAB-29A9A367BDFA}"/>
                </a:ext>
              </a:extLst>
            </p:cNvPr>
            <p:cNvSpPr txBox="1"/>
            <p:nvPr/>
          </p:nvSpPr>
          <p:spPr>
            <a:xfrm>
              <a:off x="12638064" y="4083359"/>
              <a:ext cx="3764090" cy="501650"/>
            </a:xfrm>
            <a:prstGeom prst="rect">
              <a:avLst/>
            </a:prstGeom>
          </p:spPr>
          <p:txBody>
            <a:bodyPr lIns="0" tIns="0" rIns="0" bIns="0" rtlCol="0" anchor="t">
              <a:spAutoFit/>
            </a:bodyPr>
            <a:lstStyle/>
            <a:p>
              <a:pPr>
                <a:lnSpc>
                  <a:spcPts val="3849"/>
                </a:lnSpc>
              </a:pPr>
              <a:r>
                <a:rPr lang="en-US" sz="3600" b="1" spc="111">
                  <a:latin typeface="Bahnschrift SemiBold SemiConden" panose="020B0502040204020203" pitchFamily="34" charset="0"/>
                  <a:ea typeface="Open Sauce Medium"/>
                  <a:cs typeface="Open Sauce Medium"/>
                  <a:sym typeface="Open Sauce Medium"/>
                </a:rPr>
                <a:t>PHẠM HẢI NINH </a:t>
              </a:r>
            </a:p>
          </p:txBody>
        </p:sp>
        <p:sp>
          <p:nvSpPr>
            <p:cNvPr id="36" name="TextBox 7">
              <a:extLst>
                <a:ext uri="{FF2B5EF4-FFF2-40B4-BE49-F238E27FC236}">
                  <a16:creationId xmlns:a16="http://schemas.microsoft.com/office/drawing/2014/main" id="{9E8A8709-1996-43FB-B429-0BB5B52D1BDE}"/>
                </a:ext>
              </a:extLst>
            </p:cNvPr>
            <p:cNvSpPr txBox="1"/>
            <p:nvPr/>
          </p:nvSpPr>
          <p:spPr>
            <a:xfrm>
              <a:off x="1728265" y="5346103"/>
              <a:ext cx="5673662" cy="423193"/>
            </a:xfrm>
            <a:prstGeom prst="rect">
              <a:avLst/>
            </a:prstGeom>
          </p:spPr>
          <p:txBody>
            <a:bodyPr lIns="0" tIns="0" rIns="0" bIns="0" rtlCol="0" anchor="t">
              <a:spAutoFit/>
            </a:bodyPr>
            <a:lstStyle/>
            <a:p>
              <a:pPr>
                <a:lnSpc>
                  <a:spcPts val="3300"/>
                </a:lnSpc>
              </a:pPr>
              <a:r>
                <a:rPr lang="en-US" sz="3600" spc="96">
                  <a:latin typeface="Bahnschrift SemiBold SemiConden" panose="020B0502040204020203" pitchFamily="34" charset="0"/>
                  <a:ea typeface="Open Sauce"/>
                  <a:cs typeface="Open Sauce"/>
                  <a:sym typeface="Open Sauce"/>
                </a:rPr>
                <a:t>NGUYỄN ĐĂNG VŨ NGUYÊN </a:t>
              </a:r>
            </a:p>
          </p:txBody>
        </p:sp>
        <p:sp>
          <p:nvSpPr>
            <p:cNvPr id="37" name="TextBox 8">
              <a:extLst>
                <a:ext uri="{FF2B5EF4-FFF2-40B4-BE49-F238E27FC236}">
                  <a16:creationId xmlns:a16="http://schemas.microsoft.com/office/drawing/2014/main" id="{DE02DCAE-F2BB-47C6-9FE5-DDB097C925C2}"/>
                </a:ext>
              </a:extLst>
            </p:cNvPr>
            <p:cNvSpPr txBox="1"/>
            <p:nvPr/>
          </p:nvSpPr>
          <p:spPr>
            <a:xfrm>
              <a:off x="7401927" y="5346103"/>
              <a:ext cx="4113798" cy="438150"/>
            </a:xfrm>
            <a:prstGeom prst="rect">
              <a:avLst/>
            </a:prstGeom>
          </p:spPr>
          <p:txBody>
            <a:bodyPr lIns="0" tIns="0" rIns="0" bIns="0" rtlCol="0" anchor="t">
              <a:spAutoFit/>
            </a:bodyPr>
            <a:lstStyle/>
            <a:p>
              <a:pPr>
                <a:lnSpc>
                  <a:spcPts val="3300"/>
                </a:lnSpc>
              </a:pPr>
              <a:r>
                <a:rPr lang="en-US" sz="3600" b="1" spc="96">
                  <a:latin typeface="Bahnschrift SemiBold SemiConden" panose="020B0502040204020203" pitchFamily="34" charset="0"/>
                  <a:ea typeface="Open Sauce Medium"/>
                  <a:cs typeface="Open Sauce Medium"/>
                  <a:sym typeface="Open Sauce Medium"/>
                </a:rPr>
                <a:t>HUỲNH NHẬT NAM </a:t>
              </a:r>
            </a:p>
          </p:txBody>
        </p:sp>
        <p:sp>
          <p:nvSpPr>
            <p:cNvPr id="38" name="TextBox 9">
              <a:extLst>
                <a:ext uri="{FF2B5EF4-FFF2-40B4-BE49-F238E27FC236}">
                  <a16:creationId xmlns:a16="http://schemas.microsoft.com/office/drawing/2014/main" id="{27590BEA-E659-423B-B28E-757AEC774E04}"/>
                </a:ext>
              </a:extLst>
            </p:cNvPr>
            <p:cNvSpPr txBox="1"/>
            <p:nvPr/>
          </p:nvSpPr>
          <p:spPr>
            <a:xfrm>
              <a:off x="12638064" y="5346103"/>
              <a:ext cx="4153971" cy="438150"/>
            </a:xfrm>
            <a:prstGeom prst="rect">
              <a:avLst/>
            </a:prstGeom>
          </p:spPr>
          <p:txBody>
            <a:bodyPr lIns="0" tIns="0" rIns="0" bIns="0" rtlCol="0" anchor="t">
              <a:spAutoFit/>
            </a:bodyPr>
            <a:lstStyle/>
            <a:p>
              <a:pPr>
                <a:lnSpc>
                  <a:spcPts val="3300"/>
                </a:lnSpc>
              </a:pPr>
              <a:r>
                <a:rPr lang="en-US" sz="3600" b="1" spc="96">
                  <a:latin typeface="Bahnschrift SemiBold SemiConden" panose="020B0502040204020203" pitchFamily="34" charset="0"/>
                  <a:ea typeface="Open Sauce Medium"/>
                  <a:cs typeface="Open Sauce Medium"/>
                  <a:sym typeface="Open Sauce Medium"/>
                </a:rPr>
                <a:t>VƯƠNG ĐÌNH MINH</a:t>
              </a:r>
            </a:p>
          </p:txBody>
        </p:sp>
      </p:grpSp>
      <p:sp>
        <p:nvSpPr>
          <p:cNvPr id="18" name="Freeform 3">
            <a:extLst>
              <a:ext uri="{FF2B5EF4-FFF2-40B4-BE49-F238E27FC236}">
                <a16:creationId xmlns:a16="http://schemas.microsoft.com/office/drawing/2014/main" id="{A8042E69-78BC-4781-AC35-15E3CD0B5426}"/>
              </a:ext>
            </a:extLst>
          </p:cNvPr>
          <p:cNvSpPr/>
          <p:nvPr/>
        </p:nvSpPr>
        <p:spPr>
          <a:xfrm>
            <a:off x="10876250" y="1912629"/>
            <a:ext cx="5539943" cy="6375303"/>
          </a:xfrm>
          <a:custGeom>
            <a:avLst/>
            <a:gdLst/>
            <a:ahLst/>
            <a:cxnLst/>
            <a:rect l="l" t="t" r="r" b="b"/>
            <a:pathLst>
              <a:path w="6555414" h="7689635">
                <a:moveTo>
                  <a:pt x="0" y="0"/>
                </a:moveTo>
                <a:lnTo>
                  <a:pt x="6555414" y="0"/>
                </a:lnTo>
                <a:lnTo>
                  <a:pt x="6555414" y="7689635"/>
                </a:lnTo>
                <a:lnTo>
                  <a:pt x="0" y="7689635"/>
                </a:lnTo>
                <a:lnTo>
                  <a:pt x="0" y="0"/>
                </a:lnTo>
                <a:close/>
              </a:path>
            </a:pathLst>
          </a:custGeom>
          <a:blipFill>
            <a:blip r:embed="rId7"/>
            <a:stretch>
              <a:fillRect/>
            </a:stretch>
          </a:blipFill>
          <a:effectLst>
            <a:reflection stA="45000" endPos="0" dist="50800" dir="5400000" sy="-100000" algn="bl" rotWithShape="0"/>
            <a:softEdge rad="0"/>
          </a:effectLst>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2">
            <a:extLst>
              <a:ext uri="{FF2B5EF4-FFF2-40B4-BE49-F238E27FC236}">
                <a16:creationId xmlns:a16="http://schemas.microsoft.com/office/drawing/2014/main" id="{97C1702E-D376-468D-BD76-101FCE709AE3}"/>
              </a:ext>
            </a:extLst>
          </p:cNvPr>
          <p:cNvGrpSpPr/>
          <p:nvPr/>
        </p:nvGrpSpPr>
        <p:grpSpPr>
          <a:xfrm rot="-10800000">
            <a:off x="16578889" y="-2098702"/>
            <a:ext cx="3711385" cy="3876336"/>
            <a:chOff x="0" y="0"/>
            <a:chExt cx="571500" cy="596900"/>
          </a:xfrm>
        </p:grpSpPr>
        <p:sp>
          <p:nvSpPr>
            <p:cNvPr id="33" name="Freeform 3">
              <a:extLst>
                <a:ext uri="{FF2B5EF4-FFF2-40B4-BE49-F238E27FC236}">
                  <a16:creationId xmlns:a16="http://schemas.microsoft.com/office/drawing/2014/main" id="{5C0D604A-651F-4213-BECE-D1598431039F}"/>
                </a:ext>
              </a:extLst>
            </p:cNvPr>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34" name="TextBox 4">
              <a:extLst>
                <a:ext uri="{FF2B5EF4-FFF2-40B4-BE49-F238E27FC236}">
                  <a16:creationId xmlns:a16="http://schemas.microsoft.com/office/drawing/2014/main" id="{CEE60A73-3C6D-4124-B07E-B20AABA4A4BC}"/>
                </a:ext>
              </a:extLst>
            </p:cNvPr>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6" name="Freeform 6"/>
          <p:cNvSpPr/>
          <p:nvPr/>
        </p:nvSpPr>
        <p:spPr>
          <a:xfrm>
            <a:off x="9144000" y="-79637"/>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3254942" y="2335141"/>
            <a:ext cx="8633148"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Thành viên</a:t>
            </a:r>
            <a:endParaRPr lang="en-US" sz="6800" spc="-374">
              <a:solidFill>
                <a:srgbClr val="231F20"/>
              </a:solidFill>
              <a:latin typeface="Heading Now 71-78"/>
              <a:ea typeface="Heading Now 71-78"/>
              <a:cs typeface="Heading Now 71-78"/>
              <a:sym typeface="Heading Now 71-78"/>
            </a:endParaRPr>
          </a:p>
        </p:txBody>
      </p:sp>
      <p:sp>
        <p:nvSpPr>
          <p:cNvPr id="8" name="TextBox 8"/>
          <p:cNvSpPr txBox="1"/>
          <p:nvPr/>
        </p:nvSpPr>
        <p:spPr>
          <a:xfrm>
            <a:off x="3279925" y="1777634"/>
            <a:ext cx="4361213" cy="419346"/>
          </a:xfrm>
          <a:prstGeom prst="rect">
            <a:avLst/>
          </a:prstGeom>
        </p:spPr>
        <p:txBody>
          <a:bodyPr lIns="0" tIns="0" rIns="0" bIns="0" rtlCol="0" anchor="t">
            <a:spAutoFit/>
          </a:bodyPr>
          <a:lstStyle/>
          <a:p>
            <a:pPr algn="l">
              <a:lnSpc>
                <a:spcPts val="3359"/>
              </a:lnSpc>
            </a:pPr>
            <a:r>
              <a:rPr lang="vi-VN" sz="2400" b="1">
                <a:solidFill>
                  <a:srgbClr val="231F20"/>
                </a:solidFill>
                <a:latin typeface="TT Firs Neue Bold"/>
                <a:ea typeface="TT Firs Neue Bold"/>
                <a:cs typeface="TT Firs Neue Bold"/>
                <a:sym typeface="TT Firs Neue Bold"/>
              </a:rPr>
              <a:t>Nhóm 10</a:t>
            </a:r>
            <a:endParaRPr lang="en-US" sz="2400" b="1">
              <a:solidFill>
                <a:srgbClr val="231F20"/>
              </a:solidFill>
              <a:latin typeface="TT Firs Neue Bold"/>
              <a:ea typeface="TT Firs Neue Bold"/>
              <a:cs typeface="TT Firs Neue Bold"/>
              <a:sym typeface="TT Firs Neue Bold"/>
            </a:endParaRPr>
          </a:p>
        </p:txBody>
      </p:sp>
      <p:grpSp>
        <p:nvGrpSpPr>
          <p:cNvPr id="11" name="Group 11"/>
          <p:cNvGrpSpPr/>
          <p:nvPr/>
        </p:nvGrpSpPr>
        <p:grpSpPr>
          <a:xfrm rot="5400000">
            <a:off x="87671" y="-87671"/>
            <a:ext cx="3945198" cy="4120540"/>
            <a:chOff x="0" y="0"/>
            <a:chExt cx="571500" cy="596900"/>
          </a:xfrm>
        </p:grpSpPr>
        <p:sp>
          <p:nvSpPr>
            <p:cNvPr id="12" name="Freeform 12"/>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3" name="TextBox 13"/>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rot="-5400000">
            <a:off x="14255131" y="6254131"/>
            <a:ext cx="3945198" cy="4120540"/>
            <a:chOff x="0" y="0"/>
            <a:chExt cx="571500" cy="596900"/>
          </a:xfrm>
        </p:grpSpPr>
        <p:sp>
          <p:nvSpPr>
            <p:cNvPr id="15" name="Freeform 1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6" name="TextBox 1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24" name="Group 23">
            <a:extLst>
              <a:ext uri="{FF2B5EF4-FFF2-40B4-BE49-F238E27FC236}">
                <a16:creationId xmlns:a16="http://schemas.microsoft.com/office/drawing/2014/main" id="{D9D53537-C08A-4683-AC07-EE8610A299EF}"/>
              </a:ext>
            </a:extLst>
          </p:cNvPr>
          <p:cNvGrpSpPr/>
          <p:nvPr/>
        </p:nvGrpSpPr>
        <p:grpSpPr>
          <a:xfrm>
            <a:off x="1905000" y="4159462"/>
            <a:ext cx="15063770" cy="1700894"/>
            <a:chOff x="1728265" y="4083359"/>
            <a:chExt cx="15063770" cy="1700894"/>
          </a:xfrm>
        </p:grpSpPr>
        <p:sp>
          <p:nvSpPr>
            <p:cNvPr id="18" name="TextBox 4">
              <a:extLst>
                <a:ext uri="{FF2B5EF4-FFF2-40B4-BE49-F238E27FC236}">
                  <a16:creationId xmlns:a16="http://schemas.microsoft.com/office/drawing/2014/main" id="{36CA3DB4-9725-4790-9454-679C5913E8A0}"/>
                </a:ext>
              </a:extLst>
            </p:cNvPr>
            <p:cNvSpPr txBox="1"/>
            <p:nvPr/>
          </p:nvSpPr>
          <p:spPr>
            <a:xfrm>
              <a:off x="2819400" y="4097788"/>
              <a:ext cx="3778731" cy="509755"/>
            </a:xfrm>
            <a:prstGeom prst="rect">
              <a:avLst/>
            </a:prstGeom>
          </p:spPr>
          <p:txBody>
            <a:bodyPr lIns="0" tIns="0" rIns="0" bIns="0" rtlCol="0" anchor="t">
              <a:spAutoFit/>
            </a:bodyPr>
            <a:lstStyle/>
            <a:p>
              <a:pPr algn="r">
                <a:lnSpc>
                  <a:spcPts val="3850"/>
                </a:lnSpc>
              </a:pPr>
              <a:r>
                <a:rPr lang="en-US" sz="3600" spc="112">
                  <a:latin typeface="Bahnschrift SemiBold SemiConden" panose="020B0502040204020203" pitchFamily="34" charset="0"/>
                  <a:ea typeface="Open Sauce"/>
                  <a:cs typeface="Open Sauce"/>
                  <a:sym typeface="Open Sauce"/>
                </a:rPr>
                <a:t>LÊ THÀNH AN</a:t>
              </a:r>
            </a:p>
          </p:txBody>
        </p:sp>
        <p:sp>
          <p:nvSpPr>
            <p:cNvPr id="19" name="TextBox 5">
              <a:extLst>
                <a:ext uri="{FF2B5EF4-FFF2-40B4-BE49-F238E27FC236}">
                  <a16:creationId xmlns:a16="http://schemas.microsoft.com/office/drawing/2014/main" id="{380A1258-13E6-444C-8F8A-24BDC6CB0783}"/>
                </a:ext>
              </a:extLst>
            </p:cNvPr>
            <p:cNvSpPr txBox="1"/>
            <p:nvPr/>
          </p:nvSpPr>
          <p:spPr>
            <a:xfrm>
              <a:off x="7379315" y="4088167"/>
              <a:ext cx="5166482" cy="500137"/>
            </a:xfrm>
            <a:prstGeom prst="rect">
              <a:avLst/>
            </a:prstGeom>
          </p:spPr>
          <p:txBody>
            <a:bodyPr lIns="0" tIns="0" rIns="0" bIns="0" rtlCol="0" anchor="t">
              <a:spAutoFit/>
            </a:bodyPr>
            <a:lstStyle/>
            <a:p>
              <a:pPr>
                <a:lnSpc>
                  <a:spcPts val="3850"/>
                </a:lnSpc>
              </a:pPr>
              <a:r>
                <a:rPr lang="en-US" sz="3600" spc="112">
                  <a:latin typeface="Bahnschrift SemiBold SemiConden" panose="020B0502040204020203" pitchFamily="34" charset="0"/>
                  <a:ea typeface="Open Sauce"/>
                  <a:cs typeface="Open Sauce"/>
                  <a:sym typeface="Open Sauce"/>
                </a:rPr>
                <a:t>NGUYỄN HOÀNG PHA </a:t>
              </a:r>
            </a:p>
          </p:txBody>
        </p:sp>
        <p:sp>
          <p:nvSpPr>
            <p:cNvPr id="20" name="TextBox 6">
              <a:extLst>
                <a:ext uri="{FF2B5EF4-FFF2-40B4-BE49-F238E27FC236}">
                  <a16:creationId xmlns:a16="http://schemas.microsoft.com/office/drawing/2014/main" id="{275DFCBB-01A9-4183-9627-68AFA72A883C}"/>
                </a:ext>
              </a:extLst>
            </p:cNvPr>
            <p:cNvSpPr txBox="1"/>
            <p:nvPr/>
          </p:nvSpPr>
          <p:spPr>
            <a:xfrm>
              <a:off x="12638064" y="4083359"/>
              <a:ext cx="3764090" cy="501650"/>
            </a:xfrm>
            <a:prstGeom prst="rect">
              <a:avLst/>
            </a:prstGeom>
          </p:spPr>
          <p:txBody>
            <a:bodyPr lIns="0" tIns="0" rIns="0" bIns="0" rtlCol="0" anchor="t">
              <a:spAutoFit/>
            </a:bodyPr>
            <a:lstStyle/>
            <a:p>
              <a:pPr>
                <a:lnSpc>
                  <a:spcPts val="3849"/>
                </a:lnSpc>
              </a:pPr>
              <a:r>
                <a:rPr lang="en-US" sz="3600" b="1" spc="111">
                  <a:latin typeface="Bahnschrift SemiBold SemiConden" panose="020B0502040204020203" pitchFamily="34" charset="0"/>
                  <a:ea typeface="Open Sauce Medium"/>
                  <a:cs typeface="Open Sauce Medium"/>
                  <a:sym typeface="Open Sauce Medium"/>
                </a:rPr>
                <a:t>PHẠM HẢI NINH </a:t>
              </a:r>
            </a:p>
          </p:txBody>
        </p:sp>
        <p:sp>
          <p:nvSpPr>
            <p:cNvPr id="21" name="TextBox 7">
              <a:extLst>
                <a:ext uri="{FF2B5EF4-FFF2-40B4-BE49-F238E27FC236}">
                  <a16:creationId xmlns:a16="http://schemas.microsoft.com/office/drawing/2014/main" id="{64379057-7B5B-40A5-B42D-243A4CD024E6}"/>
                </a:ext>
              </a:extLst>
            </p:cNvPr>
            <p:cNvSpPr txBox="1"/>
            <p:nvPr/>
          </p:nvSpPr>
          <p:spPr>
            <a:xfrm>
              <a:off x="1728265" y="5346103"/>
              <a:ext cx="5673662" cy="423193"/>
            </a:xfrm>
            <a:prstGeom prst="rect">
              <a:avLst/>
            </a:prstGeom>
          </p:spPr>
          <p:txBody>
            <a:bodyPr lIns="0" tIns="0" rIns="0" bIns="0" rtlCol="0" anchor="t">
              <a:spAutoFit/>
            </a:bodyPr>
            <a:lstStyle/>
            <a:p>
              <a:pPr>
                <a:lnSpc>
                  <a:spcPts val="3300"/>
                </a:lnSpc>
              </a:pPr>
              <a:r>
                <a:rPr lang="en-US" sz="3600" spc="96">
                  <a:latin typeface="Bahnschrift SemiBold SemiConden" panose="020B0502040204020203" pitchFamily="34" charset="0"/>
                  <a:ea typeface="Open Sauce"/>
                  <a:cs typeface="Open Sauce"/>
                  <a:sym typeface="Open Sauce"/>
                </a:rPr>
                <a:t>NGUYỄN ĐĂNG VŨ NGUYÊN </a:t>
              </a:r>
            </a:p>
          </p:txBody>
        </p:sp>
        <p:sp>
          <p:nvSpPr>
            <p:cNvPr id="22" name="TextBox 8">
              <a:extLst>
                <a:ext uri="{FF2B5EF4-FFF2-40B4-BE49-F238E27FC236}">
                  <a16:creationId xmlns:a16="http://schemas.microsoft.com/office/drawing/2014/main" id="{855532F3-1BD4-44B6-A37A-1E556B6CCD70}"/>
                </a:ext>
              </a:extLst>
            </p:cNvPr>
            <p:cNvSpPr txBox="1"/>
            <p:nvPr/>
          </p:nvSpPr>
          <p:spPr>
            <a:xfrm>
              <a:off x="7401927" y="5346103"/>
              <a:ext cx="4113798" cy="438150"/>
            </a:xfrm>
            <a:prstGeom prst="rect">
              <a:avLst/>
            </a:prstGeom>
          </p:spPr>
          <p:txBody>
            <a:bodyPr lIns="0" tIns="0" rIns="0" bIns="0" rtlCol="0" anchor="t">
              <a:spAutoFit/>
            </a:bodyPr>
            <a:lstStyle/>
            <a:p>
              <a:pPr>
                <a:lnSpc>
                  <a:spcPts val="3300"/>
                </a:lnSpc>
              </a:pPr>
              <a:r>
                <a:rPr lang="en-US" sz="3600" b="1" spc="96">
                  <a:latin typeface="Bahnschrift SemiBold SemiConden" panose="020B0502040204020203" pitchFamily="34" charset="0"/>
                  <a:ea typeface="Open Sauce Medium"/>
                  <a:cs typeface="Open Sauce Medium"/>
                  <a:sym typeface="Open Sauce Medium"/>
                </a:rPr>
                <a:t>HUỲNH NHẬT NAM </a:t>
              </a:r>
            </a:p>
          </p:txBody>
        </p:sp>
        <p:sp>
          <p:nvSpPr>
            <p:cNvPr id="23" name="TextBox 9">
              <a:extLst>
                <a:ext uri="{FF2B5EF4-FFF2-40B4-BE49-F238E27FC236}">
                  <a16:creationId xmlns:a16="http://schemas.microsoft.com/office/drawing/2014/main" id="{E6556A50-E005-46E6-997E-71855AD564E7}"/>
                </a:ext>
              </a:extLst>
            </p:cNvPr>
            <p:cNvSpPr txBox="1"/>
            <p:nvPr/>
          </p:nvSpPr>
          <p:spPr>
            <a:xfrm>
              <a:off x="12638064" y="5346103"/>
              <a:ext cx="4153971" cy="438150"/>
            </a:xfrm>
            <a:prstGeom prst="rect">
              <a:avLst/>
            </a:prstGeom>
          </p:spPr>
          <p:txBody>
            <a:bodyPr lIns="0" tIns="0" rIns="0" bIns="0" rtlCol="0" anchor="t">
              <a:spAutoFit/>
            </a:bodyPr>
            <a:lstStyle/>
            <a:p>
              <a:pPr>
                <a:lnSpc>
                  <a:spcPts val="3300"/>
                </a:lnSpc>
              </a:pPr>
              <a:r>
                <a:rPr lang="en-US" sz="3600" b="1" spc="96">
                  <a:latin typeface="Bahnschrift SemiBold SemiConden" panose="020B0502040204020203" pitchFamily="34" charset="0"/>
                  <a:ea typeface="Open Sauce Medium"/>
                  <a:cs typeface="Open Sauce Medium"/>
                  <a:sym typeface="Open Sauce Medium"/>
                </a:rPr>
                <a:t>VƯƠNG ĐÌNH MINH</a:t>
              </a:r>
            </a:p>
          </p:txBody>
        </p:sp>
      </p:grpSp>
      <p:sp>
        <p:nvSpPr>
          <p:cNvPr id="25" name="AutoShape 12">
            <a:extLst>
              <a:ext uri="{FF2B5EF4-FFF2-40B4-BE49-F238E27FC236}">
                <a16:creationId xmlns:a16="http://schemas.microsoft.com/office/drawing/2014/main" id="{F117E028-E8CC-4BAD-B54A-BC1B81D39DDB}"/>
              </a:ext>
            </a:extLst>
          </p:cNvPr>
          <p:cNvSpPr/>
          <p:nvPr/>
        </p:nvSpPr>
        <p:spPr>
          <a:xfrm>
            <a:off x="3318024" y="3207176"/>
            <a:ext cx="4682975" cy="0"/>
          </a:xfrm>
          <a:prstGeom prst="line">
            <a:avLst/>
          </a:prstGeom>
          <a:ln w="38100" cap="flat">
            <a:solidFill>
              <a:srgbClr val="000000"/>
            </a:solidFill>
            <a:prstDash val="solid"/>
            <a:headEnd type="none" w="sm" len="sm"/>
            <a:tailEnd type="none" w="sm" len="sm"/>
          </a:ln>
        </p:spPr>
      </p:sp>
      <p:sp>
        <p:nvSpPr>
          <p:cNvPr id="26" name="Freeform 5">
            <a:extLst>
              <a:ext uri="{FF2B5EF4-FFF2-40B4-BE49-F238E27FC236}">
                <a16:creationId xmlns:a16="http://schemas.microsoft.com/office/drawing/2014/main" id="{BD96BF9E-6255-4D62-92AE-15E4FD92DC0F}"/>
              </a:ext>
            </a:extLst>
          </p:cNvPr>
          <p:cNvSpPr/>
          <p:nvPr/>
        </p:nvSpPr>
        <p:spPr>
          <a:xfrm>
            <a:off x="-2286000" y="-1333500"/>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7" name="Freeform 11">
            <a:extLst>
              <a:ext uri="{FF2B5EF4-FFF2-40B4-BE49-F238E27FC236}">
                <a16:creationId xmlns:a16="http://schemas.microsoft.com/office/drawing/2014/main" id="{F992F392-F33C-45AC-AEE7-668EF61144B9}"/>
              </a:ext>
            </a:extLst>
          </p:cNvPr>
          <p:cNvSpPr/>
          <p:nvPr/>
        </p:nvSpPr>
        <p:spPr>
          <a:xfrm rot="10800000">
            <a:off x="5558795" y="1040130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11">
            <a:extLst>
              <a:ext uri="{FF2B5EF4-FFF2-40B4-BE49-F238E27FC236}">
                <a16:creationId xmlns:a16="http://schemas.microsoft.com/office/drawing/2014/main" id="{1E9235DB-1FD3-4A7C-8E94-E4704F74CA97}"/>
              </a:ext>
            </a:extLst>
          </p:cNvPr>
          <p:cNvSpPr/>
          <p:nvPr/>
        </p:nvSpPr>
        <p:spPr>
          <a:xfrm rot="10800000">
            <a:off x="563994" y="895350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9" name="Freeform 2">
            <a:extLst>
              <a:ext uri="{FF2B5EF4-FFF2-40B4-BE49-F238E27FC236}">
                <a16:creationId xmlns:a16="http://schemas.microsoft.com/office/drawing/2014/main" id="{97D753E5-0583-4A4D-9EA0-FCFF204909DE}"/>
              </a:ext>
            </a:extLst>
          </p:cNvPr>
          <p:cNvSpPr/>
          <p:nvPr/>
        </p:nvSpPr>
        <p:spPr>
          <a:xfrm>
            <a:off x="17263086" y="-2912140"/>
            <a:ext cx="6409623" cy="10218240"/>
          </a:xfrm>
          <a:custGeom>
            <a:avLst/>
            <a:gdLst/>
            <a:ahLst/>
            <a:cxnLst/>
            <a:rect l="l" t="t" r="r" b="b"/>
            <a:pathLst>
              <a:path w="6409623" h="10218240">
                <a:moveTo>
                  <a:pt x="0" y="0"/>
                </a:moveTo>
                <a:lnTo>
                  <a:pt x="6409623" y="0"/>
                </a:lnTo>
                <a:lnTo>
                  <a:pt x="6409623" y="10218240"/>
                </a:lnTo>
                <a:lnTo>
                  <a:pt x="0" y="102182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1" name="TextBox 7">
            <a:extLst>
              <a:ext uri="{FF2B5EF4-FFF2-40B4-BE49-F238E27FC236}">
                <a16:creationId xmlns:a16="http://schemas.microsoft.com/office/drawing/2014/main" id="{82DE5AF4-CB40-4545-B47E-6AB94F8BC677}"/>
              </a:ext>
            </a:extLst>
          </p:cNvPr>
          <p:cNvSpPr txBox="1"/>
          <p:nvPr/>
        </p:nvSpPr>
        <p:spPr>
          <a:xfrm>
            <a:off x="-7557763" y="3637262"/>
            <a:ext cx="7768585" cy="2092881"/>
          </a:xfrm>
          <a:prstGeom prst="rect">
            <a:avLst/>
          </a:prstGeom>
        </p:spPr>
        <p:txBody>
          <a:bodyPr lIns="0" tIns="0" rIns="0" bIns="0" rtlCol="0" anchor="t">
            <a:spAutoFit/>
          </a:bodyPr>
          <a:lstStyle/>
          <a:p>
            <a:pPr algn="l"/>
            <a:r>
              <a:rPr lang="vi-VN" sz="6800">
                <a:solidFill>
                  <a:srgbClr val="000000"/>
                </a:solidFill>
                <a:latin typeface="Heading Now 71-78"/>
                <a:ea typeface="Heading Now 71-78"/>
                <a:cs typeface="Heading Now 71-78"/>
                <a:sym typeface="Heading Now 71-78"/>
              </a:rPr>
              <a:t>Lập Trình Game</a:t>
            </a:r>
          </a:p>
          <a:p>
            <a:pPr algn="l"/>
            <a:r>
              <a:rPr lang="vi-VN" sz="6800">
                <a:solidFill>
                  <a:srgbClr val="000000"/>
                </a:solidFill>
                <a:latin typeface="Heading Now 71-78"/>
                <a:ea typeface="Heading Now 71-78"/>
                <a:cs typeface="Heading Now 71-78"/>
                <a:sym typeface="Heading Now 71-78"/>
              </a:rPr>
              <a:t>Cờ Caro</a:t>
            </a:r>
            <a:endParaRPr lang="en-US" sz="6800">
              <a:solidFill>
                <a:srgbClr val="000000"/>
              </a:solidFill>
              <a:latin typeface="Heading Now 71-78"/>
              <a:ea typeface="Heading Now 71-78"/>
              <a:cs typeface="Heading Now 71-78"/>
              <a:sym typeface="Heading Now 71-78"/>
            </a:endParaRPr>
          </a:p>
        </p:txBody>
      </p:sp>
      <p:sp>
        <p:nvSpPr>
          <p:cNvPr id="30" name="Freeform 3">
            <a:extLst>
              <a:ext uri="{FF2B5EF4-FFF2-40B4-BE49-F238E27FC236}">
                <a16:creationId xmlns:a16="http://schemas.microsoft.com/office/drawing/2014/main" id="{46EA04DB-999E-49FD-A42C-B37D65A0EB65}"/>
              </a:ext>
            </a:extLst>
          </p:cNvPr>
          <p:cNvSpPr/>
          <p:nvPr/>
        </p:nvSpPr>
        <p:spPr>
          <a:xfrm>
            <a:off x="21376884" y="986299"/>
            <a:ext cx="2980022" cy="5147801"/>
          </a:xfrm>
          <a:custGeom>
            <a:avLst/>
            <a:gdLst/>
            <a:ahLst/>
            <a:cxnLst/>
            <a:rect l="l" t="t" r="r" b="b"/>
            <a:pathLst>
              <a:path w="6555414" h="7689635">
                <a:moveTo>
                  <a:pt x="0" y="0"/>
                </a:moveTo>
                <a:lnTo>
                  <a:pt x="6555414" y="0"/>
                </a:lnTo>
                <a:lnTo>
                  <a:pt x="6555414" y="7689635"/>
                </a:lnTo>
                <a:lnTo>
                  <a:pt x="0" y="7689635"/>
                </a:lnTo>
                <a:lnTo>
                  <a:pt x="0" y="0"/>
                </a:lnTo>
                <a:close/>
              </a:path>
            </a:pathLst>
          </a:custGeom>
          <a:blipFill>
            <a:blip r:embed="rId6"/>
            <a:stretch>
              <a:fillRect/>
            </a:stretch>
          </a:blipFill>
          <a:effectLst>
            <a:reflection stA="45000" endPos="0" dist="50800" dir="5400000" sy="-100000" algn="bl" rotWithShape="0"/>
            <a:softEdge rad="0"/>
          </a:effectLst>
        </p:spPr>
      </p:sp>
      <p:grpSp>
        <p:nvGrpSpPr>
          <p:cNvPr id="35" name="Group 13">
            <a:extLst>
              <a:ext uri="{FF2B5EF4-FFF2-40B4-BE49-F238E27FC236}">
                <a16:creationId xmlns:a16="http://schemas.microsoft.com/office/drawing/2014/main" id="{AC2103FD-E5A3-43C4-85DF-3C7C0FD30F01}"/>
              </a:ext>
            </a:extLst>
          </p:cNvPr>
          <p:cNvGrpSpPr/>
          <p:nvPr/>
        </p:nvGrpSpPr>
        <p:grpSpPr>
          <a:xfrm>
            <a:off x="-1882561" y="8648700"/>
            <a:ext cx="3711385" cy="3876336"/>
            <a:chOff x="0" y="0"/>
            <a:chExt cx="571500" cy="596900"/>
          </a:xfrm>
        </p:grpSpPr>
        <p:sp>
          <p:nvSpPr>
            <p:cNvPr id="36" name="Freeform 14">
              <a:extLst>
                <a:ext uri="{FF2B5EF4-FFF2-40B4-BE49-F238E27FC236}">
                  <a16:creationId xmlns:a16="http://schemas.microsoft.com/office/drawing/2014/main" id="{FED01D18-D857-415D-80A0-BF9470E7CC7F}"/>
                </a:ext>
              </a:extLst>
            </p:cNvPr>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37" name="TextBox 15">
              <a:extLst>
                <a:ext uri="{FF2B5EF4-FFF2-40B4-BE49-F238E27FC236}">
                  <a16:creationId xmlns:a16="http://schemas.microsoft.com/office/drawing/2014/main" id="{F1E6D433-63D6-4C8E-BA30-B1486151843B}"/>
                </a:ext>
              </a:extLst>
            </p:cNvPr>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38" name="Freeform 12">
            <a:extLst>
              <a:ext uri="{FF2B5EF4-FFF2-40B4-BE49-F238E27FC236}">
                <a16:creationId xmlns:a16="http://schemas.microsoft.com/office/drawing/2014/main" id="{544EB000-4C28-4A7F-ACC3-472CF215BEB2}"/>
              </a:ext>
            </a:extLst>
          </p:cNvPr>
          <p:cNvSpPr/>
          <p:nvPr/>
        </p:nvSpPr>
        <p:spPr>
          <a:xfrm>
            <a:off x="-1228430" y="5197042"/>
            <a:ext cx="945537" cy="945537"/>
          </a:xfrm>
          <a:custGeom>
            <a:avLst/>
            <a:gdLst/>
            <a:ahLst/>
            <a:cxnLst/>
            <a:rect l="l" t="t" r="r" b="b"/>
            <a:pathLst>
              <a:path w="945537" h="945537">
                <a:moveTo>
                  <a:pt x="0" y="0"/>
                </a:moveTo>
                <a:lnTo>
                  <a:pt x="945536" y="0"/>
                </a:lnTo>
                <a:lnTo>
                  <a:pt x="945536" y="945536"/>
                </a:lnTo>
                <a:lnTo>
                  <a:pt x="0" y="94553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41" name="Group 5">
            <a:extLst>
              <a:ext uri="{FF2B5EF4-FFF2-40B4-BE49-F238E27FC236}">
                <a16:creationId xmlns:a16="http://schemas.microsoft.com/office/drawing/2014/main" id="{E1192BF6-8E83-4CF2-887D-C02F820F6B79}"/>
              </a:ext>
            </a:extLst>
          </p:cNvPr>
          <p:cNvGrpSpPr/>
          <p:nvPr/>
        </p:nvGrpSpPr>
        <p:grpSpPr>
          <a:xfrm>
            <a:off x="15514780" y="-4865883"/>
            <a:ext cx="7428315" cy="4495508"/>
            <a:chOff x="0" y="0"/>
            <a:chExt cx="1106640" cy="669723"/>
          </a:xfrm>
        </p:grpSpPr>
        <p:sp>
          <p:nvSpPr>
            <p:cNvPr id="42" name="Freeform 6">
              <a:extLst>
                <a:ext uri="{FF2B5EF4-FFF2-40B4-BE49-F238E27FC236}">
                  <a16:creationId xmlns:a16="http://schemas.microsoft.com/office/drawing/2014/main" id="{53595078-0025-422E-A6D4-90C8F6D24363}"/>
                </a:ext>
              </a:extLst>
            </p:cNvPr>
            <p:cNvSpPr/>
            <p:nvPr/>
          </p:nvSpPr>
          <p:spPr>
            <a:xfrm>
              <a:off x="0" y="0"/>
              <a:ext cx="1106640" cy="669723"/>
            </a:xfrm>
            <a:custGeom>
              <a:avLst/>
              <a:gdLst/>
              <a:ahLst/>
              <a:cxnLst/>
              <a:rect l="l" t="t" r="r" b="b"/>
              <a:pathLst>
                <a:path w="1106640" h="669723">
                  <a:moveTo>
                    <a:pt x="36478" y="0"/>
                  </a:moveTo>
                  <a:lnTo>
                    <a:pt x="1070163" y="0"/>
                  </a:lnTo>
                  <a:cubicBezTo>
                    <a:pt x="1090309" y="0"/>
                    <a:pt x="1106640" y="16332"/>
                    <a:pt x="1106640" y="36478"/>
                  </a:cubicBezTo>
                  <a:lnTo>
                    <a:pt x="1106640" y="633245"/>
                  </a:lnTo>
                  <a:cubicBezTo>
                    <a:pt x="1106640" y="642920"/>
                    <a:pt x="1102797" y="652198"/>
                    <a:pt x="1095956" y="659039"/>
                  </a:cubicBezTo>
                  <a:cubicBezTo>
                    <a:pt x="1089116" y="665880"/>
                    <a:pt x="1079837" y="669723"/>
                    <a:pt x="1070163" y="669723"/>
                  </a:cubicBezTo>
                  <a:lnTo>
                    <a:pt x="36478" y="669723"/>
                  </a:lnTo>
                  <a:cubicBezTo>
                    <a:pt x="16332" y="669723"/>
                    <a:pt x="0" y="653391"/>
                    <a:pt x="0" y="633245"/>
                  </a:cubicBezTo>
                  <a:lnTo>
                    <a:pt x="0" y="36478"/>
                  </a:lnTo>
                  <a:cubicBezTo>
                    <a:pt x="0" y="16332"/>
                    <a:pt x="16332" y="0"/>
                    <a:pt x="36478" y="0"/>
                  </a:cubicBezTo>
                  <a:close/>
                </a:path>
              </a:pathLst>
            </a:custGeom>
            <a:blipFill>
              <a:blip r:embed="rId9"/>
              <a:stretch>
                <a:fillRect t="-1002"/>
              </a:stretch>
            </a:blipFill>
          </p:spPr>
        </p:sp>
      </p:grpSp>
      <p:grpSp>
        <p:nvGrpSpPr>
          <p:cNvPr id="43" name="Group 7">
            <a:extLst>
              <a:ext uri="{FF2B5EF4-FFF2-40B4-BE49-F238E27FC236}">
                <a16:creationId xmlns:a16="http://schemas.microsoft.com/office/drawing/2014/main" id="{B2C4DB16-BDB8-4908-ACE5-2E51AE338190}"/>
              </a:ext>
            </a:extLst>
          </p:cNvPr>
          <p:cNvGrpSpPr/>
          <p:nvPr/>
        </p:nvGrpSpPr>
        <p:grpSpPr>
          <a:xfrm>
            <a:off x="5029200" y="10789459"/>
            <a:ext cx="5550517" cy="4169374"/>
            <a:chOff x="0" y="0"/>
            <a:chExt cx="859920" cy="645945"/>
          </a:xfrm>
        </p:grpSpPr>
        <p:sp>
          <p:nvSpPr>
            <p:cNvPr id="44" name="Freeform 8">
              <a:extLst>
                <a:ext uri="{FF2B5EF4-FFF2-40B4-BE49-F238E27FC236}">
                  <a16:creationId xmlns:a16="http://schemas.microsoft.com/office/drawing/2014/main" id="{98CC9799-DEE7-42DE-9B01-F384223A8420}"/>
                </a:ext>
              </a:extLst>
            </p:cNvPr>
            <p:cNvSpPr/>
            <p:nvPr/>
          </p:nvSpPr>
          <p:spPr>
            <a:xfrm>
              <a:off x="0" y="0"/>
              <a:ext cx="859920" cy="645945"/>
            </a:xfrm>
            <a:custGeom>
              <a:avLst/>
              <a:gdLst/>
              <a:ahLst/>
              <a:cxnLst/>
              <a:rect l="l" t="t" r="r" b="b"/>
              <a:pathLst>
                <a:path w="859920" h="645945">
                  <a:moveTo>
                    <a:pt x="48818" y="0"/>
                  </a:moveTo>
                  <a:lnTo>
                    <a:pt x="811102" y="0"/>
                  </a:lnTo>
                  <a:cubicBezTo>
                    <a:pt x="838064" y="0"/>
                    <a:pt x="859920" y="21857"/>
                    <a:pt x="859920" y="48818"/>
                  </a:cubicBezTo>
                  <a:lnTo>
                    <a:pt x="859920" y="597127"/>
                  </a:lnTo>
                  <a:cubicBezTo>
                    <a:pt x="859920" y="610074"/>
                    <a:pt x="854777" y="622491"/>
                    <a:pt x="845622" y="631647"/>
                  </a:cubicBezTo>
                  <a:cubicBezTo>
                    <a:pt x="836467" y="640802"/>
                    <a:pt x="824049" y="645945"/>
                    <a:pt x="811102" y="645945"/>
                  </a:cubicBezTo>
                  <a:lnTo>
                    <a:pt x="48818" y="645945"/>
                  </a:lnTo>
                  <a:cubicBezTo>
                    <a:pt x="35871" y="645945"/>
                    <a:pt x="23454" y="640802"/>
                    <a:pt x="14299" y="631647"/>
                  </a:cubicBezTo>
                  <a:cubicBezTo>
                    <a:pt x="5143" y="622491"/>
                    <a:pt x="0" y="610074"/>
                    <a:pt x="0" y="597127"/>
                  </a:cubicBezTo>
                  <a:lnTo>
                    <a:pt x="0" y="48818"/>
                  </a:lnTo>
                  <a:cubicBezTo>
                    <a:pt x="0" y="35871"/>
                    <a:pt x="5143" y="23454"/>
                    <a:pt x="14299" y="14299"/>
                  </a:cubicBezTo>
                  <a:cubicBezTo>
                    <a:pt x="23454" y="5143"/>
                    <a:pt x="35871" y="0"/>
                    <a:pt x="48818" y="0"/>
                  </a:cubicBezTo>
                  <a:close/>
                </a:path>
              </a:pathLst>
            </a:custGeom>
            <a:blipFill>
              <a:blip r:embed="rId10"/>
              <a:stretch>
                <a:fillRect l="-896" t="-2600" r="-43057" b="-25275"/>
              </a:stretch>
            </a:blipFill>
            <a:ln w="95250" cap="rnd">
              <a:solidFill>
                <a:srgbClr val="FFFFFF"/>
              </a:solidFill>
              <a:prstDash val="solid"/>
              <a:round/>
            </a:ln>
          </p:spPr>
        </p:sp>
      </p:grpSp>
      <p:grpSp>
        <p:nvGrpSpPr>
          <p:cNvPr id="45" name="Group 44">
            <a:extLst>
              <a:ext uri="{FF2B5EF4-FFF2-40B4-BE49-F238E27FC236}">
                <a16:creationId xmlns:a16="http://schemas.microsoft.com/office/drawing/2014/main" id="{5F8839C9-12AF-4DB8-A056-C90720FCBFDA}"/>
              </a:ext>
            </a:extLst>
          </p:cNvPr>
          <p:cNvGrpSpPr/>
          <p:nvPr/>
        </p:nvGrpSpPr>
        <p:grpSpPr>
          <a:xfrm>
            <a:off x="18279233" y="10032539"/>
            <a:ext cx="5934366" cy="5463465"/>
            <a:chOff x="11125200" y="4489812"/>
            <a:chExt cx="5934366" cy="5463465"/>
          </a:xfrm>
        </p:grpSpPr>
        <p:grpSp>
          <p:nvGrpSpPr>
            <p:cNvPr id="46" name="Group 9">
              <a:extLst>
                <a:ext uri="{FF2B5EF4-FFF2-40B4-BE49-F238E27FC236}">
                  <a16:creationId xmlns:a16="http://schemas.microsoft.com/office/drawing/2014/main" id="{AE51B132-3D8C-4470-8600-09914E2D5325}"/>
                </a:ext>
              </a:extLst>
            </p:cNvPr>
            <p:cNvGrpSpPr/>
            <p:nvPr/>
          </p:nvGrpSpPr>
          <p:grpSpPr>
            <a:xfrm>
              <a:off x="11125200" y="4489812"/>
              <a:ext cx="5934366" cy="5094624"/>
              <a:chOff x="0" y="-47625"/>
              <a:chExt cx="1368855" cy="657819"/>
            </a:xfrm>
          </p:grpSpPr>
          <p:sp>
            <p:nvSpPr>
              <p:cNvPr id="48" name="Freeform 10">
                <a:extLst>
                  <a:ext uri="{FF2B5EF4-FFF2-40B4-BE49-F238E27FC236}">
                    <a16:creationId xmlns:a16="http://schemas.microsoft.com/office/drawing/2014/main" id="{EDF11503-6381-431E-847A-0380986B56BA}"/>
                  </a:ext>
                </a:extLst>
              </p:cNvPr>
              <p:cNvSpPr/>
              <p:nvPr/>
            </p:nvSpPr>
            <p:spPr>
              <a:xfrm>
                <a:off x="0" y="0"/>
                <a:ext cx="1368855" cy="610194"/>
              </a:xfrm>
              <a:custGeom>
                <a:avLst/>
                <a:gdLst/>
                <a:ahLst/>
                <a:cxnLst/>
                <a:rect l="l" t="t" r="r" b="b"/>
                <a:pathLst>
                  <a:path w="1368855" h="610194">
                    <a:moveTo>
                      <a:pt x="42116" y="0"/>
                    </a:moveTo>
                    <a:lnTo>
                      <a:pt x="1326739" y="0"/>
                    </a:lnTo>
                    <a:cubicBezTo>
                      <a:pt x="1349999" y="0"/>
                      <a:pt x="1368855" y="18856"/>
                      <a:pt x="1368855" y="42116"/>
                    </a:cubicBezTo>
                    <a:lnTo>
                      <a:pt x="1368855" y="568078"/>
                    </a:lnTo>
                    <a:cubicBezTo>
                      <a:pt x="1368855" y="579247"/>
                      <a:pt x="1364418" y="589960"/>
                      <a:pt x="1356520" y="597858"/>
                    </a:cubicBezTo>
                    <a:cubicBezTo>
                      <a:pt x="1348622" y="605756"/>
                      <a:pt x="1337909" y="610194"/>
                      <a:pt x="1326739" y="610194"/>
                    </a:cubicBezTo>
                    <a:lnTo>
                      <a:pt x="42116" y="610194"/>
                    </a:lnTo>
                    <a:cubicBezTo>
                      <a:pt x="18856" y="610194"/>
                      <a:pt x="0" y="591338"/>
                      <a:pt x="0" y="568078"/>
                    </a:cubicBezTo>
                    <a:lnTo>
                      <a:pt x="0" y="42116"/>
                    </a:lnTo>
                    <a:cubicBezTo>
                      <a:pt x="0" y="30946"/>
                      <a:pt x="4437" y="20234"/>
                      <a:pt x="12335" y="12335"/>
                    </a:cubicBezTo>
                    <a:cubicBezTo>
                      <a:pt x="20234" y="4437"/>
                      <a:pt x="30946" y="0"/>
                      <a:pt x="42116" y="0"/>
                    </a:cubicBezTo>
                    <a:close/>
                  </a:path>
                </a:pathLst>
              </a:custGeom>
              <a:solidFill>
                <a:srgbClr val="2F6C7E"/>
              </a:solidFill>
              <a:ln cap="rnd">
                <a:noFill/>
                <a:prstDash val="solid"/>
                <a:round/>
              </a:ln>
            </p:spPr>
          </p:sp>
          <p:sp>
            <p:nvSpPr>
              <p:cNvPr id="49" name="TextBox 11">
                <a:extLst>
                  <a:ext uri="{FF2B5EF4-FFF2-40B4-BE49-F238E27FC236}">
                    <a16:creationId xmlns:a16="http://schemas.microsoft.com/office/drawing/2014/main" id="{F90E750B-7CE9-47B7-8C6C-52C66E19B883}"/>
                  </a:ext>
                </a:extLst>
              </p:cNvPr>
              <p:cNvSpPr txBox="1"/>
              <p:nvPr/>
            </p:nvSpPr>
            <p:spPr>
              <a:xfrm>
                <a:off x="0" y="-47625"/>
                <a:ext cx="1368855" cy="657819"/>
              </a:xfrm>
              <a:prstGeom prst="rect">
                <a:avLst/>
              </a:prstGeom>
            </p:spPr>
            <p:txBody>
              <a:bodyPr lIns="50800" tIns="50800" rIns="50800" bIns="50800" rtlCol="0" anchor="ctr"/>
              <a:lstStyle/>
              <a:p>
                <a:pPr algn="ctr">
                  <a:lnSpc>
                    <a:spcPts val="3359"/>
                  </a:lnSpc>
                </a:pPr>
                <a:endParaRPr/>
              </a:p>
            </p:txBody>
          </p:sp>
        </p:grpSp>
        <p:sp>
          <p:nvSpPr>
            <p:cNvPr id="47" name="TextBox 17">
              <a:extLst>
                <a:ext uri="{FF2B5EF4-FFF2-40B4-BE49-F238E27FC236}">
                  <a16:creationId xmlns:a16="http://schemas.microsoft.com/office/drawing/2014/main" id="{055A05D6-FE1C-4A7A-A267-2DF5EA62CCF7}"/>
                </a:ext>
              </a:extLst>
            </p:cNvPr>
            <p:cNvSpPr txBox="1"/>
            <p:nvPr/>
          </p:nvSpPr>
          <p:spPr>
            <a:xfrm>
              <a:off x="11314612" y="4931966"/>
              <a:ext cx="5555542" cy="5021311"/>
            </a:xfrm>
            <a:prstGeom prst="rect">
              <a:avLst/>
            </a:prstGeom>
          </p:spPr>
          <p:txBody>
            <a:bodyPr wrap="square" lIns="0" tIns="0" rIns="0" bIns="0" rtlCol="0" anchor="t">
              <a:spAutoFit/>
            </a:bodyPr>
            <a:lstStyle/>
            <a:p>
              <a:pPr algn="just">
                <a:lnSpc>
                  <a:spcPct val="150000"/>
                </a:lnSpc>
              </a:pPr>
              <a:r>
                <a:rPr lang="en-US" sz="2000" b="1">
                  <a:solidFill>
                    <a:schemeClr val="bg1"/>
                  </a:solidFill>
                  <a:latin typeface="Arial" panose="020B0604020202020204" pitchFamily="34" charset="0"/>
                  <a:ea typeface="Public Sans Thin"/>
                  <a:cs typeface="Arial" panose="020B0604020202020204" pitchFamily="34" charset="0"/>
                  <a:sym typeface="Public Sans Thin"/>
                </a:rPr>
                <a:t>Đề tài được lựa chọn không chỉ nhằm đáp ứng yêu cầu môn học mà còn xuất phát từ mong muốn tạo ra một sản phẩm phục vụ nhu cầu giải trí tinh thần.</a:t>
              </a:r>
              <a:endParaRPr lang="vi-VN" sz="2000" b="1">
                <a:solidFill>
                  <a:schemeClr val="bg1"/>
                </a:solidFill>
                <a:latin typeface="Arial" panose="020B0604020202020204" pitchFamily="34" charset="0"/>
                <a:ea typeface="Public Sans Thin"/>
                <a:cs typeface="Arial" panose="020B0604020202020204" pitchFamily="34" charset="0"/>
                <a:sym typeface="Public Sans Thin"/>
              </a:endParaRPr>
            </a:p>
            <a:p>
              <a:pPr algn="just">
                <a:lnSpc>
                  <a:spcPct val="150000"/>
                </a:lnSpc>
              </a:pPr>
              <a:r>
                <a:rPr lang="en-US" sz="2000" b="1">
                  <a:solidFill>
                    <a:schemeClr val="bg1"/>
                  </a:solidFill>
                  <a:latin typeface="Arial" panose="020B0604020202020204" pitchFamily="34" charset="0"/>
                  <a:ea typeface="Public Sans Thin"/>
                  <a:cs typeface="Arial" panose="020B0604020202020204" pitchFamily="34" charset="0"/>
                  <a:sym typeface="Public Sans Thin"/>
                </a:rPr>
                <a:t> </a:t>
              </a:r>
              <a:endParaRPr lang="vi-VN" sz="2000" b="1">
                <a:solidFill>
                  <a:schemeClr val="bg1"/>
                </a:solidFill>
                <a:latin typeface="Arial" panose="020B0604020202020204" pitchFamily="34" charset="0"/>
                <a:ea typeface="Public Sans Thin"/>
                <a:cs typeface="Arial" panose="020B0604020202020204" pitchFamily="34" charset="0"/>
                <a:sym typeface="Public Sans Thin"/>
              </a:endParaRPr>
            </a:p>
            <a:p>
              <a:pPr algn="just">
                <a:lnSpc>
                  <a:spcPct val="150000"/>
                </a:lnSpc>
              </a:pPr>
              <a:r>
                <a:rPr lang="en-US" sz="2000" b="1">
                  <a:solidFill>
                    <a:schemeClr val="bg1"/>
                  </a:solidFill>
                  <a:latin typeface="Arial" panose="020B0604020202020204" pitchFamily="34" charset="0"/>
                  <a:ea typeface="Public Sans Thin"/>
                  <a:cs typeface="Arial" panose="020B0604020202020204" pitchFamily="34" charset="0"/>
                  <a:sym typeface="Public Sans Thin"/>
                </a:rPr>
                <a:t>Nhóm mong muốn cụ thể hóa trò chơi Caro quen thuộc từ hình thức chơi trên giấy thành một ứng dụng trên máy tính, phù hợp với xu hướng phát triển của công nghệ trong thời đại 4.0.</a:t>
              </a:r>
            </a:p>
            <a:p>
              <a:pPr algn="just">
                <a:lnSpc>
                  <a:spcPct val="150000"/>
                </a:lnSpc>
                <a:spcBef>
                  <a:spcPct val="0"/>
                </a:spcBef>
              </a:pPr>
              <a:endParaRPr lang="en-US" sz="2000" b="1">
                <a:solidFill>
                  <a:schemeClr val="bg1"/>
                </a:solidFill>
                <a:latin typeface="Arial" panose="020B0604020202020204" pitchFamily="34" charset="0"/>
                <a:ea typeface="Public Sans Thin"/>
                <a:cs typeface="Arial" panose="020B0604020202020204" pitchFamily="34" charset="0"/>
                <a:sym typeface="Public Sans Thin"/>
              </a:endParaRPr>
            </a:p>
          </p:txBody>
        </p:sp>
      </p:grpSp>
      <p:sp>
        <p:nvSpPr>
          <p:cNvPr id="50" name="TextBox 16">
            <a:extLst>
              <a:ext uri="{FF2B5EF4-FFF2-40B4-BE49-F238E27FC236}">
                <a16:creationId xmlns:a16="http://schemas.microsoft.com/office/drawing/2014/main" id="{9390056E-0CAE-4DAF-831F-BEB04E55D2F3}"/>
              </a:ext>
            </a:extLst>
          </p:cNvPr>
          <p:cNvSpPr txBox="1"/>
          <p:nvPr/>
        </p:nvSpPr>
        <p:spPr>
          <a:xfrm>
            <a:off x="-5261297" y="2186230"/>
            <a:ext cx="5828741" cy="1744067"/>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Lý do chọn</a:t>
            </a:r>
          </a:p>
          <a:p>
            <a:pPr algn="l">
              <a:lnSpc>
                <a:spcPts val="6800"/>
              </a:lnSpc>
            </a:pPr>
            <a:r>
              <a:rPr lang="vi-VN" sz="6800" spc="-374">
                <a:solidFill>
                  <a:srgbClr val="231F20"/>
                </a:solidFill>
                <a:latin typeface="Heading Now 71-78"/>
                <a:ea typeface="Heading Now 71-78"/>
                <a:cs typeface="Heading Now 71-78"/>
                <a:sym typeface="Heading Now 71-78"/>
              </a:rPr>
              <a:t>đề tài</a:t>
            </a:r>
            <a:endParaRPr lang="en-US" sz="6800" spc="-374">
              <a:solidFill>
                <a:srgbClr val="231F20"/>
              </a:solidFill>
              <a:latin typeface="Heading Now 71-78"/>
              <a:ea typeface="Heading Now 71-78"/>
              <a:cs typeface="Heading Now 71-78"/>
              <a:sym typeface="Heading Now 71-78"/>
            </a:endParaRPr>
          </a:p>
        </p:txBody>
      </p:sp>
      <p:sp>
        <p:nvSpPr>
          <p:cNvPr id="51" name="TextBox 8">
            <a:extLst>
              <a:ext uri="{FF2B5EF4-FFF2-40B4-BE49-F238E27FC236}">
                <a16:creationId xmlns:a16="http://schemas.microsoft.com/office/drawing/2014/main" id="{43AA03E6-799B-4352-B3B6-3958C927A2D5}"/>
              </a:ext>
            </a:extLst>
          </p:cNvPr>
          <p:cNvSpPr txBox="1"/>
          <p:nvPr/>
        </p:nvSpPr>
        <p:spPr>
          <a:xfrm>
            <a:off x="-7605537" y="9334499"/>
            <a:ext cx="5722976" cy="855362"/>
          </a:xfrm>
          <a:prstGeom prst="rect">
            <a:avLst/>
          </a:prstGeom>
        </p:spPr>
        <p:txBody>
          <a:bodyPr wrap="square" lIns="0" tIns="0" rIns="0" bIns="0" rtlCol="0" anchor="t">
            <a:spAutoFit/>
          </a:bodyPr>
          <a:lstStyle/>
          <a:p>
            <a:pPr algn="l">
              <a:lnSpc>
                <a:spcPts val="3359"/>
              </a:lnSpc>
            </a:pPr>
            <a:r>
              <a:rPr lang="vi-VN" sz="2400" b="0" i="0">
                <a:effectLst/>
                <a:latin typeface="Mona Sans VF"/>
              </a:rPr>
              <a:t>Ứng dụng game cờ caro nhiều người chơi (Multiplayer) theo mô hình Client - Server</a:t>
            </a:r>
            <a:endParaRPr lang="en-US" sz="2400">
              <a:latin typeface="TT Firs Neue"/>
              <a:ea typeface="TT Firs Neue"/>
              <a:cs typeface="TT Firs Neue"/>
              <a:sym typeface="TT Firs Neue"/>
            </a:endParaRPr>
          </a:p>
        </p:txBody>
      </p:sp>
      <p:grpSp>
        <p:nvGrpSpPr>
          <p:cNvPr id="52" name="Group 51">
            <a:extLst>
              <a:ext uri="{FF2B5EF4-FFF2-40B4-BE49-F238E27FC236}">
                <a16:creationId xmlns:a16="http://schemas.microsoft.com/office/drawing/2014/main" id="{3015398F-3430-48D2-9229-1740BA3863B9}"/>
              </a:ext>
            </a:extLst>
          </p:cNvPr>
          <p:cNvGrpSpPr/>
          <p:nvPr/>
        </p:nvGrpSpPr>
        <p:grpSpPr>
          <a:xfrm>
            <a:off x="-7605537" y="10626038"/>
            <a:ext cx="3760483" cy="268700"/>
            <a:chOff x="228600" y="8522242"/>
            <a:chExt cx="4688479" cy="420045"/>
          </a:xfrm>
        </p:grpSpPr>
        <p:sp>
          <p:nvSpPr>
            <p:cNvPr id="53" name="TextBox 9">
              <a:extLst>
                <a:ext uri="{FF2B5EF4-FFF2-40B4-BE49-F238E27FC236}">
                  <a16:creationId xmlns:a16="http://schemas.microsoft.com/office/drawing/2014/main" id="{9C944790-8126-4529-9F8C-68B6C575CF7D}"/>
                </a:ext>
              </a:extLst>
            </p:cNvPr>
            <p:cNvSpPr txBox="1"/>
            <p:nvPr/>
          </p:nvSpPr>
          <p:spPr>
            <a:xfrm>
              <a:off x="228600" y="8522242"/>
              <a:ext cx="2133600" cy="417615"/>
            </a:xfrm>
            <a:prstGeom prst="rect">
              <a:avLst/>
            </a:prstGeom>
          </p:spPr>
          <p:txBody>
            <a:bodyPr wrap="square" lIns="0" tIns="0" rIns="0" bIns="0" rtlCol="0" anchor="t">
              <a:spAutoFit/>
            </a:bodyPr>
            <a:lstStyle/>
            <a:p>
              <a:pPr algn="l">
                <a:lnSpc>
                  <a:spcPts val="3359"/>
                </a:lnSpc>
              </a:pPr>
              <a:r>
                <a:rPr lang="vi-VN" sz="2400">
                  <a:solidFill>
                    <a:srgbClr val="000000"/>
                  </a:solidFill>
                  <a:latin typeface="TT Firs Neue"/>
                  <a:ea typeface="TT Firs Neue"/>
                  <a:cs typeface="TT Firs Neue"/>
                  <a:sym typeface="TT Firs Neue"/>
                </a:rPr>
                <a:t>Trình bày bởi</a:t>
              </a:r>
              <a:r>
                <a:rPr lang="en-US" sz="2400">
                  <a:solidFill>
                    <a:srgbClr val="000000"/>
                  </a:solidFill>
                  <a:latin typeface="TT Firs Neue"/>
                  <a:ea typeface="TT Firs Neue"/>
                  <a:cs typeface="TT Firs Neue"/>
                  <a:sym typeface="TT Firs Neue"/>
                </a:rPr>
                <a:t>:</a:t>
              </a:r>
            </a:p>
          </p:txBody>
        </p:sp>
        <p:sp>
          <p:nvSpPr>
            <p:cNvPr id="54" name="TextBox 10">
              <a:extLst>
                <a:ext uri="{FF2B5EF4-FFF2-40B4-BE49-F238E27FC236}">
                  <a16:creationId xmlns:a16="http://schemas.microsoft.com/office/drawing/2014/main" id="{51D16A83-A094-4AA1-A223-A5764B290BF4}"/>
                </a:ext>
              </a:extLst>
            </p:cNvPr>
            <p:cNvSpPr txBox="1"/>
            <p:nvPr/>
          </p:nvSpPr>
          <p:spPr>
            <a:xfrm>
              <a:off x="2277699" y="8522941"/>
              <a:ext cx="2639380" cy="419346"/>
            </a:xfrm>
            <a:prstGeom prst="rect">
              <a:avLst/>
            </a:prstGeom>
          </p:spPr>
          <p:txBody>
            <a:bodyPr lIns="0" tIns="0" rIns="0" bIns="0" rtlCol="0" anchor="t">
              <a:spAutoFit/>
            </a:bodyPr>
            <a:lstStyle/>
            <a:p>
              <a:pPr algn="l">
                <a:lnSpc>
                  <a:spcPts val="3359"/>
                </a:lnSpc>
              </a:pPr>
              <a:r>
                <a:rPr lang="vi-VN" sz="2400" b="1">
                  <a:solidFill>
                    <a:srgbClr val="000000"/>
                  </a:solidFill>
                  <a:latin typeface="TT Firs Neue Bold"/>
                  <a:ea typeface="TT Firs Neue Bold"/>
                  <a:cs typeface="TT Firs Neue Bold"/>
                  <a:sym typeface="TT Firs Neue Bold"/>
                </a:rPr>
                <a:t>Nhóm 10</a:t>
              </a:r>
              <a:endParaRPr lang="en-US" sz="2400" b="1">
                <a:solidFill>
                  <a:srgbClr val="000000"/>
                </a:solidFill>
                <a:latin typeface="TT Firs Neue Bold"/>
                <a:ea typeface="TT Firs Neue Bold"/>
                <a:cs typeface="TT Firs Neue Bold"/>
                <a:sym typeface="TT Firs Neue Bold"/>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4576615" y="-85981"/>
            <a:ext cx="3711385" cy="3876336"/>
            <a:chOff x="0" y="0"/>
            <a:chExt cx="571500" cy="596900"/>
          </a:xfrm>
        </p:grpSpPr>
        <p:sp>
          <p:nvSpPr>
            <p:cNvPr id="3" name="Freeform 3"/>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4" name="TextBox 4"/>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9144000" y="363146"/>
            <a:ext cx="7428315" cy="4495508"/>
            <a:chOff x="0" y="0"/>
            <a:chExt cx="1106640" cy="669723"/>
          </a:xfrm>
        </p:grpSpPr>
        <p:sp>
          <p:nvSpPr>
            <p:cNvPr id="6" name="Freeform 6"/>
            <p:cNvSpPr/>
            <p:nvPr/>
          </p:nvSpPr>
          <p:spPr>
            <a:xfrm>
              <a:off x="0" y="0"/>
              <a:ext cx="1106640" cy="669723"/>
            </a:xfrm>
            <a:custGeom>
              <a:avLst/>
              <a:gdLst/>
              <a:ahLst/>
              <a:cxnLst/>
              <a:rect l="l" t="t" r="r" b="b"/>
              <a:pathLst>
                <a:path w="1106640" h="669723">
                  <a:moveTo>
                    <a:pt x="36478" y="0"/>
                  </a:moveTo>
                  <a:lnTo>
                    <a:pt x="1070163" y="0"/>
                  </a:lnTo>
                  <a:cubicBezTo>
                    <a:pt x="1090309" y="0"/>
                    <a:pt x="1106640" y="16332"/>
                    <a:pt x="1106640" y="36478"/>
                  </a:cubicBezTo>
                  <a:lnTo>
                    <a:pt x="1106640" y="633245"/>
                  </a:lnTo>
                  <a:cubicBezTo>
                    <a:pt x="1106640" y="642920"/>
                    <a:pt x="1102797" y="652198"/>
                    <a:pt x="1095956" y="659039"/>
                  </a:cubicBezTo>
                  <a:cubicBezTo>
                    <a:pt x="1089116" y="665880"/>
                    <a:pt x="1079837" y="669723"/>
                    <a:pt x="1070163" y="669723"/>
                  </a:cubicBezTo>
                  <a:lnTo>
                    <a:pt x="36478" y="669723"/>
                  </a:lnTo>
                  <a:cubicBezTo>
                    <a:pt x="16332" y="669723"/>
                    <a:pt x="0" y="653391"/>
                    <a:pt x="0" y="633245"/>
                  </a:cubicBezTo>
                  <a:lnTo>
                    <a:pt x="0" y="36478"/>
                  </a:lnTo>
                  <a:cubicBezTo>
                    <a:pt x="0" y="16332"/>
                    <a:pt x="16332" y="0"/>
                    <a:pt x="36478" y="0"/>
                  </a:cubicBezTo>
                  <a:close/>
                </a:path>
              </a:pathLst>
            </a:custGeom>
            <a:blipFill>
              <a:blip r:embed="rId2"/>
              <a:stretch>
                <a:fillRect t="-1002"/>
              </a:stretch>
            </a:blipFill>
          </p:spPr>
        </p:sp>
      </p:grpSp>
      <p:grpSp>
        <p:nvGrpSpPr>
          <p:cNvPr id="7" name="Group 7"/>
          <p:cNvGrpSpPr/>
          <p:nvPr/>
        </p:nvGrpSpPr>
        <p:grpSpPr>
          <a:xfrm>
            <a:off x="5276349" y="3862399"/>
            <a:ext cx="5550517" cy="4169374"/>
            <a:chOff x="0" y="0"/>
            <a:chExt cx="859920" cy="645945"/>
          </a:xfrm>
        </p:grpSpPr>
        <p:sp>
          <p:nvSpPr>
            <p:cNvPr id="8" name="Freeform 8"/>
            <p:cNvSpPr/>
            <p:nvPr/>
          </p:nvSpPr>
          <p:spPr>
            <a:xfrm>
              <a:off x="0" y="0"/>
              <a:ext cx="859920" cy="645945"/>
            </a:xfrm>
            <a:custGeom>
              <a:avLst/>
              <a:gdLst/>
              <a:ahLst/>
              <a:cxnLst/>
              <a:rect l="l" t="t" r="r" b="b"/>
              <a:pathLst>
                <a:path w="859920" h="645945">
                  <a:moveTo>
                    <a:pt x="48818" y="0"/>
                  </a:moveTo>
                  <a:lnTo>
                    <a:pt x="811102" y="0"/>
                  </a:lnTo>
                  <a:cubicBezTo>
                    <a:pt x="838064" y="0"/>
                    <a:pt x="859920" y="21857"/>
                    <a:pt x="859920" y="48818"/>
                  </a:cubicBezTo>
                  <a:lnTo>
                    <a:pt x="859920" y="597127"/>
                  </a:lnTo>
                  <a:cubicBezTo>
                    <a:pt x="859920" y="610074"/>
                    <a:pt x="854777" y="622491"/>
                    <a:pt x="845622" y="631647"/>
                  </a:cubicBezTo>
                  <a:cubicBezTo>
                    <a:pt x="836467" y="640802"/>
                    <a:pt x="824049" y="645945"/>
                    <a:pt x="811102" y="645945"/>
                  </a:cubicBezTo>
                  <a:lnTo>
                    <a:pt x="48818" y="645945"/>
                  </a:lnTo>
                  <a:cubicBezTo>
                    <a:pt x="35871" y="645945"/>
                    <a:pt x="23454" y="640802"/>
                    <a:pt x="14299" y="631647"/>
                  </a:cubicBezTo>
                  <a:cubicBezTo>
                    <a:pt x="5143" y="622491"/>
                    <a:pt x="0" y="610074"/>
                    <a:pt x="0" y="597127"/>
                  </a:cubicBezTo>
                  <a:lnTo>
                    <a:pt x="0" y="48818"/>
                  </a:lnTo>
                  <a:cubicBezTo>
                    <a:pt x="0" y="35871"/>
                    <a:pt x="5143" y="23454"/>
                    <a:pt x="14299" y="14299"/>
                  </a:cubicBezTo>
                  <a:cubicBezTo>
                    <a:pt x="23454" y="5143"/>
                    <a:pt x="35871" y="0"/>
                    <a:pt x="48818" y="0"/>
                  </a:cubicBezTo>
                  <a:close/>
                </a:path>
              </a:pathLst>
            </a:custGeom>
            <a:blipFill>
              <a:blip r:embed="rId3"/>
              <a:stretch>
                <a:fillRect l="-896" t="-2600" r="-43057" b="-25275"/>
              </a:stretch>
            </a:blipFill>
            <a:ln w="95250" cap="rnd">
              <a:solidFill>
                <a:srgbClr val="FFFFFF"/>
              </a:solidFill>
              <a:prstDash val="solid"/>
              <a:round/>
            </a:ln>
          </p:spPr>
        </p:sp>
      </p:grpSp>
      <p:sp>
        <p:nvSpPr>
          <p:cNvPr id="12" name="Freeform 12"/>
          <p:cNvSpPr/>
          <p:nvPr/>
        </p:nvSpPr>
        <p:spPr>
          <a:xfrm>
            <a:off x="1856743" y="5178783"/>
            <a:ext cx="945537" cy="945537"/>
          </a:xfrm>
          <a:custGeom>
            <a:avLst/>
            <a:gdLst/>
            <a:ahLst/>
            <a:cxnLst/>
            <a:rect l="l" t="t" r="r" b="b"/>
            <a:pathLst>
              <a:path w="945537" h="945537">
                <a:moveTo>
                  <a:pt x="0" y="0"/>
                </a:moveTo>
                <a:lnTo>
                  <a:pt x="945536" y="0"/>
                </a:lnTo>
                <a:lnTo>
                  <a:pt x="945536" y="945536"/>
                </a:lnTo>
                <a:lnTo>
                  <a:pt x="0" y="94553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0" y="6606484"/>
            <a:ext cx="3711385" cy="3876336"/>
            <a:chOff x="0" y="0"/>
            <a:chExt cx="571500" cy="596900"/>
          </a:xfrm>
        </p:grpSpPr>
        <p:sp>
          <p:nvSpPr>
            <p:cNvPr id="14" name="Freeform 14"/>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5" name="TextBox 15"/>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6" name="TextBox 16"/>
          <p:cNvSpPr txBox="1"/>
          <p:nvPr/>
        </p:nvSpPr>
        <p:spPr>
          <a:xfrm>
            <a:off x="1855693" y="2277002"/>
            <a:ext cx="5828741" cy="1744067"/>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Lý do chọn</a:t>
            </a:r>
          </a:p>
          <a:p>
            <a:pPr algn="l">
              <a:lnSpc>
                <a:spcPts val="6800"/>
              </a:lnSpc>
            </a:pPr>
            <a:r>
              <a:rPr lang="vi-VN" sz="6800" spc="-374">
                <a:solidFill>
                  <a:srgbClr val="231F20"/>
                </a:solidFill>
                <a:latin typeface="Heading Now 71-78"/>
                <a:ea typeface="Heading Now 71-78"/>
                <a:cs typeface="Heading Now 71-78"/>
                <a:sym typeface="Heading Now 71-78"/>
              </a:rPr>
              <a:t>đề tài</a:t>
            </a:r>
            <a:endParaRPr lang="en-US" sz="6800" spc="-374">
              <a:solidFill>
                <a:srgbClr val="231F20"/>
              </a:solidFill>
              <a:latin typeface="Heading Now 71-78"/>
              <a:ea typeface="Heading Now 71-78"/>
              <a:cs typeface="Heading Now 71-78"/>
              <a:sym typeface="Heading Now 71-78"/>
            </a:endParaRPr>
          </a:p>
        </p:txBody>
      </p:sp>
      <p:grpSp>
        <p:nvGrpSpPr>
          <p:cNvPr id="21" name="Group 20">
            <a:extLst>
              <a:ext uri="{FF2B5EF4-FFF2-40B4-BE49-F238E27FC236}">
                <a16:creationId xmlns:a16="http://schemas.microsoft.com/office/drawing/2014/main" id="{82A9A472-DB5A-4FEF-A77A-11F21D6EC4C2}"/>
              </a:ext>
            </a:extLst>
          </p:cNvPr>
          <p:cNvGrpSpPr/>
          <p:nvPr/>
        </p:nvGrpSpPr>
        <p:grpSpPr>
          <a:xfrm>
            <a:off x="11049000" y="4762500"/>
            <a:ext cx="5934366" cy="5463465"/>
            <a:chOff x="11125200" y="4489812"/>
            <a:chExt cx="5934366" cy="5463465"/>
          </a:xfrm>
        </p:grpSpPr>
        <p:grpSp>
          <p:nvGrpSpPr>
            <p:cNvPr id="9" name="Group 9"/>
            <p:cNvGrpSpPr/>
            <p:nvPr/>
          </p:nvGrpSpPr>
          <p:grpSpPr>
            <a:xfrm>
              <a:off x="11125200" y="4489812"/>
              <a:ext cx="5934366" cy="5094624"/>
              <a:chOff x="0" y="-47625"/>
              <a:chExt cx="1368855" cy="657819"/>
            </a:xfrm>
          </p:grpSpPr>
          <p:sp>
            <p:nvSpPr>
              <p:cNvPr id="10" name="Freeform 10"/>
              <p:cNvSpPr/>
              <p:nvPr/>
            </p:nvSpPr>
            <p:spPr>
              <a:xfrm>
                <a:off x="0" y="0"/>
                <a:ext cx="1368855" cy="610194"/>
              </a:xfrm>
              <a:custGeom>
                <a:avLst/>
                <a:gdLst/>
                <a:ahLst/>
                <a:cxnLst/>
                <a:rect l="l" t="t" r="r" b="b"/>
                <a:pathLst>
                  <a:path w="1368855" h="610194">
                    <a:moveTo>
                      <a:pt x="42116" y="0"/>
                    </a:moveTo>
                    <a:lnTo>
                      <a:pt x="1326739" y="0"/>
                    </a:lnTo>
                    <a:cubicBezTo>
                      <a:pt x="1349999" y="0"/>
                      <a:pt x="1368855" y="18856"/>
                      <a:pt x="1368855" y="42116"/>
                    </a:cubicBezTo>
                    <a:lnTo>
                      <a:pt x="1368855" y="568078"/>
                    </a:lnTo>
                    <a:cubicBezTo>
                      <a:pt x="1368855" y="579247"/>
                      <a:pt x="1364418" y="589960"/>
                      <a:pt x="1356520" y="597858"/>
                    </a:cubicBezTo>
                    <a:cubicBezTo>
                      <a:pt x="1348622" y="605756"/>
                      <a:pt x="1337909" y="610194"/>
                      <a:pt x="1326739" y="610194"/>
                    </a:cubicBezTo>
                    <a:lnTo>
                      <a:pt x="42116" y="610194"/>
                    </a:lnTo>
                    <a:cubicBezTo>
                      <a:pt x="18856" y="610194"/>
                      <a:pt x="0" y="591338"/>
                      <a:pt x="0" y="568078"/>
                    </a:cubicBezTo>
                    <a:lnTo>
                      <a:pt x="0" y="42116"/>
                    </a:lnTo>
                    <a:cubicBezTo>
                      <a:pt x="0" y="30946"/>
                      <a:pt x="4437" y="20234"/>
                      <a:pt x="12335" y="12335"/>
                    </a:cubicBezTo>
                    <a:cubicBezTo>
                      <a:pt x="20234" y="4437"/>
                      <a:pt x="30946" y="0"/>
                      <a:pt x="42116" y="0"/>
                    </a:cubicBezTo>
                    <a:close/>
                  </a:path>
                </a:pathLst>
              </a:custGeom>
              <a:solidFill>
                <a:srgbClr val="2F6C7E"/>
              </a:solidFill>
              <a:ln cap="rnd">
                <a:noFill/>
                <a:prstDash val="solid"/>
                <a:round/>
              </a:ln>
            </p:spPr>
          </p:sp>
          <p:sp>
            <p:nvSpPr>
              <p:cNvPr id="11" name="TextBox 11"/>
              <p:cNvSpPr txBox="1"/>
              <p:nvPr/>
            </p:nvSpPr>
            <p:spPr>
              <a:xfrm>
                <a:off x="0" y="-47625"/>
                <a:ext cx="1368855" cy="657819"/>
              </a:xfrm>
              <a:prstGeom prst="rect">
                <a:avLst/>
              </a:prstGeom>
            </p:spPr>
            <p:txBody>
              <a:bodyPr lIns="50800" tIns="50800" rIns="50800" bIns="50800" rtlCol="0" anchor="ctr"/>
              <a:lstStyle/>
              <a:p>
                <a:pPr algn="ctr">
                  <a:lnSpc>
                    <a:spcPts val="3359"/>
                  </a:lnSpc>
                </a:pPr>
                <a:endParaRPr/>
              </a:p>
            </p:txBody>
          </p:sp>
        </p:grpSp>
        <p:sp>
          <p:nvSpPr>
            <p:cNvPr id="17" name="TextBox 17"/>
            <p:cNvSpPr txBox="1"/>
            <p:nvPr/>
          </p:nvSpPr>
          <p:spPr>
            <a:xfrm>
              <a:off x="11314612" y="4931966"/>
              <a:ext cx="5555542" cy="5021311"/>
            </a:xfrm>
            <a:prstGeom prst="rect">
              <a:avLst/>
            </a:prstGeom>
          </p:spPr>
          <p:txBody>
            <a:bodyPr wrap="square" lIns="0" tIns="0" rIns="0" bIns="0" rtlCol="0" anchor="t">
              <a:spAutoFit/>
            </a:bodyPr>
            <a:lstStyle/>
            <a:p>
              <a:pPr algn="just">
                <a:lnSpc>
                  <a:spcPct val="150000"/>
                </a:lnSpc>
              </a:pPr>
              <a:r>
                <a:rPr lang="en-US" sz="2000" b="1">
                  <a:solidFill>
                    <a:schemeClr val="bg1"/>
                  </a:solidFill>
                  <a:latin typeface="Arial" panose="020B0604020202020204" pitchFamily="34" charset="0"/>
                  <a:ea typeface="Public Sans Thin"/>
                  <a:cs typeface="Arial" panose="020B0604020202020204" pitchFamily="34" charset="0"/>
                  <a:sym typeface="Public Sans Thin"/>
                </a:rPr>
                <a:t>Đề tài được lựa chọn không chỉ nhằm đáp ứng yêu cầu môn học mà còn xuất phát từ mong muốn tạo ra một sản phẩm phục vụ nhu cầu giải trí tinh thần.</a:t>
              </a:r>
              <a:endParaRPr lang="vi-VN" sz="2000" b="1">
                <a:solidFill>
                  <a:schemeClr val="bg1"/>
                </a:solidFill>
                <a:latin typeface="Arial" panose="020B0604020202020204" pitchFamily="34" charset="0"/>
                <a:ea typeface="Public Sans Thin"/>
                <a:cs typeface="Arial" panose="020B0604020202020204" pitchFamily="34" charset="0"/>
                <a:sym typeface="Public Sans Thin"/>
              </a:endParaRPr>
            </a:p>
            <a:p>
              <a:pPr algn="just">
                <a:lnSpc>
                  <a:spcPct val="150000"/>
                </a:lnSpc>
              </a:pPr>
              <a:r>
                <a:rPr lang="en-US" sz="2000" b="1">
                  <a:solidFill>
                    <a:schemeClr val="bg1"/>
                  </a:solidFill>
                  <a:latin typeface="Arial" panose="020B0604020202020204" pitchFamily="34" charset="0"/>
                  <a:ea typeface="Public Sans Thin"/>
                  <a:cs typeface="Arial" panose="020B0604020202020204" pitchFamily="34" charset="0"/>
                  <a:sym typeface="Public Sans Thin"/>
                </a:rPr>
                <a:t> </a:t>
              </a:r>
              <a:endParaRPr lang="vi-VN" sz="2000" b="1">
                <a:solidFill>
                  <a:schemeClr val="bg1"/>
                </a:solidFill>
                <a:latin typeface="Arial" panose="020B0604020202020204" pitchFamily="34" charset="0"/>
                <a:ea typeface="Public Sans Thin"/>
                <a:cs typeface="Arial" panose="020B0604020202020204" pitchFamily="34" charset="0"/>
                <a:sym typeface="Public Sans Thin"/>
              </a:endParaRPr>
            </a:p>
            <a:p>
              <a:pPr algn="just">
                <a:lnSpc>
                  <a:spcPct val="150000"/>
                </a:lnSpc>
              </a:pPr>
              <a:r>
                <a:rPr lang="en-US" sz="2000" b="1">
                  <a:solidFill>
                    <a:schemeClr val="bg1"/>
                  </a:solidFill>
                  <a:latin typeface="Arial" panose="020B0604020202020204" pitchFamily="34" charset="0"/>
                  <a:ea typeface="Public Sans Thin"/>
                  <a:cs typeface="Arial" panose="020B0604020202020204" pitchFamily="34" charset="0"/>
                  <a:sym typeface="Public Sans Thin"/>
                </a:rPr>
                <a:t>Nhóm mong muốn cụ thể hóa trò chơi Caro quen thuộc từ hình thức chơi trên giấy thành một ứng dụng trên máy tính, phù hợp với xu hướng phát triển của công nghệ trong thời đại 4.0.</a:t>
              </a:r>
            </a:p>
            <a:p>
              <a:pPr algn="just">
                <a:lnSpc>
                  <a:spcPct val="150000"/>
                </a:lnSpc>
                <a:spcBef>
                  <a:spcPct val="0"/>
                </a:spcBef>
              </a:pPr>
              <a:endParaRPr lang="en-US" sz="2000" b="1">
                <a:solidFill>
                  <a:schemeClr val="bg1"/>
                </a:solidFill>
                <a:latin typeface="Arial" panose="020B0604020202020204" pitchFamily="34" charset="0"/>
                <a:ea typeface="Public Sans Thin"/>
                <a:cs typeface="Arial" panose="020B0604020202020204" pitchFamily="34" charset="0"/>
                <a:sym typeface="Public Sans Thin"/>
              </a:endParaRPr>
            </a:p>
          </p:txBody>
        </p:sp>
      </p:grpSp>
      <p:sp>
        <p:nvSpPr>
          <p:cNvPr id="19" name="Freeform 19"/>
          <p:cNvSpPr/>
          <p:nvPr/>
        </p:nvSpPr>
        <p:spPr>
          <a:xfrm>
            <a:off x="6083260" y="-112247"/>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2" name="Freeform 11">
            <a:extLst>
              <a:ext uri="{FF2B5EF4-FFF2-40B4-BE49-F238E27FC236}">
                <a16:creationId xmlns:a16="http://schemas.microsoft.com/office/drawing/2014/main" id="{9F40E459-864C-4A1A-AD9D-5E9207DDBC5D}"/>
              </a:ext>
            </a:extLst>
          </p:cNvPr>
          <p:cNvSpPr/>
          <p:nvPr/>
        </p:nvSpPr>
        <p:spPr>
          <a:xfrm rot="10800000">
            <a:off x="7187457" y="9110387"/>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23" name="Group 22">
            <a:extLst>
              <a:ext uri="{FF2B5EF4-FFF2-40B4-BE49-F238E27FC236}">
                <a16:creationId xmlns:a16="http://schemas.microsoft.com/office/drawing/2014/main" id="{A37370F5-D07B-4F10-8293-D049052E8B43}"/>
              </a:ext>
            </a:extLst>
          </p:cNvPr>
          <p:cNvGrpSpPr/>
          <p:nvPr/>
        </p:nvGrpSpPr>
        <p:grpSpPr>
          <a:xfrm>
            <a:off x="18669000" y="4238572"/>
            <a:ext cx="15063770" cy="1700894"/>
            <a:chOff x="1728265" y="4083359"/>
            <a:chExt cx="15063770" cy="1700894"/>
          </a:xfrm>
        </p:grpSpPr>
        <p:sp>
          <p:nvSpPr>
            <p:cNvPr id="24" name="TextBox 4">
              <a:extLst>
                <a:ext uri="{FF2B5EF4-FFF2-40B4-BE49-F238E27FC236}">
                  <a16:creationId xmlns:a16="http://schemas.microsoft.com/office/drawing/2014/main" id="{CBBF216D-ED73-4D19-8038-219DDE3A71CE}"/>
                </a:ext>
              </a:extLst>
            </p:cNvPr>
            <p:cNvSpPr txBox="1"/>
            <p:nvPr/>
          </p:nvSpPr>
          <p:spPr>
            <a:xfrm>
              <a:off x="2819400" y="4097788"/>
              <a:ext cx="3778731" cy="509755"/>
            </a:xfrm>
            <a:prstGeom prst="rect">
              <a:avLst/>
            </a:prstGeom>
          </p:spPr>
          <p:txBody>
            <a:bodyPr lIns="0" tIns="0" rIns="0" bIns="0" rtlCol="0" anchor="t">
              <a:spAutoFit/>
            </a:bodyPr>
            <a:lstStyle/>
            <a:p>
              <a:pPr algn="r">
                <a:lnSpc>
                  <a:spcPts val="3850"/>
                </a:lnSpc>
              </a:pPr>
              <a:r>
                <a:rPr lang="en-US" sz="3600" spc="112">
                  <a:latin typeface="Bahnschrift SemiBold SemiConden" panose="020B0502040204020203" pitchFamily="34" charset="0"/>
                  <a:ea typeface="Open Sauce"/>
                  <a:cs typeface="Open Sauce"/>
                  <a:sym typeface="Open Sauce"/>
                </a:rPr>
                <a:t>LÊ THÀNH AN</a:t>
              </a:r>
            </a:p>
          </p:txBody>
        </p:sp>
        <p:sp>
          <p:nvSpPr>
            <p:cNvPr id="25" name="TextBox 5">
              <a:extLst>
                <a:ext uri="{FF2B5EF4-FFF2-40B4-BE49-F238E27FC236}">
                  <a16:creationId xmlns:a16="http://schemas.microsoft.com/office/drawing/2014/main" id="{E4552A93-0E14-4D70-8C91-E6AE8F54EF44}"/>
                </a:ext>
              </a:extLst>
            </p:cNvPr>
            <p:cNvSpPr txBox="1"/>
            <p:nvPr/>
          </p:nvSpPr>
          <p:spPr>
            <a:xfrm>
              <a:off x="7379315" y="4088167"/>
              <a:ext cx="5166482" cy="500137"/>
            </a:xfrm>
            <a:prstGeom prst="rect">
              <a:avLst/>
            </a:prstGeom>
          </p:spPr>
          <p:txBody>
            <a:bodyPr lIns="0" tIns="0" rIns="0" bIns="0" rtlCol="0" anchor="t">
              <a:spAutoFit/>
            </a:bodyPr>
            <a:lstStyle/>
            <a:p>
              <a:pPr>
                <a:lnSpc>
                  <a:spcPts val="3850"/>
                </a:lnSpc>
              </a:pPr>
              <a:r>
                <a:rPr lang="en-US" sz="3600" spc="112">
                  <a:latin typeface="Bahnschrift SemiBold SemiConden" panose="020B0502040204020203" pitchFamily="34" charset="0"/>
                  <a:ea typeface="Open Sauce"/>
                  <a:cs typeface="Open Sauce"/>
                  <a:sym typeface="Open Sauce"/>
                </a:rPr>
                <a:t>NGUYỄN HOÀNG PHA </a:t>
              </a:r>
            </a:p>
          </p:txBody>
        </p:sp>
        <p:sp>
          <p:nvSpPr>
            <p:cNvPr id="26" name="TextBox 6">
              <a:extLst>
                <a:ext uri="{FF2B5EF4-FFF2-40B4-BE49-F238E27FC236}">
                  <a16:creationId xmlns:a16="http://schemas.microsoft.com/office/drawing/2014/main" id="{4E2B5A58-921C-4E20-AEEA-08D6C160BDBB}"/>
                </a:ext>
              </a:extLst>
            </p:cNvPr>
            <p:cNvSpPr txBox="1"/>
            <p:nvPr/>
          </p:nvSpPr>
          <p:spPr>
            <a:xfrm>
              <a:off x="12638064" y="4083359"/>
              <a:ext cx="3764090" cy="501650"/>
            </a:xfrm>
            <a:prstGeom prst="rect">
              <a:avLst/>
            </a:prstGeom>
          </p:spPr>
          <p:txBody>
            <a:bodyPr lIns="0" tIns="0" rIns="0" bIns="0" rtlCol="0" anchor="t">
              <a:spAutoFit/>
            </a:bodyPr>
            <a:lstStyle/>
            <a:p>
              <a:pPr>
                <a:lnSpc>
                  <a:spcPts val="3849"/>
                </a:lnSpc>
              </a:pPr>
              <a:r>
                <a:rPr lang="en-US" sz="3600" b="1" spc="111">
                  <a:latin typeface="Bahnschrift SemiBold SemiConden" panose="020B0502040204020203" pitchFamily="34" charset="0"/>
                  <a:ea typeface="Open Sauce Medium"/>
                  <a:cs typeface="Open Sauce Medium"/>
                  <a:sym typeface="Open Sauce Medium"/>
                </a:rPr>
                <a:t>PHẠM HẢI NINH </a:t>
              </a:r>
            </a:p>
          </p:txBody>
        </p:sp>
        <p:sp>
          <p:nvSpPr>
            <p:cNvPr id="27" name="TextBox 7">
              <a:extLst>
                <a:ext uri="{FF2B5EF4-FFF2-40B4-BE49-F238E27FC236}">
                  <a16:creationId xmlns:a16="http://schemas.microsoft.com/office/drawing/2014/main" id="{9E8CD8FB-0145-4198-AC1B-D3E87C4B7213}"/>
                </a:ext>
              </a:extLst>
            </p:cNvPr>
            <p:cNvSpPr txBox="1"/>
            <p:nvPr/>
          </p:nvSpPr>
          <p:spPr>
            <a:xfrm>
              <a:off x="1728265" y="5346103"/>
              <a:ext cx="5673662" cy="423193"/>
            </a:xfrm>
            <a:prstGeom prst="rect">
              <a:avLst/>
            </a:prstGeom>
          </p:spPr>
          <p:txBody>
            <a:bodyPr lIns="0" tIns="0" rIns="0" bIns="0" rtlCol="0" anchor="t">
              <a:spAutoFit/>
            </a:bodyPr>
            <a:lstStyle/>
            <a:p>
              <a:pPr>
                <a:lnSpc>
                  <a:spcPts val="3300"/>
                </a:lnSpc>
              </a:pPr>
              <a:r>
                <a:rPr lang="en-US" sz="3600" spc="96">
                  <a:latin typeface="Bahnschrift SemiBold SemiConden" panose="020B0502040204020203" pitchFamily="34" charset="0"/>
                  <a:ea typeface="Open Sauce"/>
                  <a:cs typeface="Open Sauce"/>
                  <a:sym typeface="Open Sauce"/>
                </a:rPr>
                <a:t>NGUYỄN ĐĂNG VŨ NGUYÊN </a:t>
              </a:r>
            </a:p>
          </p:txBody>
        </p:sp>
        <p:sp>
          <p:nvSpPr>
            <p:cNvPr id="28" name="TextBox 8">
              <a:extLst>
                <a:ext uri="{FF2B5EF4-FFF2-40B4-BE49-F238E27FC236}">
                  <a16:creationId xmlns:a16="http://schemas.microsoft.com/office/drawing/2014/main" id="{72035A91-28FA-4840-AB95-05838F067E4A}"/>
                </a:ext>
              </a:extLst>
            </p:cNvPr>
            <p:cNvSpPr txBox="1"/>
            <p:nvPr/>
          </p:nvSpPr>
          <p:spPr>
            <a:xfrm>
              <a:off x="7401927" y="5346103"/>
              <a:ext cx="4113798" cy="438150"/>
            </a:xfrm>
            <a:prstGeom prst="rect">
              <a:avLst/>
            </a:prstGeom>
          </p:spPr>
          <p:txBody>
            <a:bodyPr lIns="0" tIns="0" rIns="0" bIns="0" rtlCol="0" anchor="t">
              <a:spAutoFit/>
            </a:bodyPr>
            <a:lstStyle/>
            <a:p>
              <a:pPr>
                <a:lnSpc>
                  <a:spcPts val="3300"/>
                </a:lnSpc>
              </a:pPr>
              <a:r>
                <a:rPr lang="en-US" sz="3600" b="1" spc="96">
                  <a:latin typeface="Bahnschrift SemiBold SemiConden" panose="020B0502040204020203" pitchFamily="34" charset="0"/>
                  <a:ea typeface="Open Sauce Medium"/>
                  <a:cs typeface="Open Sauce Medium"/>
                  <a:sym typeface="Open Sauce Medium"/>
                </a:rPr>
                <a:t>HUỲNH NHẬT NAM </a:t>
              </a:r>
            </a:p>
          </p:txBody>
        </p:sp>
        <p:sp>
          <p:nvSpPr>
            <p:cNvPr id="29" name="TextBox 9">
              <a:extLst>
                <a:ext uri="{FF2B5EF4-FFF2-40B4-BE49-F238E27FC236}">
                  <a16:creationId xmlns:a16="http://schemas.microsoft.com/office/drawing/2014/main" id="{43F9E77F-6D0E-4A5E-ACA3-66E6005D416C}"/>
                </a:ext>
              </a:extLst>
            </p:cNvPr>
            <p:cNvSpPr txBox="1"/>
            <p:nvPr/>
          </p:nvSpPr>
          <p:spPr>
            <a:xfrm>
              <a:off x="12638064" y="5346103"/>
              <a:ext cx="4153971" cy="438150"/>
            </a:xfrm>
            <a:prstGeom prst="rect">
              <a:avLst/>
            </a:prstGeom>
          </p:spPr>
          <p:txBody>
            <a:bodyPr lIns="0" tIns="0" rIns="0" bIns="0" rtlCol="0" anchor="t">
              <a:spAutoFit/>
            </a:bodyPr>
            <a:lstStyle/>
            <a:p>
              <a:pPr>
                <a:lnSpc>
                  <a:spcPts val="3300"/>
                </a:lnSpc>
              </a:pPr>
              <a:r>
                <a:rPr lang="en-US" sz="3600" b="1" spc="96">
                  <a:latin typeface="Bahnschrift SemiBold SemiConden" panose="020B0502040204020203" pitchFamily="34" charset="0"/>
                  <a:ea typeface="Open Sauce Medium"/>
                  <a:cs typeface="Open Sauce Medium"/>
                  <a:sym typeface="Open Sauce Medium"/>
                </a:rPr>
                <a:t>VƯƠNG ĐÌNH MINH</a:t>
              </a:r>
            </a:p>
          </p:txBody>
        </p:sp>
      </p:grpSp>
      <p:sp>
        <p:nvSpPr>
          <p:cNvPr id="30" name="TextBox 7">
            <a:extLst>
              <a:ext uri="{FF2B5EF4-FFF2-40B4-BE49-F238E27FC236}">
                <a16:creationId xmlns:a16="http://schemas.microsoft.com/office/drawing/2014/main" id="{EC276F98-C773-4F26-B696-78D7DE0BA1FE}"/>
              </a:ext>
            </a:extLst>
          </p:cNvPr>
          <p:cNvSpPr txBox="1"/>
          <p:nvPr/>
        </p:nvSpPr>
        <p:spPr>
          <a:xfrm>
            <a:off x="3054581" y="-1017688"/>
            <a:ext cx="8633148"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Thành viên</a:t>
            </a:r>
            <a:endParaRPr lang="en-US" sz="6800" spc="-374">
              <a:solidFill>
                <a:srgbClr val="231F20"/>
              </a:solidFill>
              <a:latin typeface="Heading Now 71-78"/>
              <a:ea typeface="Heading Now 71-78"/>
              <a:cs typeface="Heading Now 71-78"/>
              <a:sym typeface="Heading Now 71-78"/>
            </a:endParaRPr>
          </a:p>
        </p:txBody>
      </p:sp>
      <p:sp>
        <p:nvSpPr>
          <p:cNvPr id="31" name="TextBox 8">
            <a:extLst>
              <a:ext uri="{FF2B5EF4-FFF2-40B4-BE49-F238E27FC236}">
                <a16:creationId xmlns:a16="http://schemas.microsoft.com/office/drawing/2014/main" id="{38110E2C-CD7A-4314-9869-D369A572866A}"/>
              </a:ext>
            </a:extLst>
          </p:cNvPr>
          <p:cNvSpPr txBox="1"/>
          <p:nvPr/>
        </p:nvSpPr>
        <p:spPr>
          <a:xfrm>
            <a:off x="3079564" y="-1575195"/>
            <a:ext cx="4361213" cy="419346"/>
          </a:xfrm>
          <a:prstGeom prst="rect">
            <a:avLst/>
          </a:prstGeom>
        </p:spPr>
        <p:txBody>
          <a:bodyPr lIns="0" tIns="0" rIns="0" bIns="0" rtlCol="0" anchor="t">
            <a:spAutoFit/>
          </a:bodyPr>
          <a:lstStyle/>
          <a:p>
            <a:pPr algn="l">
              <a:lnSpc>
                <a:spcPts val="3359"/>
              </a:lnSpc>
            </a:pPr>
            <a:r>
              <a:rPr lang="vi-VN" sz="2400" b="1">
                <a:solidFill>
                  <a:srgbClr val="231F20"/>
                </a:solidFill>
                <a:latin typeface="TT Firs Neue Bold"/>
                <a:ea typeface="TT Firs Neue Bold"/>
                <a:cs typeface="TT Firs Neue Bold"/>
                <a:sym typeface="TT Firs Neue Bold"/>
              </a:rPr>
              <a:t>Nhóm 10</a:t>
            </a:r>
            <a:endParaRPr lang="en-US" sz="2400" b="1">
              <a:solidFill>
                <a:srgbClr val="231F20"/>
              </a:solidFill>
              <a:latin typeface="TT Firs Neue Bold"/>
              <a:ea typeface="TT Firs Neue Bold"/>
              <a:cs typeface="TT Firs Neue Bold"/>
              <a:sym typeface="TT Firs Neue Bold"/>
            </a:endParaRPr>
          </a:p>
        </p:txBody>
      </p:sp>
      <p:grpSp>
        <p:nvGrpSpPr>
          <p:cNvPr id="32" name="Group 14">
            <a:extLst>
              <a:ext uri="{FF2B5EF4-FFF2-40B4-BE49-F238E27FC236}">
                <a16:creationId xmlns:a16="http://schemas.microsoft.com/office/drawing/2014/main" id="{D65F392F-092F-47FE-B19C-F6BCEDA25161}"/>
              </a:ext>
            </a:extLst>
          </p:cNvPr>
          <p:cNvGrpSpPr/>
          <p:nvPr/>
        </p:nvGrpSpPr>
        <p:grpSpPr>
          <a:xfrm rot="-5400000">
            <a:off x="16731542" y="8200261"/>
            <a:ext cx="3945198" cy="4120540"/>
            <a:chOff x="0" y="0"/>
            <a:chExt cx="571500" cy="596900"/>
          </a:xfrm>
        </p:grpSpPr>
        <p:sp>
          <p:nvSpPr>
            <p:cNvPr id="33" name="Freeform 15">
              <a:extLst>
                <a:ext uri="{FF2B5EF4-FFF2-40B4-BE49-F238E27FC236}">
                  <a16:creationId xmlns:a16="http://schemas.microsoft.com/office/drawing/2014/main" id="{947061E3-C7BD-45D3-A0CA-B6875A748EB5}"/>
                </a:ext>
              </a:extLst>
            </p:cNvPr>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34" name="TextBox 16">
              <a:extLst>
                <a:ext uri="{FF2B5EF4-FFF2-40B4-BE49-F238E27FC236}">
                  <a16:creationId xmlns:a16="http://schemas.microsoft.com/office/drawing/2014/main" id="{3760981F-7F85-4CF5-9256-1E3E518F454F}"/>
                </a:ext>
              </a:extLst>
            </p:cNvPr>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35" name="Group 11">
            <a:extLst>
              <a:ext uri="{FF2B5EF4-FFF2-40B4-BE49-F238E27FC236}">
                <a16:creationId xmlns:a16="http://schemas.microsoft.com/office/drawing/2014/main" id="{5B79A34A-0A20-4721-BE60-61DA7E8C60EA}"/>
              </a:ext>
            </a:extLst>
          </p:cNvPr>
          <p:cNvGrpSpPr/>
          <p:nvPr/>
        </p:nvGrpSpPr>
        <p:grpSpPr>
          <a:xfrm rot="5400000">
            <a:off x="-1972599" y="-2261778"/>
            <a:ext cx="3945198" cy="4120540"/>
            <a:chOff x="0" y="0"/>
            <a:chExt cx="571500" cy="596900"/>
          </a:xfrm>
        </p:grpSpPr>
        <p:sp>
          <p:nvSpPr>
            <p:cNvPr id="36" name="Freeform 12">
              <a:extLst>
                <a:ext uri="{FF2B5EF4-FFF2-40B4-BE49-F238E27FC236}">
                  <a16:creationId xmlns:a16="http://schemas.microsoft.com/office/drawing/2014/main" id="{74CA7C4C-ADCE-4760-889B-16C4A2969E04}"/>
                </a:ext>
              </a:extLst>
            </p:cNvPr>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37" name="TextBox 13">
              <a:extLst>
                <a:ext uri="{FF2B5EF4-FFF2-40B4-BE49-F238E27FC236}">
                  <a16:creationId xmlns:a16="http://schemas.microsoft.com/office/drawing/2014/main" id="{1E974EEC-24CF-4F8E-9432-1F97FF7A361E}"/>
                </a:ext>
              </a:extLst>
            </p:cNvPr>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38" name="AutoShape 12">
            <a:extLst>
              <a:ext uri="{FF2B5EF4-FFF2-40B4-BE49-F238E27FC236}">
                <a16:creationId xmlns:a16="http://schemas.microsoft.com/office/drawing/2014/main" id="{47A3F06E-1B5B-4D1B-AD47-2DD51BB8BEFF}"/>
              </a:ext>
            </a:extLst>
          </p:cNvPr>
          <p:cNvSpPr/>
          <p:nvPr/>
        </p:nvSpPr>
        <p:spPr>
          <a:xfrm>
            <a:off x="3079564" y="-201507"/>
            <a:ext cx="4682975" cy="0"/>
          </a:xfrm>
          <a:prstGeom prst="line">
            <a:avLst/>
          </a:prstGeom>
          <a:ln w="38100" cap="flat">
            <a:solidFill>
              <a:srgbClr val="000000"/>
            </a:solidFill>
            <a:prstDash val="solid"/>
            <a:headEnd type="none" w="sm" len="sm"/>
            <a:tailEnd type="none" w="sm" len="sm"/>
          </a:ln>
        </p:spPr>
      </p:sp>
      <p:grpSp>
        <p:nvGrpSpPr>
          <p:cNvPr id="41" name="Group 5">
            <a:extLst>
              <a:ext uri="{FF2B5EF4-FFF2-40B4-BE49-F238E27FC236}">
                <a16:creationId xmlns:a16="http://schemas.microsoft.com/office/drawing/2014/main" id="{8B949E1B-F612-492B-B711-D451817B8914}"/>
              </a:ext>
            </a:extLst>
          </p:cNvPr>
          <p:cNvGrpSpPr>
            <a:grpSpLocks noChangeAspect="1"/>
          </p:cNvGrpSpPr>
          <p:nvPr/>
        </p:nvGrpSpPr>
        <p:grpSpPr>
          <a:xfrm>
            <a:off x="18412768" y="1852187"/>
            <a:ext cx="5707757" cy="7261131"/>
            <a:chOff x="0" y="0"/>
            <a:chExt cx="6350000" cy="9525000"/>
          </a:xfrm>
        </p:grpSpPr>
        <p:sp>
          <p:nvSpPr>
            <p:cNvPr id="42" name="Freeform 6">
              <a:extLst>
                <a:ext uri="{FF2B5EF4-FFF2-40B4-BE49-F238E27FC236}">
                  <a16:creationId xmlns:a16="http://schemas.microsoft.com/office/drawing/2014/main" id="{65C46423-CE20-41DB-9067-74497D8AA82E}"/>
                </a:ext>
              </a:extLst>
            </p:cNvPr>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8"/>
              <a:stretch>
                <a:fillRect l="-24959" t="-24959"/>
              </a:stretch>
            </a:blipFill>
          </p:spPr>
        </p:sp>
      </p:grpSp>
      <p:grpSp>
        <p:nvGrpSpPr>
          <p:cNvPr id="43" name="Group 5">
            <a:extLst>
              <a:ext uri="{FF2B5EF4-FFF2-40B4-BE49-F238E27FC236}">
                <a16:creationId xmlns:a16="http://schemas.microsoft.com/office/drawing/2014/main" id="{C5913B39-9859-402C-9AAC-C5BD8905008C}"/>
              </a:ext>
            </a:extLst>
          </p:cNvPr>
          <p:cNvGrpSpPr/>
          <p:nvPr/>
        </p:nvGrpSpPr>
        <p:grpSpPr>
          <a:xfrm>
            <a:off x="-5933693" y="2968059"/>
            <a:ext cx="5653937" cy="1772164"/>
            <a:chOff x="-1488209" y="-381030"/>
            <a:chExt cx="1117890" cy="547449"/>
          </a:xfrm>
          <a:solidFill>
            <a:srgbClr val="D0D9E2"/>
          </a:solidFill>
        </p:grpSpPr>
        <p:sp>
          <p:nvSpPr>
            <p:cNvPr id="44" name="Freeform 6">
              <a:extLst>
                <a:ext uri="{FF2B5EF4-FFF2-40B4-BE49-F238E27FC236}">
                  <a16:creationId xmlns:a16="http://schemas.microsoft.com/office/drawing/2014/main" id="{9121C415-E75A-462A-8B4B-27A6A3962D6F}"/>
                </a:ext>
              </a:extLst>
            </p:cNvPr>
            <p:cNvSpPr/>
            <p:nvPr/>
          </p:nvSpPr>
          <p:spPr>
            <a:xfrm>
              <a:off x="-1488209" y="-381030"/>
              <a:ext cx="1117890" cy="547449"/>
            </a:xfrm>
            <a:custGeom>
              <a:avLst/>
              <a:gdLst/>
              <a:ahLst/>
              <a:cxnLst/>
              <a:rect l="l" t="t" r="r" b="b"/>
              <a:pathLst>
                <a:path w="1117890" h="547449">
                  <a:moveTo>
                    <a:pt x="37553" y="0"/>
                  </a:moveTo>
                  <a:lnTo>
                    <a:pt x="1080337" y="0"/>
                  </a:lnTo>
                  <a:cubicBezTo>
                    <a:pt x="1090296" y="0"/>
                    <a:pt x="1099848" y="3956"/>
                    <a:pt x="1106891" y="10999"/>
                  </a:cubicBezTo>
                  <a:cubicBezTo>
                    <a:pt x="1113933" y="18041"/>
                    <a:pt x="1117890" y="27593"/>
                    <a:pt x="1117890" y="37553"/>
                  </a:cubicBezTo>
                  <a:lnTo>
                    <a:pt x="1117890" y="509896"/>
                  </a:lnTo>
                  <a:cubicBezTo>
                    <a:pt x="1117890" y="519856"/>
                    <a:pt x="1113933" y="529408"/>
                    <a:pt x="1106891" y="536450"/>
                  </a:cubicBezTo>
                  <a:cubicBezTo>
                    <a:pt x="1099848" y="543493"/>
                    <a:pt x="1090296" y="547449"/>
                    <a:pt x="1080337" y="547449"/>
                  </a:cubicBezTo>
                  <a:lnTo>
                    <a:pt x="37553" y="547449"/>
                  </a:lnTo>
                  <a:cubicBezTo>
                    <a:pt x="27593" y="547449"/>
                    <a:pt x="18041" y="543493"/>
                    <a:pt x="10999" y="536450"/>
                  </a:cubicBezTo>
                  <a:cubicBezTo>
                    <a:pt x="3956" y="529408"/>
                    <a:pt x="0" y="519856"/>
                    <a:pt x="0" y="509896"/>
                  </a:cubicBezTo>
                  <a:lnTo>
                    <a:pt x="0" y="37553"/>
                  </a:lnTo>
                  <a:cubicBezTo>
                    <a:pt x="0" y="27593"/>
                    <a:pt x="3956" y="18041"/>
                    <a:pt x="10999" y="10999"/>
                  </a:cubicBezTo>
                  <a:cubicBezTo>
                    <a:pt x="18041" y="3956"/>
                    <a:pt x="27593" y="0"/>
                    <a:pt x="37553" y="0"/>
                  </a:cubicBezTo>
                  <a:close/>
                </a:path>
              </a:pathLst>
            </a:custGeom>
            <a:grpFill/>
            <a:ln>
              <a:solidFill>
                <a:schemeClr val="tx1"/>
              </a:solidFill>
            </a:ln>
          </p:spPr>
          <p:txBody>
            <a:bodyPr/>
            <a:lstStyle/>
            <a:p>
              <a:pPr algn="ctr"/>
              <a:r>
                <a:rPr lang="en-US" sz="2400" b="1">
                  <a:latin typeface="Public Sans Thin"/>
                  <a:ea typeface="Public Sans Thin"/>
                  <a:cs typeface="Public Sans Thin"/>
                  <a:sym typeface="Public Sans Thin"/>
                </a:rPr>
                <a:t>Xây dựng hệ thống ứng dụng giải trí theo mô hình client–server, cho phép nhiều người dùng kết nối và tương tác với nhau</a:t>
              </a:r>
            </a:p>
            <a:p>
              <a:pPr algn="ctr"/>
              <a:endParaRPr lang="en-US" sz="2400" b="1"/>
            </a:p>
          </p:txBody>
        </p:sp>
      </p:grpSp>
      <p:grpSp>
        <p:nvGrpSpPr>
          <p:cNvPr id="45" name="Group 7">
            <a:extLst>
              <a:ext uri="{FF2B5EF4-FFF2-40B4-BE49-F238E27FC236}">
                <a16:creationId xmlns:a16="http://schemas.microsoft.com/office/drawing/2014/main" id="{CF3C2C90-FD72-40C3-8B1A-053614272EB2}"/>
              </a:ext>
            </a:extLst>
          </p:cNvPr>
          <p:cNvGrpSpPr/>
          <p:nvPr/>
        </p:nvGrpSpPr>
        <p:grpSpPr>
          <a:xfrm>
            <a:off x="-10734032" y="5233474"/>
            <a:ext cx="6414003" cy="1781692"/>
            <a:chOff x="-4060357" y="582644"/>
            <a:chExt cx="1198763" cy="484944"/>
          </a:xfrm>
          <a:solidFill>
            <a:srgbClr val="D0D9E2"/>
          </a:solidFill>
        </p:grpSpPr>
        <p:sp>
          <p:nvSpPr>
            <p:cNvPr id="46" name="Freeform 8">
              <a:extLst>
                <a:ext uri="{FF2B5EF4-FFF2-40B4-BE49-F238E27FC236}">
                  <a16:creationId xmlns:a16="http://schemas.microsoft.com/office/drawing/2014/main" id="{DD27437C-F8B7-4991-9E27-C54C9F7F2592}"/>
                </a:ext>
              </a:extLst>
            </p:cNvPr>
            <p:cNvSpPr/>
            <p:nvPr/>
          </p:nvSpPr>
          <p:spPr>
            <a:xfrm>
              <a:off x="-4060357" y="582644"/>
              <a:ext cx="1198763" cy="484944"/>
            </a:xfrm>
            <a:custGeom>
              <a:avLst/>
              <a:gdLst/>
              <a:ahLst/>
              <a:cxnLst/>
              <a:rect l="l" t="t" r="r" b="b"/>
              <a:pathLst>
                <a:path w="1117890" h="547449">
                  <a:moveTo>
                    <a:pt x="37553" y="0"/>
                  </a:moveTo>
                  <a:lnTo>
                    <a:pt x="1080337" y="0"/>
                  </a:lnTo>
                  <a:cubicBezTo>
                    <a:pt x="1090296" y="0"/>
                    <a:pt x="1099848" y="3956"/>
                    <a:pt x="1106891" y="10999"/>
                  </a:cubicBezTo>
                  <a:cubicBezTo>
                    <a:pt x="1113933" y="18041"/>
                    <a:pt x="1117890" y="27593"/>
                    <a:pt x="1117890" y="37553"/>
                  </a:cubicBezTo>
                  <a:lnTo>
                    <a:pt x="1117890" y="509896"/>
                  </a:lnTo>
                  <a:cubicBezTo>
                    <a:pt x="1117890" y="519856"/>
                    <a:pt x="1113933" y="529408"/>
                    <a:pt x="1106891" y="536450"/>
                  </a:cubicBezTo>
                  <a:cubicBezTo>
                    <a:pt x="1099848" y="543493"/>
                    <a:pt x="1090296" y="547449"/>
                    <a:pt x="1080337" y="547449"/>
                  </a:cubicBezTo>
                  <a:lnTo>
                    <a:pt x="37553" y="547449"/>
                  </a:lnTo>
                  <a:cubicBezTo>
                    <a:pt x="27593" y="547449"/>
                    <a:pt x="18041" y="543493"/>
                    <a:pt x="10999" y="536450"/>
                  </a:cubicBezTo>
                  <a:cubicBezTo>
                    <a:pt x="3956" y="529408"/>
                    <a:pt x="0" y="519856"/>
                    <a:pt x="0" y="509896"/>
                  </a:cubicBezTo>
                  <a:lnTo>
                    <a:pt x="0" y="37553"/>
                  </a:lnTo>
                  <a:cubicBezTo>
                    <a:pt x="0" y="27593"/>
                    <a:pt x="3956" y="18041"/>
                    <a:pt x="10999" y="10999"/>
                  </a:cubicBezTo>
                  <a:cubicBezTo>
                    <a:pt x="18041" y="3956"/>
                    <a:pt x="27593" y="0"/>
                    <a:pt x="37553" y="0"/>
                  </a:cubicBezTo>
                  <a:close/>
                </a:path>
              </a:pathLst>
            </a:custGeom>
            <a:grpFill/>
            <a:ln>
              <a:solidFill>
                <a:schemeClr val="tx1"/>
              </a:solidFill>
            </a:ln>
          </p:spPr>
          <p:txBody>
            <a:bodyPr/>
            <a:lstStyle/>
            <a:p>
              <a:pPr algn="ctr"/>
              <a:r>
                <a:rPr lang="en-US" sz="2400" b="1">
                  <a:latin typeface="Public Sans Thin"/>
                  <a:ea typeface="Public Sans Thin"/>
                  <a:cs typeface="Public Sans Thin"/>
                  <a:sym typeface="Public Sans Thin"/>
                </a:rPr>
                <a:t>Thông qua server, hai client có thể thực hiện chức năng thách đấu trực tiếp, đồng thời hệ thống có tích hợp cơ chế tính thời gian suy nghĩ cho mỗi lượt chơi</a:t>
              </a:r>
              <a:endParaRPr lang="en-US" sz="2400" b="1"/>
            </a:p>
          </p:txBody>
        </p:sp>
      </p:grpSp>
      <p:grpSp>
        <p:nvGrpSpPr>
          <p:cNvPr id="47" name="Group 7">
            <a:extLst>
              <a:ext uri="{FF2B5EF4-FFF2-40B4-BE49-F238E27FC236}">
                <a16:creationId xmlns:a16="http://schemas.microsoft.com/office/drawing/2014/main" id="{0BD699C8-2917-451C-A118-989BEACA85CD}"/>
              </a:ext>
            </a:extLst>
          </p:cNvPr>
          <p:cNvGrpSpPr/>
          <p:nvPr/>
        </p:nvGrpSpPr>
        <p:grpSpPr>
          <a:xfrm>
            <a:off x="-13827889" y="7519407"/>
            <a:ext cx="6019800" cy="1330482"/>
            <a:chOff x="-363238" y="-2593"/>
            <a:chExt cx="1198763" cy="362133"/>
          </a:xfrm>
          <a:solidFill>
            <a:srgbClr val="D0D9E2"/>
          </a:solidFill>
        </p:grpSpPr>
        <p:sp>
          <p:nvSpPr>
            <p:cNvPr id="48" name="Freeform 8">
              <a:extLst>
                <a:ext uri="{FF2B5EF4-FFF2-40B4-BE49-F238E27FC236}">
                  <a16:creationId xmlns:a16="http://schemas.microsoft.com/office/drawing/2014/main" id="{4536342C-B3C2-4ED5-8B9D-1437BD60158E}"/>
                </a:ext>
              </a:extLst>
            </p:cNvPr>
            <p:cNvSpPr/>
            <p:nvPr/>
          </p:nvSpPr>
          <p:spPr>
            <a:xfrm>
              <a:off x="-363238" y="-2593"/>
              <a:ext cx="1198763" cy="362133"/>
            </a:xfrm>
            <a:custGeom>
              <a:avLst/>
              <a:gdLst/>
              <a:ahLst/>
              <a:cxnLst/>
              <a:rect l="l" t="t" r="r" b="b"/>
              <a:pathLst>
                <a:path w="1117890" h="547449">
                  <a:moveTo>
                    <a:pt x="37553" y="0"/>
                  </a:moveTo>
                  <a:lnTo>
                    <a:pt x="1080337" y="0"/>
                  </a:lnTo>
                  <a:cubicBezTo>
                    <a:pt x="1090296" y="0"/>
                    <a:pt x="1099848" y="3956"/>
                    <a:pt x="1106891" y="10999"/>
                  </a:cubicBezTo>
                  <a:cubicBezTo>
                    <a:pt x="1113933" y="18041"/>
                    <a:pt x="1117890" y="27593"/>
                    <a:pt x="1117890" y="37553"/>
                  </a:cubicBezTo>
                  <a:lnTo>
                    <a:pt x="1117890" y="509896"/>
                  </a:lnTo>
                  <a:cubicBezTo>
                    <a:pt x="1117890" y="519856"/>
                    <a:pt x="1113933" y="529408"/>
                    <a:pt x="1106891" y="536450"/>
                  </a:cubicBezTo>
                  <a:cubicBezTo>
                    <a:pt x="1099848" y="543493"/>
                    <a:pt x="1090296" y="547449"/>
                    <a:pt x="1080337" y="547449"/>
                  </a:cubicBezTo>
                  <a:lnTo>
                    <a:pt x="37553" y="547449"/>
                  </a:lnTo>
                  <a:cubicBezTo>
                    <a:pt x="27593" y="547449"/>
                    <a:pt x="18041" y="543493"/>
                    <a:pt x="10999" y="536450"/>
                  </a:cubicBezTo>
                  <a:cubicBezTo>
                    <a:pt x="3956" y="529408"/>
                    <a:pt x="0" y="519856"/>
                    <a:pt x="0" y="509896"/>
                  </a:cubicBezTo>
                  <a:lnTo>
                    <a:pt x="0" y="37553"/>
                  </a:lnTo>
                  <a:cubicBezTo>
                    <a:pt x="0" y="27593"/>
                    <a:pt x="3956" y="18041"/>
                    <a:pt x="10999" y="10999"/>
                  </a:cubicBezTo>
                  <a:cubicBezTo>
                    <a:pt x="18041" y="3956"/>
                    <a:pt x="27593" y="0"/>
                    <a:pt x="37553" y="0"/>
                  </a:cubicBezTo>
                  <a:close/>
                </a:path>
              </a:pathLst>
            </a:custGeom>
            <a:grpFill/>
            <a:ln>
              <a:solidFill>
                <a:schemeClr val="tx1"/>
              </a:solidFill>
            </a:ln>
          </p:spPr>
          <p:txBody>
            <a:bodyPr/>
            <a:lstStyle/>
            <a:p>
              <a:pPr algn="ctr"/>
              <a:r>
                <a:rPr lang="en-US" sz="2400" b="1">
                  <a:latin typeface="Public Sans Thin"/>
                  <a:ea typeface="Public Sans Thin"/>
                  <a:cs typeface="Public Sans Thin"/>
                  <a:sym typeface="Public Sans Thin"/>
                </a:rPr>
                <a:t>Xây dựng chức năng lưu trữ lịch sử thi đấu trên server, phục vụ việc tra cứu và quản lý dữ liệu trận đấu</a:t>
              </a:r>
            </a:p>
          </p:txBody>
        </p:sp>
      </p:grpSp>
      <p:sp>
        <p:nvSpPr>
          <p:cNvPr id="49" name="TextBox 12">
            <a:extLst>
              <a:ext uri="{FF2B5EF4-FFF2-40B4-BE49-F238E27FC236}">
                <a16:creationId xmlns:a16="http://schemas.microsoft.com/office/drawing/2014/main" id="{557D872B-CFC7-4408-99E5-A4BA40C23911}"/>
              </a:ext>
            </a:extLst>
          </p:cNvPr>
          <p:cNvSpPr txBox="1"/>
          <p:nvPr/>
        </p:nvSpPr>
        <p:spPr>
          <a:xfrm>
            <a:off x="-6444935" y="1716791"/>
            <a:ext cx="7062913"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Mục tiêu</a:t>
            </a:r>
            <a:endParaRPr lang="en-US" sz="6800" spc="-374">
              <a:solidFill>
                <a:srgbClr val="231F20"/>
              </a:solidFill>
              <a:latin typeface="Heading Now 71-78"/>
              <a:ea typeface="Heading Now 71-78"/>
              <a:cs typeface="Heading Now 71-78"/>
              <a:sym typeface="Heading Now 71-78"/>
            </a:endParaRPr>
          </a:p>
        </p:txBody>
      </p:sp>
      <p:sp>
        <p:nvSpPr>
          <p:cNvPr id="50" name="Freeform 17">
            <a:extLst>
              <a:ext uri="{FF2B5EF4-FFF2-40B4-BE49-F238E27FC236}">
                <a16:creationId xmlns:a16="http://schemas.microsoft.com/office/drawing/2014/main" id="{ABE3EE69-C0E6-45F0-A1FE-F8597A605B6D}"/>
              </a:ext>
            </a:extLst>
          </p:cNvPr>
          <p:cNvSpPr/>
          <p:nvPr/>
        </p:nvSpPr>
        <p:spPr>
          <a:xfrm rot="16200000">
            <a:off x="-3274999" y="251788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1" name="Freeform 11">
            <a:extLst>
              <a:ext uri="{FF2B5EF4-FFF2-40B4-BE49-F238E27FC236}">
                <a16:creationId xmlns:a16="http://schemas.microsoft.com/office/drawing/2014/main" id="{1C8980C5-365F-42F7-B241-3ECC580F9023}"/>
              </a:ext>
            </a:extLst>
          </p:cNvPr>
          <p:cNvSpPr/>
          <p:nvPr/>
        </p:nvSpPr>
        <p:spPr>
          <a:xfrm rot="10800000">
            <a:off x="614107" y="1048282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177324"/>
            <a:ext cx="3934796" cy="4109676"/>
            <a:chOff x="0" y="0"/>
            <a:chExt cx="571500" cy="596900"/>
          </a:xfrm>
        </p:grpSpPr>
        <p:sp>
          <p:nvSpPr>
            <p:cNvPr id="3" name="Freeform 3"/>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4" name="TextBox 4"/>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977914" y="3108602"/>
            <a:ext cx="5653937" cy="1772164"/>
            <a:chOff x="76065" y="-337614"/>
            <a:chExt cx="1117890" cy="547449"/>
          </a:xfrm>
          <a:solidFill>
            <a:srgbClr val="D0D9E2"/>
          </a:solidFill>
        </p:grpSpPr>
        <p:sp>
          <p:nvSpPr>
            <p:cNvPr id="6" name="Freeform 6"/>
            <p:cNvSpPr/>
            <p:nvPr/>
          </p:nvSpPr>
          <p:spPr>
            <a:xfrm>
              <a:off x="76065" y="-337614"/>
              <a:ext cx="1117890" cy="547449"/>
            </a:xfrm>
            <a:custGeom>
              <a:avLst/>
              <a:gdLst/>
              <a:ahLst/>
              <a:cxnLst/>
              <a:rect l="l" t="t" r="r" b="b"/>
              <a:pathLst>
                <a:path w="1117890" h="547449">
                  <a:moveTo>
                    <a:pt x="37553" y="0"/>
                  </a:moveTo>
                  <a:lnTo>
                    <a:pt x="1080337" y="0"/>
                  </a:lnTo>
                  <a:cubicBezTo>
                    <a:pt x="1090296" y="0"/>
                    <a:pt x="1099848" y="3956"/>
                    <a:pt x="1106891" y="10999"/>
                  </a:cubicBezTo>
                  <a:cubicBezTo>
                    <a:pt x="1113933" y="18041"/>
                    <a:pt x="1117890" y="27593"/>
                    <a:pt x="1117890" y="37553"/>
                  </a:cubicBezTo>
                  <a:lnTo>
                    <a:pt x="1117890" y="509896"/>
                  </a:lnTo>
                  <a:cubicBezTo>
                    <a:pt x="1117890" y="519856"/>
                    <a:pt x="1113933" y="529408"/>
                    <a:pt x="1106891" y="536450"/>
                  </a:cubicBezTo>
                  <a:cubicBezTo>
                    <a:pt x="1099848" y="543493"/>
                    <a:pt x="1090296" y="547449"/>
                    <a:pt x="1080337" y="547449"/>
                  </a:cubicBezTo>
                  <a:lnTo>
                    <a:pt x="37553" y="547449"/>
                  </a:lnTo>
                  <a:cubicBezTo>
                    <a:pt x="27593" y="547449"/>
                    <a:pt x="18041" y="543493"/>
                    <a:pt x="10999" y="536450"/>
                  </a:cubicBezTo>
                  <a:cubicBezTo>
                    <a:pt x="3956" y="529408"/>
                    <a:pt x="0" y="519856"/>
                    <a:pt x="0" y="509896"/>
                  </a:cubicBezTo>
                  <a:lnTo>
                    <a:pt x="0" y="37553"/>
                  </a:lnTo>
                  <a:cubicBezTo>
                    <a:pt x="0" y="27593"/>
                    <a:pt x="3956" y="18041"/>
                    <a:pt x="10999" y="10999"/>
                  </a:cubicBezTo>
                  <a:cubicBezTo>
                    <a:pt x="18041" y="3956"/>
                    <a:pt x="27593" y="0"/>
                    <a:pt x="37553" y="0"/>
                  </a:cubicBezTo>
                  <a:close/>
                </a:path>
              </a:pathLst>
            </a:custGeom>
            <a:grpFill/>
            <a:ln>
              <a:solidFill>
                <a:schemeClr val="tx1"/>
              </a:solidFill>
            </a:ln>
          </p:spPr>
          <p:txBody>
            <a:bodyPr/>
            <a:lstStyle/>
            <a:p>
              <a:pPr algn="ctr"/>
              <a:r>
                <a:rPr lang="en-US" sz="2400" b="1">
                  <a:latin typeface="Public Sans Thin"/>
                  <a:ea typeface="Public Sans Thin"/>
                  <a:cs typeface="Public Sans Thin"/>
                  <a:sym typeface="Public Sans Thin"/>
                </a:rPr>
                <a:t>Xây dựng hệ thống ứng dụng giải trí theo mô hình client–server, cho phép nhiều người dùng kết nối và tương tác với nhau</a:t>
              </a:r>
            </a:p>
            <a:p>
              <a:pPr algn="ctr"/>
              <a:endParaRPr lang="en-US" sz="2400" b="1"/>
            </a:p>
          </p:txBody>
        </p:sp>
      </p:grpSp>
      <p:grpSp>
        <p:nvGrpSpPr>
          <p:cNvPr id="7" name="Group 7"/>
          <p:cNvGrpSpPr/>
          <p:nvPr/>
        </p:nvGrpSpPr>
        <p:grpSpPr>
          <a:xfrm>
            <a:off x="2510432" y="5318212"/>
            <a:ext cx="6414003" cy="1781692"/>
            <a:chOff x="-1584996" y="605708"/>
            <a:chExt cx="1198763" cy="484944"/>
          </a:xfrm>
          <a:solidFill>
            <a:srgbClr val="D0D9E2"/>
          </a:solidFill>
        </p:grpSpPr>
        <p:sp>
          <p:nvSpPr>
            <p:cNvPr id="8" name="Freeform 8"/>
            <p:cNvSpPr/>
            <p:nvPr/>
          </p:nvSpPr>
          <p:spPr>
            <a:xfrm>
              <a:off x="-1584996" y="605708"/>
              <a:ext cx="1198763" cy="484944"/>
            </a:xfrm>
            <a:custGeom>
              <a:avLst/>
              <a:gdLst/>
              <a:ahLst/>
              <a:cxnLst/>
              <a:rect l="l" t="t" r="r" b="b"/>
              <a:pathLst>
                <a:path w="1117890" h="547449">
                  <a:moveTo>
                    <a:pt x="37553" y="0"/>
                  </a:moveTo>
                  <a:lnTo>
                    <a:pt x="1080337" y="0"/>
                  </a:lnTo>
                  <a:cubicBezTo>
                    <a:pt x="1090296" y="0"/>
                    <a:pt x="1099848" y="3956"/>
                    <a:pt x="1106891" y="10999"/>
                  </a:cubicBezTo>
                  <a:cubicBezTo>
                    <a:pt x="1113933" y="18041"/>
                    <a:pt x="1117890" y="27593"/>
                    <a:pt x="1117890" y="37553"/>
                  </a:cubicBezTo>
                  <a:lnTo>
                    <a:pt x="1117890" y="509896"/>
                  </a:lnTo>
                  <a:cubicBezTo>
                    <a:pt x="1117890" y="519856"/>
                    <a:pt x="1113933" y="529408"/>
                    <a:pt x="1106891" y="536450"/>
                  </a:cubicBezTo>
                  <a:cubicBezTo>
                    <a:pt x="1099848" y="543493"/>
                    <a:pt x="1090296" y="547449"/>
                    <a:pt x="1080337" y="547449"/>
                  </a:cubicBezTo>
                  <a:lnTo>
                    <a:pt x="37553" y="547449"/>
                  </a:lnTo>
                  <a:cubicBezTo>
                    <a:pt x="27593" y="547449"/>
                    <a:pt x="18041" y="543493"/>
                    <a:pt x="10999" y="536450"/>
                  </a:cubicBezTo>
                  <a:cubicBezTo>
                    <a:pt x="3956" y="529408"/>
                    <a:pt x="0" y="519856"/>
                    <a:pt x="0" y="509896"/>
                  </a:cubicBezTo>
                  <a:lnTo>
                    <a:pt x="0" y="37553"/>
                  </a:lnTo>
                  <a:cubicBezTo>
                    <a:pt x="0" y="27593"/>
                    <a:pt x="3956" y="18041"/>
                    <a:pt x="10999" y="10999"/>
                  </a:cubicBezTo>
                  <a:cubicBezTo>
                    <a:pt x="18041" y="3956"/>
                    <a:pt x="27593" y="0"/>
                    <a:pt x="37553" y="0"/>
                  </a:cubicBezTo>
                  <a:close/>
                </a:path>
              </a:pathLst>
            </a:custGeom>
            <a:grpFill/>
            <a:ln>
              <a:solidFill>
                <a:schemeClr val="tx1"/>
              </a:solidFill>
            </a:ln>
          </p:spPr>
          <p:txBody>
            <a:bodyPr/>
            <a:lstStyle/>
            <a:p>
              <a:pPr algn="ctr"/>
              <a:r>
                <a:rPr lang="en-US" sz="2400" b="1">
                  <a:latin typeface="Public Sans Thin"/>
                  <a:ea typeface="Public Sans Thin"/>
                  <a:cs typeface="Public Sans Thin"/>
                  <a:sym typeface="Public Sans Thin"/>
                </a:rPr>
                <a:t>Thông qua server, hai client có thể thực hiện chức năng thách đấu trực tiếp, đồng thời hệ thống có tích hợp cơ chế tính thời gian suy nghĩ cho mỗi lượt chơi</a:t>
              </a:r>
              <a:endParaRPr lang="en-US" sz="2400" b="1"/>
            </a:p>
          </p:txBody>
        </p:sp>
      </p:grpSp>
      <p:grpSp>
        <p:nvGrpSpPr>
          <p:cNvPr id="9" name="Group 9"/>
          <p:cNvGrpSpPr/>
          <p:nvPr/>
        </p:nvGrpSpPr>
        <p:grpSpPr>
          <a:xfrm rot="-10800000">
            <a:off x="14379546" y="39255"/>
            <a:ext cx="3934796" cy="4109676"/>
            <a:chOff x="0" y="0"/>
            <a:chExt cx="571500" cy="596900"/>
          </a:xfrm>
        </p:grpSpPr>
        <p:sp>
          <p:nvSpPr>
            <p:cNvPr id="10" name="Freeform 10"/>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1" name="TextBox 11"/>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2" name="TextBox 12"/>
          <p:cNvSpPr txBox="1"/>
          <p:nvPr/>
        </p:nvSpPr>
        <p:spPr>
          <a:xfrm>
            <a:off x="1967398" y="1658076"/>
            <a:ext cx="7062913"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Mục tiêu</a:t>
            </a:r>
            <a:endParaRPr lang="en-US" sz="6800" spc="-374">
              <a:solidFill>
                <a:srgbClr val="231F20"/>
              </a:solidFill>
              <a:latin typeface="Heading Now 71-78"/>
              <a:ea typeface="Heading Now 71-78"/>
              <a:cs typeface="Heading Now 71-78"/>
              <a:sym typeface="Heading Now 71-78"/>
            </a:endParaRPr>
          </a:p>
        </p:txBody>
      </p:sp>
      <p:sp>
        <p:nvSpPr>
          <p:cNvPr id="17" name="Freeform 17"/>
          <p:cNvSpPr/>
          <p:nvPr/>
        </p:nvSpPr>
        <p:spPr>
          <a:xfrm rot="-5400000">
            <a:off x="-558919" y="2423902"/>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7">
            <a:extLst>
              <a:ext uri="{FF2B5EF4-FFF2-40B4-BE49-F238E27FC236}">
                <a16:creationId xmlns:a16="http://schemas.microsoft.com/office/drawing/2014/main" id="{9B9D9D27-8331-49B8-B7ED-8EE2CD4990C8}"/>
              </a:ext>
            </a:extLst>
          </p:cNvPr>
          <p:cNvGrpSpPr/>
          <p:nvPr/>
        </p:nvGrpSpPr>
        <p:grpSpPr>
          <a:xfrm>
            <a:off x="3419716" y="7496262"/>
            <a:ext cx="6019800" cy="1330482"/>
            <a:chOff x="-363238" y="-2593"/>
            <a:chExt cx="1198763" cy="362133"/>
          </a:xfrm>
          <a:solidFill>
            <a:srgbClr val="D0D9E2"/>
          </a:solidFill>
        </p:grpSpPr>
        <p:sp>
          <p:nvSpPr>
            <p:cNvPr id="20" name="Freeform 8">
              <a:extLst>
                <a:ext uri="{FF2B5EF4-FFF2-40B4-BE49-F238E27FC236}">
                  <a16:creationId xmlns:a16="http://schemas.microsoft.com/office/drawing/2014/main" id="{D3B173E7-3EEB-43C8-A761-C9D589BB78F4}"/>
                </a:ext>
              </a:extLst>
            </p:cNvPr>
            <p:cNvSpPr/>
            <p:nvPr/>
          </p:nvSpPr>
          <p:spPr>
            <a:xfrm>
              <a:off x="-363238" y="-2593"/>
              <a:ext cx="1198763" cy="362133"/>
            </a:xfrm>
            <a:custGeom>
              <a:avLst/>
              <a:gdLst/>
              <a:ahLst/>
              <a:cxnLst/>
              <a:rect l="l" t="t" r="r" b="b"/>
              <a:pathLst>
                <a:path w="1117890" h="547449">
                  <a:moveTo>
                    <a:pt x="37553" y="0"/>
                  </a:moveTo>
                  <a:lnTo>
                    <a:pt x="1080337" y="0"/>
                  </a:lnTo>
                  <a:cubicBezTo>
                    <a:pt x="1090296" y="0"/>
                    <a:pt x="1099848" y="3956"/>
                    <a:pt x="1106891" y="10999"/>
                  </a:cubicBezTo>
                  <a:cubicBezTo>
                    <a:pt x="1113933" y="18041"/>
                    <a:pt x="1117890" y="27593"/>
                    <a:pt x="1117890" y="37553"/>
                  </a:cubicBezTo>
                  <a:lnTo>
                    <a:pt x="1117890" y="509896"/>
                  </a:lnTo>
                  <a:cubicBezTo>
                    <a:pt x="1117890" y="519856"/>
                    <a:pt x="1113933" y="529408"/>
                    <a:pt x="1106891" y="536450"/>
                  </a:cubicBezTo>
                  <a:cubicBezTo>
                    <a:pt x="1099848" y="543493"/>
                    <a:pt x="1090296" y="547449"/>
                    <a:pt x="1080337" y="547449"/>
                  </a:cubicBezTo>
                  <a:lnTo>
                    <a:pt x="37553" y="547449"/>
                  </a:lnTo>
                  <a:cubicBezTo>
                    <a:pt x="27593" y="547449"/>
                    <a:pt x="18041" y="543493"/>
                    <a:pt x="10999" y="536450"/>
                  </a:cubicBezTo>
                  <a:cubicBezTo>
                    <a:pt x="3956" y="529408"/>
                    <a:pt x="0" y="519856"/>
                    <a:pt x="0" y="509896"/>
                  </a:cubicBezTo>
                  <a:lnTo>
                    <a:pt x="0" y="37553"/>
                  </a:lnTo>
                  <a:cubicBezTo>
                    <a:pt x="0" y="27593"/>
                    <a:pt x="3956" y="18041"/>
                    <a:pt x="10999" y="10999"/>
                  </a:cubicBezTo>
                  <a:cubicBezTo>
                    <a:pt x="18041" y="3956"/>
                    <a:pt x="27593" y="0"/>
                    <a:pt x="37553" y="0"/>
                  </a:cubicBezTo>
                  <a:close/>
                </a:path>
              </a:pathLst>
            </a:custGeom>
            <a:grpFill/>
            <a:ln>
              <a:solidFill>
                <a:schemeClr val="tx1"/>
              </a:solidFill>
            </a:ln>
          </p:spPr>
          <p:txBody>
            <a:bodyPr/>
            <a:lstStyle/>
            <a:p>
              <a:pPr algn="ctr"/>
              <a:r>
                <a:rPr lang="en-US" sz="2400" b="1">
                  <a:latin typeface="Public Sans Thin"/>
                  <a:ea typeface="Public Sans Thin"/>
                  <a:cs typeface="Public Sans Thin"/>
                  <a:sym typeface="Public Sans Thin"/>
                </a:rPr>
                <a:t>Xây dựng chức năng lưu trữ lịch sử thi đấu trên server, phục vụ việc tra cứu và quản lý dữ liệu trận đấu</a:t>
              </a:r>
            </a:p>
          </p:txBody>
        </p:sp>
      </p:grpSp>
      <p:grpSp>
        <p:nvGrpSpPr>
          <p:cNvPr id="21" name="Group 5">
            <a:extLst>
              <a:ext uri="{FF2B5EF4-FFF2-40B4-BE49-F238E27FC236}">
                <a16:creationId xmlns:a16="http://schemas.microsoft.com/office/drawing/2014/main" id="{677852EF-EF26-4246-8092-73DF9BCC4CDC}"/>
              </a:ext>
            </a:extLst>
          </p:cNvPr>
          <p:cNvGrpSpPr>
            <a:grpSpLocks noChangeAspect="1"/>
          </p:cNvGrpSpPr>
          <p:nvPr/>
        </p:nvGrpSpPr>
        <p:grpSpPr>
          <a:xfrm>
            <a:off x="11079038" y="1857271"/>
            <a:ext cx="5707757" cy="7261131"/>
            <a:chOff x="0" y="0"/>
            <a:chExt cx="6350000" cy="9525000"/>
          </a:xfrm>
        </p:grpSpPr>
        <p:sp>
          <p:nvSpPr>
            <p:cNvPr id="22" name="Freeform 6">
              <a:extLst>
                <a:ext uri="{FF2B5EF4-FFF2-40B4-BE49-F238E27FC236}">
                  <a16:creationId xmlns:a16="http://schemas.microsoft.com/office/drawing/2014/main" id="{1AC39864-F6CB-4C25-9F47-109198111765}"/>
                </a:ext>
              </a:extLst>
            </p:cNvPr>
            <p:cNvSpPr/>
            <p:nvPr/>
          </p:nvSpPr>
          <p:spPr>
            <a:xfrm>
              <a:off x="0" y="0"/>
              <a:ext cx="6350000" cy="9525000"/>
            </a:xfrm>
            <a:custGeom>
              <a:avLst/>
              <a:gdLst/>
              <a:ahLst/>
              <a:cxnLst/>
              <a:rect l="l" t="t" r="r" b="b"/>
              <a:pathLst>
                <a:path w="6350000" h="9525000">
                  <a:moveTo>
                    <a:pt x="0" y="9042400"/>
                  </a:moveTo>
                  <a:lnTo>
                    <a:pt x="0" y="482600"/>
                  </a:lnTo>
                  <a:cubicBezTo>
                    <a:pt x="0" y="215900"/>
                    <a:pt x="215900" y="0"/>
                    <a:pt x="482600" y="0"/>
                  </a:cubicBezTo>
                  <a:lnTo>
                    <a:pt x="5867400" y="0"/>
                  </a:lnTo>
                  <a:cubicBezTo>
                    <a:pt x="6134100" y="0"/>
                    <a:pt x="6350000" y="217170"/>
                    <a:pt x="6350000" y="482600"/>
                  </a:cubicBezTo>
                  <a:lnTo>
                    <a:pt x="6350000" y="9042400"/>
                  </a:lnTo>
                  <a:cubicBezTo>
                    <a:pt x="6350000" y="9309100"/>
                    <a:pt x="6134100" y="9525000"/>
                    <a:pt x="5867400" y="9525000"/>
                  </a:cubicBezTo>
                  <a:lnTo>
                    <a:pt x="482600" y="9525000"/>
                  </a:lnTo>
                  <a:cubicBezTo>
                    <a:pt x="217170" y="9525000"/>
                    <a:pt x="0" y="9309100"/>
                    <a:pt x="0" y="9042400"/>
                  </a:cubicBezTo>
                  <a:close/>
                </a:path>
              </a:pathLst>
            </a:custGeom>
            <a:blipFill>
              <a:blip r:embed="rId4"/>
              <a:stretch>
                <a:fillRect l="-24959" t="-24959"/>
              </a:stretch>
            </a:blipFill>
          </p:spPr>
        </p:sp>
      </p:grpSp>
      <p:grpSp>
        <p:nvGrpSpPr>
          <p:cNvPr id="25" name="Group 7">
            <a:extLst>
              <a:ext uri="{FF2B5EF4-FFF2-40B4-BE49-F238E27FC236}">
                <a16:creationId xmlns:a16="http://schemas.microsoft.com/office/drawing/2014/main" id="{23AB4DA1-714F-431D-A864-70E0D07D9C9B}"/>
              </a:ext>
            </a:extLst>
          </p:cNvPr>
          <p:cNvGrpSpPr/>
          <p:nvPr/>
        </p:nvGrpSpPr>
        <p:grpSpPr>
          <a:xfrm>
            <a:off x="5029200" y="10789459"/>
            <a:ext cx="5550517" cy="4169374"/>
            <a:chOff x="0" y="0"/>
            <a:chExt cx="859920" cy="645945"/>
          </a:xfrm>
        </p:grpSpPr>
        <p:sp>
          <p:nvSpPr>
            <p:cNvPr id="26" name="Freeform 8">
              <a:extLst>
                <a:ext uri="{FF2B5EF4-FFF2-40B4-BE49-F238E27FC236}">
                  <a16:creationId xmlns:a16="http://schemas.microsoft.com/office/drawing/2014/main" id="{01AD2653-61C8-4CBD-A359-85C9298C9078}"/>
                </a:ext>
              </a:extLst>
            </p:cNvPr>
            <p:cNvSpPr/>
            <p:nvPr/>
          </p:nvSpPr>
          <p:spPr>
            <a:xfrm>
              <a:off x="0" y="0"/>
              <a:ext cx="859920" cy="645945"/>
            </a:xfrm>
            <a:custGeom>
              <a:avLst/>
              <a:gdLst/>
              <a:ahLst/>
              <a:cxnLst/>
              <a:rect l="l" t="t" r="r" b="b"/>
              <a:pathLst>
                <a:path w="859920" h="645945">
                  <a:moveTo>
                    <a:pt x="48818" y="0"/>
                  </a:moveTo>
                  <a:lnTo>
                    <a:pt x="811102" y="0"/>
                  </a:lnTo>
                  <a:cubicBezTo>
                    <a:pt x="838064" y="0"/>
                    <a:pt x="859920" y="21857"/>
                    <a:pt x="859920" y="48818"/>
                  </a:cubicBezTo>
                  <a:lnTo>
                    <a:pt x="859920" y="597127"/>
                  </a:lnTo>
                  <a:cubicBezTo>
                    <a:pt x="859920" y="610074"/>
                    <a:pt x="854777" y="622491"/>
                    <a:pt x="845622" y="631647"/>
                  </a:cubicBezTo>
                  <a:cubicBezTo>
                    <a:pt x="836467" y="640802"/>
                    <a:pt x="824049" y="645945"/>
                    <a:pt x="811102" y="645945"/>
                  </a:cubicBezTo>
                  <a:lnTo>
                    <a:pt x="48818" y="645945"/>
                  </a:lnTo>
                  <a:cubicBezTo>
                    <a:pt x="35871" y="645945"/>
                    <a:pt x="23454" y="640802"/>
                    <a:pt x="14299" y="631647"/>
                  </a:cubicBezTo>
                  <a:cubicBezTo>
                    <a:pt x="5143" y="622491"/>
                    <a:pt x="0" y="610074"/>
                    <a:pt x="0" y="597127"/>
                  </a:cubicBezTo>
                  <a:lnTo>
                    <a:pt x="0" y="48818"/>
                  </a:lnTo>
                  <a:cubicBezTo>
                    <a:pt x="0" y="35871"/>
                    <a:pt x="5143" y="23454"/>
                    <a:pt x="14299" y="14299"/>
                  </a:cubicBezTo>
                  <a:cubicBezTo>
                    <a:pt x="23454" y="5143"/>
                    <a:pt x="35871" y="0"/>
                    <a:pt x="48818" y="0"/>
                  </a:cubicBezTo>
                  <a:close/>
                </a:path>
              </a:pathLst>
            </a:custGeom>
            <a:blipFill>
              <a:blip r:embed="rId5"/>
              <a:stretch>
                <a:fillRect l="-896" t="-2600" r="-43057" b="-25275"/>
              </a:stretch>
            </a:blipFill>
            <a:ln w="95250" cap="rnd">
              <a:solidFill>
                <a:srgbClr val="FFFFFF"/>
              </a:solidFill>
              <a:prstDash val="solid"/>
              <a:round/>
            </a:ln>
          </p:spPr>
        </p:sp>
      </p:grpSp>
      <p:grpSp>
        <p:nvGrpSpPr>
          <p:cNvPr id="27" name="Group 26">
            <a:extLst>
              <a:ext uri="{FF2B5EF4-FFF2-40B4-BE49-F238E27FC236}">
                <a16:creationId xmlns:a16="http://schemas.microsoft.com/office/drawing/2014/main" id="{CA2ACD7D-7DB0-45F1-8BFB-3F4C8AA8B3B9}"/>
              </a:ext>
            </a:extLst>
          </p:cNvPr>
          <p:cNvGrpSpPr/>
          <p:nvPr/>
        </p:nvGrpSpPr>
        <p:grpSpPr>
          <a:xfrm>
            <a:off x="18279233" y="10032539"/>
            <a:ext cx="5934366" cy="5463465"/>
            <a:chOff x="11125200" y="4489812"/>
            <a:chExt cx="5934366" cy="5463465"/>
          </a:xfrm>
        </p:grpSpPr>
        <p:grpSp>
          <p:nvGrpSpPr>
            <p:cNvPr id="28" name="Group 9">
              <a:extLst>
                <a:ext uri="{FF2B5EF4-FFF2-40B4-BE49-F238E27FC236}">
                  <a16:creationId xmlns:a16="http://schemas.microsoft.com/office/drawing/2014/main" id="{98D690C2-C47E-4C80-8206-8156028FEF6B}"/>
                </a:ext>
              </a:extLst>
            </p:cNvPr>
            <p:cNvGrpSpPr/>
            <p:nvPr/>
          </p:nvGrpSpPr>
          <p:grpSpPr>
            <a:xfrm>
              <a:off x="11125200" y="4489812"/>
              <a:ext cx="5934366" cy="5094624"/>
              <a:chOff x="0" y="-47625"/>
              <a:chExt cx="1368855" cy="657819"/>
            </a:xfrm>
          </p:grpSpPr>
          <p:sp>
            <p:nvSpPr>
              <p:cNvPr id="30" name="Freeform 10">
                <a:extLst>
                  <a:ext uri="{FF2B5EF4-FFF2-40B4-BE49-F238E27FC236}">
                    <a16:creationId xmlns:a16="http://schemas.microsoft.com/office/drawing/2014/main" id="{2A1DACF5-EEB4-4D23-B253-BABB37CE227A}"/>
                  </a:ext>
                </a:extLst>
              </p:cNvPr>
              <p:cNvSpPr/>
              <p:nvPr/>
            </p:nvSpPr>
            <p:spPr>
              <a:xfrm>
                <a:off x="0" y="0"/>
                <a:ext cx="1368855" cy="610194"/>
              </a:xfrm>
              <a:custGeom>
                <a:avLst/>
                <a:gdLst/>
                <a:ahLst/>
                <a:cxnLst/>
                <a:rect l="l" t="t" r="r" b="b"/>
                <a:pathLst>
                  <a:path w="1368855" h="610194">
                    <a:moveTo>
                      <a:pt x="42116" y="0"/>
                    </a:moveTo>
                    <a:lnTo>
                      <a:pt x="1326739" y="0"/>
                    </a:lnTo>
                    <a:cubicBezTo>
                      <a:pt x="1349999" y="0"/>
                      <a:pt x="1368855" y="18856"/>
                      <a:pt x="1368855" y="42116"/>
                    </a:cubicBezTo>
                    <a:lnTo>
                      <a:pt x="1368855" y="568078"/>
                    </a:lnTo>
                    <a:cubicBezTo>
                      <a:pt x="1368855" y="579247"/>
                      <a:pt x="1364418" y="589960"/>
                      <a:pt x="1356520" y="597858"/>
                    </a:cubicBezTo>
                    <a:cubicBezTo>
                      <a:pt x="1348622" y="605756"/>
                      <a:pt x="1337909" y="610194"/>
                      <a:pt x="1326739" y="610194"/>
                    </a:cubicBezTo>
                    <a:lnTo>
                      <a:pt x="42116" y="610194"/>
                    </a:lnTo>
                    <a:cubicBezTo>
                      <a:pt x="18856" y="610194"/>
                      <a:pt x="0" y="591338"/>
                      <a:pt x="0" y="568078"/>
                    </a:cubicBezTo>
                    <a:lnTo>
                      <a:pt x="0" y="42116"/>
                    </a:lnTo>
                    <a:cubicBezTo>
                      <a:pt x="0" y="30946"/>
                      <a:pt x="4437" y="20234"/>
                      <a:pt x="12335" y="12335"/>
                    </a:cubicBezTo>
                    <a:cubicBezTo>
                      <a:pt x="20234" y="4437"/>
                      <a:pt x="30946" y="0"/>
                      <a:pt x="42116" y="0"/>
                    </a:cubicBezTo>
                    <a:close/>
                  </a:path>
                </a:pathLst>
              </a:custGeom>
              <a:solidFill>
                <a:srgbClr val="2F6C7E"/>
              </a:solidFill>
              <a:ln cap="rnd">
                <a:noFill/>
                <a:prstDash val="solid"/>
                <a:round/>
              </a:ln>
            </p:spPr>
          </p:sp>
          <p:sp>
            <p:nvSpPr>
              <p:cNvPr id="31" name="TextBox 11">
                <a:extLst>
                  <a:ext uri="{FF2B5EF4-FFF2-40B4-BE49-F238E27FC236}">
                    <a16:creationId xmlns:a16="http://schemas.microsoft.com/office/drawing/2014/main" id="{3702AA4C-8B9D-4F37-A93A-1A9D8F3CF3BA}"/>
                  </a:ext>
                </a:extLst>
              </p:cNvPr>
              <p:cNvSpPr txBox="1"/>
              <p:nvPr/>
            </p:nvSpPr>
            <p:spPr>
              <a:xfrm>
                <a:off x="0" y="-47625"/>
                <a:ext cx="1368855" cy="657819"/>
              </a:xfrm>
              <a:prstGeom prst="rect">
                <a:avLst/>
              </a:prstGeom>
            </p:spPr>
            <p:txBody>
              <a:bodyPr lIns="50800" tIns="50800" rIns="50800" bIns="50800" rtlCol="0" anchor="ctr"/>
              <a:lstStyle/>
              <a:p>
                <a:pPr algn="ctr">
                  <a:lnSpc>
                    <a:spcPts val="3359"/>
                  </a:lnSpc>
                </a:pPr>
                <a:endParaRPr/>
              </a:p>
            </p:txBody>
          </p:sp>
        </p:grpSp>
        <p:sp>
          <p:nvSpPr>
            <p:cNvPr id="29" name="TextBox 17">
              <a:extLst>
                <a:ext uri="{FF2B5EF4-FFF2-40B4-BE49-F238E27FC236}">
                  <a16:creationId xmlns:a16="http://schemas.microsoft.com/office/drawing/2014/main" id="{188D6F32-3F46-4F9C-8461-668F8A67419D}"/>
                </a:ext>
              </a:extLst>
            </p:cNvPr>
            <p:cNvSpPr txBox="1"/>
            <p:nvPr/>
          </p:nvSpPr>
          <p:spPr>
            <a:xfrm>
              <a:off x="11314612" y="4931966"/>
              <a:ext cx="5555542" cy="5021311"/>
            </a:xfrm>
            <a:prstGeom prst="rect">
              <a:avLst/>
            </a:prstGeom>
          </p:spPr>
          <p:txBody>
            <a:bodyPr wrap="square" lIns="0" tIns="0" rIns="0" bIns="0" rtlCol="0" anchor="t">
              <a:spAutoFit/>
            </a:bodyPr>
            <a:lstStyle/>
            <a:p>
              <a:pPr algn="just">
                <a:lnSpc>
                  <a:spcPct val="150000"/>
                </a:lnSpc>
              </a:pPr>
              <a:r>
                <a:rPr lang="en-US" sz="2000" b="1">
                  <a:solidFill>
                    <a:schemeClr val="bg1"/>
                  </a:solidFill>
                  <a:latin typeface="Arial" panose="020B0604020202020204" pitchFamily="34" charset="0"/>
                  <a:ea typeface="Public Sans Thin"/>
                  <a:cs typeface="Arial" panose="020B0604020202020204" pitchFamily="34" charset="0"/>
                  <a:sym typeface="Public Sans Thin"/>
                </a:rPr>
                <a:t>Đề tài được lựa chọn không chỉ nhằm đáp ứng yêu cầu môn học mà còn xuất phát từ mong muốn tạo ra một sản phẩm phục vụ nhu cầu giải trí tinh thần.</a:t>
              </a:r>
              <a:endParaRPr lang="vi-VN" sz="2000" b="1">
                <a:solidFill>
                  <a:schemeClr val="bg1"/>
                </a:solidFill>
                <a:latin typeface="Arial" panose="020B0604020202020204" pitchFamily="34" charset="0"/>
                <a:ea typeface="Public Sans Thin"/>
                <a:cs typeface="Arial" panose="020B0604020202020204" pitchFamily="34" charset="0"/>
                <a:sym typeface="Public Sans Thin"/>
              </a:endParaRPr>
            </a:p>
            <a:p>
              <a:pPr algn="just">
                <a:lnSpc>
                  <a:spcPct val="150000"/>
                </a:lnSpc>
              </a:pPr>
              <a:r>
                <a:rPr lang="en-US" sz="2000" b="1">
                  <a:solidFill>
                    <a:schemeClr val="bg1"/>
                  </a:solidFill>
                  <a:latin typeface="Arial" panose="020B0604020202020204" pitchFamily="34" charset="0"/>
                  <a:ea typeface="Public Sans Thin"/>
                  <a:cs typeface="Arial" panose="020B0604020202020204" pitchFamily="34" charset="0"/>
                  <a:sym typeface="Public Sans Thin"/>
                </a:rPr>
                <a:t> </a:t>
              </a:r>
              <a:endParaRPr lang="vi-VN" sz="2000" b="1">
                <a:solidFill>
                  <a:schemeClr val="bg1"/>
                </a:solidFill>
                <a:latin typeface="Arial" panose="020B0604020202020204" pitchFamily="34" charset="0"/>
                <a:ea typeface="Public Sans Thin"/>
                <a:cs typeface="Arial" panose="020B0604020202020204" pitchFamily="34" charset="0"/>
                <a:sym typeface="Public Sans Thin"/>
              </a:endParaRPr>
            </a:p>
            <a:p>
              <a:pPr algn="just">
                <a:lnSpc>
                  <a:spcPct val="150000"/>
                </a:lnSpc>
              </a:pPr>
              <a:r>
                <a:rPr lang="en-US" sz="2000" b="1">
                  <a:solidFill>
                    <a:schemeClr val="bg1"/>
                  </a:solidFill>
                  <a:latin typeface="Arial" panose="020B0604020202020204" pitchFamily="34" charset="0"/>
                  <a:ea typeface="Public Sans Thin"/>
                  <a:cs typeface="Arial" panose="020B0604020202020204" pitchFamily="34" charset="0"/>
                  <a:sym typeface="Public Sans Thin"/>
                </a:rPr>
                <a:t>Nhóm mong muốn cụ thể hóa trò chơi Caro quen thuộc từ hình thức chơi trên giấy thành một ứng dụng trên máy tính, phù hợp với xu hướng phát triển của công nghệ trong thời đại 4.0.</a:t>
              </a:r>
            </a:p>
            <a:p>
              <a:pPr algn="just">
                <a:lnSpc>
                  <a:spcPct val="150000"/>
                </a:lnSpc>
                <a:spcBef>
                  <a:spcPct val="0"/>
                </a:spcBef>
              </a:pPr>
              <a:endParaRPr lang="en-US" sz="2000" b="1">
                <a:solidFill>
                  <a:schemeClr val="bg1"/>
                </a:solidFill>
                <a:latin typeface="Arial" panose="020B0604020202020204" pitchFamily="34" charset="0"/>
                <a:ea typeface="Public Sans Thin"/>
                <a:cs typeface="Arial" panose="020B0604020202020204" pitchFamily="34" charset="0"/>
                <a:sym typeface="Public Sans Thin"/>
              </a:endParaRPr>
            </a:p>
          </p:txBody>
        </p:sp>
      </p:grpSp>
      <p:grpSp>
        <p:nvGrpSpPr>
          <p:cNvPr id="32" name="Group 5">
            <a:extLst>
              <a:ext uri="{FF2B5EF4-FFF2-40B4-BE49-F238E27FC236}">
                <a16:creationId xmlns:a16="http://schemas.microsoft.com/office/drawing/2014/main" id="{4076721F-11B8-47CE-A083-6447CE1FFB42}"/>
              </a:ext>
            </a:extLst>
          </p:cNvPr>
          <p:cNvGrpSpPr/>
          <p:nvPr/>
        </p:nvGrpSpPr>
        <p:grpSpPr>
          <a:xfrm>
            <a:off x="14600184" y="-4816350"/>
            <a:ext cx="7428315" cy="4495508"/>
            <a:chOff x="0" y="0"/>
            <a:chExt cx="1106640" cy="669723"/>
          </a:xfrm>
        </p:grpSpPr>
        <p:sp>
          <p:nvSpPr>
            <p:cNvPr id="33" name="Freeform 6">
              <a:extLst>
                <a:ext uri="{FF2B5EF4-FFF2-40B4-BE49-F238E27FC236}">
                  <a16:creationId xmlns:a16="http://schemas.microsoft.com/office/drawing/2014/main" id="{455493D0-DFF5-4AEE-B513-CF1A5623533F}"/>
                </a:ext>
              </a:extLst>
            </p:cNvPr>
            <p:cNvSpPr/>
            <p:nvPr/>
          </p:nvSpPr>
          <p:spPr>
            <a:xfrm>
              <a:off x="0" y="0"/>
              <a:ext cx="1106640" cy="669723"/>
            </a:xfrm>
            <a:custGeom>
              <a:avLst/>
              <a:gdLst/>
              <a:ahLst/>
              <a:cxnLst/>
              <a:rect l="l" t="t" r="r" b="b"/>
              <a:pathLst>
                <a:path w="1106640" h="669723">
                  <a:moveTo>
                    <a:pt x="36478" y="0"/>
                  </a:moveTo>
                  <a:lnTo>
                    <a:pt x="1070163" y="0"/>
                  </a:lnTo>
                  <a:cubicBezTo>
                    <a:pt x="1090309" y="0"/>
                    <a:pt x="1106640" y="16332"/>
                    <a:pt x="1106640" y="36478"/>
                  </a:cubicBezTo>
                  <a:lnTo>
                    <a:pt x="1106640" y="633245"/>
                  </a:lnTo>
                  <a:cubicBezTo>
                    <a:pt x="1106640" y="642920"/>
                    <a:pt x="1102797" y="652198"/>
                    <a:pt x="1095956" y="659039"/>
                  </a:cubicBezTo>
                  <a:cubicBezTo>
                    <a:pt x="1089116" y="665880"/>
                    <a:pt x="1079837" y="669723"/>
                    <a:pt x="1070163" y="669723"/>
                  </a:cubicBezTo>
                  <a:lnTo>
                    <a:pt x="36478" y="669723"/>
                  </a:lnTo>
                  <a:cubicBezTo>
                    <a:pt x="16332" y="669723"/>
                    <a:pt x="0" y="653391"/>
                    <a:pt x="0" y="633245"/>
                  </a:cubicBezTo>
                  <a:lnTo>
                    <a:pt x="0" y="36478"/>
                  </a:lnTo>
                  <a:cubicBezTo>
                    <a:pt x="0" y="16332"/>
                    <a:pt x="16332" y="0"/>
                    <a:pt x="36478" y="0"/>
                  </a:cubicBezTo>
                  <a:close/>
                </a:path>
              </a:pathLst>
            </a:custGeom>
            <a:blipFill>
              <a:blip r:embed="rId6"/>
              <a:stretch>
                <a:fillRect t="-1002"/>
              </a:stretch>
            </a:blipFill>
          </p:spPr>
        </p:sp>
      </p:grpSp>
      <p:sp>
        <p:nvSpPr>
          <p:cNvPr id="34" name="Freeform 12">
            <a:extLst>
              <a:ext uri="{FF2B5EF4-FFF2-40B4-BE49-F238E27FC236}">
                <a16:creationId xmlns:a16="http://schemas.microsoft.com/office/drawing/2014/main" id="{BDFC4C88-D25B-4CD3-8088-6A820B278BD3}"/>
              </a:ext>
            </a:extLst>
          </p:cNvPr>
          <p:cNvSpPr/>
          <p:nvPr/>
        </p:nvSpPr>
        <p:spPr>
          <a:xfrm>
            <a:off x="-1228430" y="5197042"/>
            <a:ext cx="945537" cy="945537"/>
          </a:xfrm>
          <a:custGeom>
            <a:avLst/>
            <a:gdLst/>
            <a:ahLst/>
            <a:cxnLst/>
            <a:rect l="l" t="t" r="r" b="b"/>
            <a:pathLst>
              <a:path w="945537" h="945537">
                <a:moveTo>
                  <a:pt x="0" y="0"/>
                </a:moveTo>
                <a:lnTo>
                  <a:pt x="945536" y="0"/>
                </a:lnTo>
                <a:lnTo>
                  <a:pt x="945536" y="945536"/>
                </a:lnTo>
                <a:lnTo>
                  <a:pt x="0" y="94553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5" name="TextBox 16">
            <a:extLst>
              <a:ext uri="{FF2B5EF4-FFF2-40B4-BE49-F238E27FC236}">
                <a16:creationId xmlns:a16="http://schemas.microsoft.com/office/drawing/2014/main" id="{935877E1-83F0-4433-87F0-2A0671D002BA}"/>
              </a:ext>
            </a:extLst>
          </p:cNvPr>
          <p:cNvSpPr txBox="1"/>
          <p:nvPr/>
        </p:nvSpPr>
        <p:spPr>
          <a:xfrm>
            <a:off x="-5261297" y="2186230"/>
            <a:ext cx="5828741" cy="1744067"/>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Lý do chọn</a:t>
            </a:r>
          </a:p>
          <a:p>
            <a:pPr algn="l">
              <a:lnSpc>
                <a:spcPts val="6800"/>
              </a:lnSpc>
            </a:pPr>
            <a:r>
              <a:rPr lang="vi-VN" sz="6800" spc="-374">
                <a:solidFill>
                  <a:srgbClr val="231F20"/>
                </a:solidFill>
                <a:latin typeface="Heading Now 71-78"/>
                <a:ea typeface="Heading Now 71-78"/>
                <a:cs typeface="Heading Now 71-78"/>
                <a:sym typeface="Heading Now 71-78"/>
              </a:rPr>
              <a:t>đề tài</a:t>
            </a:r>
            <a:endParaRPr lang="en-US" sz="6800" spc="-374">
              <a:solidFill>
                <a:srgbClr val="231F20"/>
              </a:solidFill>
              <a:latin typeface="Heading Now 71-78"/>
              <a:ea typeface="Heading Now 71-78"/>
              <a:cs typeface="Heading Now 71-78"/>
              <a:sym typeface="Heading Now 71-78"/>
            </a:endParaRPr>
          </a:p>
        </p:txBody>
      </p:sp>
      <p:sp>
        <p:nvSpPr>
          <p:cNvPr id="36" name="Freeform 19">
            <a:extLst>
              <a:ext uri="{FF2B5EF4-FFF2-40B4-BE49-F238E27FC236}">
                <a16:creationId xmlns:a16="http://schemas.microsoft.com/office/drawing/2014/main" id="{A4E2CA01-9DF3-46E3-9228-D2B5B6BE3E08}"/>
              </a:ext>
            </a:extLst>
          </p:cNvPr>
          <p:cNvSpPr/>
          <p:nvPr/>
        </p:nvSpPr>
        <p:spPr>
          <a:xfrm>
            <a:off x="10963706" y="-928636"/>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6253449"/>
            <a:ext cx="3934796" cy="4109676"/>
            <a:chOff x="0" y="0"/>
            <a:chExt cx="571500" cy="596900"/>
          </a:xfrm>
        </p:grpSpPr>
        <p:sp>
          <p:nvSpPr>
            <p:cNvPr id="3" name="Freeform 3"/>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4" name="TextBox 4"/>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7" name="Freeform 7"/>
          <p:cNvSpPr/>
          <p:nvPr/>
        </p:nvSpPr>
        <p:spPr>
          <a:xfrm>
            <a:off x="7657175" y="7547434"/>
            <a:ext cx="578602" cy="578602"/>
          </a:xfrm>
          <a:custGeom>
            <a:avLst/>
            <a:gdLst/>
            <a:ahLst/>
            <a:cxnLst/>
            <a:rect l="l" t="t" r="r" b="b"/>
            <a:pathLst>
              <a:path w="578602" h="578602">
                <a:moveTo>
                  <a:pt x="0" y="0"/>
                </a:moveTo>
                <a:lnTo>
                  <a:pt x="578602" y="0"/>
                </a:lnTo>
                <a:lnTo>
                  <a:pt x="578602" y="578602"/>
                </a:lnTo>
                <a:lnTo>
                  <a:pt x="0" y="57860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8" name="TextBox 8"/>
          <p:cNvSpPr txBox="1"/>
          <p:nvPr/>
        </p:nvSpPr>
        <p:spPr>
          <a:xfrm>
            <a:off x="8791677" y="2282115"/>
            <a:ext cx="6278221"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Mục lục</a:t>
            </a:r>
            <a:endParaRPr lang="en-US" sz="6800" spc="-374">
              <a:solidFill>
                <a:srgbClr val="231F20"/>
              </a:solidFill>
              <a:latin typeface="Heading Now 71-78"/>
              <a:ea typeface="Heading Now 71-78"/>
              <a:cs typeface="Heading Now 71-78"/>
              <a:sym typeface="Heading Now 71-78"/>
            </a:endParaRPr>
          </a:p>
        </p:txBody>
      </p:sp>
      <p:sp>
        <p:nvSpPr>
          <p:cNvPr id="12" name="Freeform 12"/>
          <p:cNvSpPr/>
          <p:nvPr/>
        </p:nvSpPr>
        <p:spPr>
          <a:xfrm rot="-10800000">
            <a:off x="15855859" y="8429729"/>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rot="-10800000">
            <a:off x="14353204" y="0"/>
            <a:ext cx="3934796" cy="4109676"/>
            <a:chOff x="0" y="0"/>
            <a:chExt cx="571500" cy="596900"/>
          </a:xfrm>
        </p:grpSpPr>
        <p:sp>
          <p:nvSpPr>
            <p:cNvPr id="14" name="Freeform 14"/>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5" name="TextBox 15"/>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6" name="Freeform 16"/>
          <p:cNvSpPr/>
          <p:nvPr/>
        </p:nvSpPr>
        <p:spPr>
          <a:xfrm>
            <a:off x="7927930" y="21227"/>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p:nvPr/>
        </p:nvGrpSpPr>
        <p:grpSpPr>
          <a:xfrm>
            <a:off x="511210" y="968636"/>
            <a:ext cx="7722618" cy="6260078"/>
            <a:chOff x="0" y="0"/>
            <a:chExt cx="1635463" cy="1355025"/>
          </a:xfrm>
          <a:blipFill dpi="0" rotWithShape="1">
            <a:blip r:embed="rId6"/>
            <a:srcRect/>
            <a:stretch>
              <a:fillRect l="-17000" r="-12000"/>
            </a:stretch>
          </a:blipFill>
        </p:grpSpPr>
        <p:sp>
          <p:nvSpPr>
            <p:cNvPr id="6" name="Freeform 6"/>
            <p:cNvSpPr/>
            <p:nvPr/>
          </p:nvSpPr>
          <p:spPr>
            <a:xfrm>
              <a:off x="0" y="0"/>
              <a:ext cx="1635465" cy="1355025"/>
            </a:xfrm>
            <a:custGeom>
              <a:avLst/>
              <a:gdLst/>
              <a:ahLst/>
              <a:cxnLst/>
              <a:rect l="l" t="t" r="r" b="b"/>
              <a:pathLst>
                <a:path w="1635465" h="1355025">
                  <a:moveTo>
                    <a:pt x="1288506" y="0"/>
                  </a:moveTo>
                  <a:lnTo>
                    <a:pt x="148415" y="0"/>
                  </a:lnTo>
                  <a:cubicBezTo>
                    <a:pt x="66448" y="0"/>
                    <a:pt x="0" y="66448"/>
                    <a:pt x="0" y="148415"/>
                  </a:cubicBezTo>
                  <a:lnTo>
                    <a:pt x="0" y="1075632"/>
                  </a:lnTo>
                  <a:cubicBezTo>
                    <a:pt x="0" y="1112143"/>
                    <a:pt x="13458" y="1147373"/>
                    <a:pt x="37800" y="1174584"/>
                  </a:cubicBezTo>
                  <a:lnTo>
                    <a:pt x="154967" y="1305561"/>
                  </a:lnTo>
                  <a:cubicBezTo>
                    <a:pt x="183122" y="1337036"/>
                    <a:pt x="223353" y="1355026"/>
                    <a:pt x="265584" y="1355025"/>
                  </a:cubicBezTo>
                  <a:lnTo>
                    <a:pt x="1487049" y="1355025"/>
                  </a:lnTo>
                  <a:cubicBezTo>
                    <a:pt x="1526411" y="1355025"/>
                    <a:pt x="1564162" y="1339389"/>
                    <a:pt x="1591995" y="1311556"/>
                  </a:cubicBezTo>
                  <a:cubicBezTo>
                    <a:pt x="1619828" y="1283722"/>
                    <a:pt x="1635465" y="1245972"/>
                    <a:pt x="1635465" y="1206610"/>
                  </a:cubicBezTo>
                  <a:lnTo>
                    <a:pt x="1635465" y="366141"/>
                  </a:lnTo>
                  <a:cubicBezTo>
                    <a:pt x="1635465" y="329143"/>
                    <a:pt x="1621646" y="293478"/>
                    <a:pt x="1596716" y="266140"/>
                  </a:cubicBezTo>
                  <a:lnTo>
                    <a:pt x="1398173" y="48414"/>
                  </a:lnTo>
                  <a:cubicBezTo>
                    <a:pt x="1370051" y="17574"/>
                    <a:pt x="1330243" y="0"/>
                    <a:pt x="1288506" y="0"/>
                  </a:cubicBezTo>
                  <a:close/>
                </a:path>
              </a:pathLst>
            </a:custGeom>
            <a:grpFill/>
            <a:ln>
              <a:solidFill>
                <a:schemeClr val="tx1"/>
              </a:solidFill>
            </a:ln>
          </p:spPr>
        </p:sp>
      </p:grpSp>
      <p:grpSp>
        <p:nvGrpSpPr>
          <p:cNvPr id="17" name="Group 16">
            <a:extLst>
              <a:ext uri="{FF2B5EF4-FFF2-40B4-BE49-F238E27FC236}">
                <a16:creationId xmlns:a16="http://schemas.microsoft.com/office/drawing/2014/main" id="{B9B4F749-AE88-4BC1-953F-165A25E4846F}"/>
              </a:ext>
            </a:extLst>
          </p:cNvPr>
          <p:cNvGrpSpPr/>
          <p:nvPr/>
        </p:nvGrpSpPr>
        <p:grpSpPr>
          <a:xfrm>
            <a:off x="8756117" y="3423460"/>
            <a:ext cx="7129921" cy="6368240"/>
            <a:chOff x="9425758" y="3709956"/>
            <a:chExt cx="7129921" cy="6368240"/>
          </a:xfrm>
        </p:grpSpPr>
        <p:grpSp>
          <p:nvGrpSpPr>
            <p:cNvPr id="18" name="Group 3">
              <a:extLst>
                <a:ext uri="{FF2B5EF4-FFF2-40B4-BE49-F238E27FC236}">
                  <a16:creationId xmlns:a16="http://schemas.microsoft.com/office/drawing/2014/main" id="{7F361524-43CC-4D3F-A7BE-9D250616A104}"/>
                </a:ext>
              </a:extLst>
            </p:cNvPr>
            <p:cNvGrpSpPr/>
            <p:nvPr/>
          </p:nvGrpSpPr>
          <p:grpSpPr>
            <a:xfrm>
              <a:off x="9425758" y="3709956"/>
              <a:ext cx="6430101" cy="6368240"/>
              <a:chOff x="0" y="0"/>
              <a:chExt cx="3272780" cy="2598546"/>
            </a:xfrm>
          </p:grpSpPr>
          <p:sp>
            <p:nvSpPr>
              <p:cNvPr id="19" name="Freeform 4">
                <a:extLst>
                  <a:ext uri="{FF2B5EF4-FFF2-40B4-BE49-F238E27FC236}">
                    <a16:creationId xmlns:a16="http://schemas.microsoft.com/office/drawing/2014/main" id="{8034AC7A-2CDF-458B-ABAE-2B753491EA82}"/>
                  </a:ext>
                </a:extLst>
              </p:cNvPr>
              <p:cNvSpPr/>
              <p:nvPr/>
            </p:nvSpPr>
            <p:spPr>
              <a:xfrm>
                <a:off x="0" y="0"/>
                <a:ext cx="3272780" cy="2598546"/>
              </a:xfrm>
              <a:custGeom>
                <a:avLst/>
                <a:gdLst/>
                <a:ahLst/>
                <a:cxnLst/>
                <a:rect l="l" t="t" r="r" b="b"/>
                <a:pathLst>
                  <a:path w="3272780" h="2357269">
                    <a:moveTo>
                      <a:pt x="3148320" y="2357269"/>
                    </a:moveTo>
                    <a:lnTo>
                      <a:pt x="124460" y="2357269"/>
                    </a:lnTo>
                    <a:cubicBezTo>
                      <a:pt x="55880" y="2357269"/>
                      <a:pt x="0" y="2301389"/>
                      <a:pt x="0" y="2232809"/>
                    </a:cubicBezTo>
                    <a:lnTo>
                      <a:pt x="0" y="124460"/>
                    </a:lnTo>
                    <a:cubicBezTo>
                      <a:pt x="0" y="55880"/>
                      <a:pt x="55880" y="0"/>
                      <a:pt x="124460" y="0"/>
                    </a:cubicBezTo>
                    <a:lnTo>
                      <a:pt x="3148320" y="0"/>
                    </a:lnTo>
                    <a:cubicBezTo>
                      <a:pt x="3216900" y="0"/>
                      <a:pt x="3272780" y="55880"/>
                      <a:pt x="3272780" y="124460"/>
                    </a:cubicBezTo>
                    <a:lnTo>
                      <a:pt x="3272780" y="2232809"/>
                    </a:lnTo>
                    <a:cubicBezTo>
                      <a:pt x="3272780" y="2301389"/>
                      <a:pt x="3216900" y="2357269"/>
                      <a:pt x="3148320" y="2357269"/>
                    </a:cubicBezTo>
                    <a:close/>
                  </a:path>
                </a:pathLst>
              </a:custGeom>
              <a:solidFill>
                <a:srgbClr val="FFFFFF"/>
              </a:solidFill>
              <a:ln>
                <a:solidFill>
                  <a:schemeClr val="tx1"/>
                </a:solidFill>
              </a:ln>
            </p:spPr>
          </p:sp>
        </p:grpSp>
        <p:sp>
          <p:nvSpPr>
            <p:cNvPr id="20" name="TextBox 5">
              <a:extLst>
                <a:ext uri="{FF2B5EF4-FFF2-40B4-BE49-F238E27FC236}">
                  <a16:creationId xmlns:a16="http://schemas.microsoft.com/office/drawing/2014/main" id="{16EBDBE6-071A-49DF-83FF-55DA74CBA3E5}"/>
                </a:ext>
              </a:extLst>
            </p:cNvPr>
            <p:cNvSpPr txBox="1"/>
            <p:nvPr/>
          </p:nvSpPr>
          <p:spPr>
            <a:xfrm>
              <a:off x="9982698" y="3983652"/>
              <a:ext cx="6572981" cy="493597"/>
            </a:xfrm>
            <a:prstGeom prst="rect">
              <a:avLst/>
            </a:prstGeom>
            <a:ln>
              <a:noFill/>
            </a:ln>
          </p:spPr>
          <p:txBody>
            <a:bodyPr wrap="square" lIns="0" tIns="0" rIns="0" bIns="0" rtlCol="0" anchor="t">
              <a:spAutoFit/>
            </a:bodyPr>
            <a:lstStyle/>
            <a:p>
              <a:pPr algn="l">
                <a:lnSpc>
                  <a:spcPts val="4079"/>
                </a:lnSpc>
              </a:pPr>
              <a:r>
                <a:rPr lang="en-US" sz="3400" b="1">
                  <a:solidFill>
                    <a:srgbClr val="121212"/>
                  </a:solidFill>
                  <a:latin typeface="Public Sans Bold"/>
                  <a:ea typeface="Public Sans Bold"/>
                  <a:cs typeface="Public Sans Bold"/>
                  <a:sym typeface="Public Sans Bold"/>
                </a:rPr>
                <a:t>CHỦ ĐỀ THUYẾT TRÌNH</a:t>
              </a:r>
            </a:p>
          </p:txBody>
        </p:sp>
        <p:grpSp>
          <p:nvGrpSpPr>
            <p:cNvPr id="21" name="Group 6">
              <a:extLst>
                <a:ext uri="{FF2B5EF4-FFF2-40B4-BE49-F238E27FC236}">
                  <a16:creationId xmlns:a16="http://schemas.microsoft.com/office/drawing/2014/main" id="{2994C459-583E-4483-8CB5-B4B092724D00}"/>
                </a:ext>
              </a:extLst>
            </p:cNvPr>
            <p:cNvGrpSpPr/>
            <p:nvPr/>
          </p:nvGrpSpPr>
          <p:grpSpPr>
            <a:xfrm>
              <a:off x="10037072" y="5082171"/>
              <a:ext cx="179596" cy="210989"/>
              <a:chOff x="0" y="0"/>
              <a:chExt cx="6350000" cy="6350000"/>
            </a:xfrm>
          </p:grpSpPr>
          <p:sp>
            <p:nvSpPr>
              <p:cNvPr id="22" name="Freeform 7">
                <a:extLst>
                  <a:ext uri="{FF2B5EF4-FFF2-40B4-BE49-F238E27FC236}">
                    <a16:creationId xmlns:a16="http://schemas.microsoft.com/office/drawing/2014/main" id="{7DE28A72-179A-4E1C-A636-356D1642C1A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a:ln>
                <a:solidFill>
                  <a:schemeClr val="tx1"/>
                </a:solidFill>
              </a:ln>
            </p:spPr>
          </p:sp>
        </p:grpSp>
        <p:grpSp>
          <p:nvGrpSpPr>
            <p:cNvPr id="23" name="Group 8">
              <a:extLst>
                <a:ext uri="{FF2B5EF4-FFF2-40B4-BE49-F238E27FC236}">
                  <a16:creationId xmlns:a16="http://schemas.microsoft.com/office/drawing/2014/main" id="{048FE988-F889-4F9F-99A4-4AB3F869491E}"/>
                </a:ext>
              </a:extLst>
            </p:cNvPr>
            <p:cNvGrpSpPr/>
            <p:nvPr/>
          </p:nvGrpSpPr>
          <p:grpSpPr>
            <a:xfrm>
              <a:off x="10037072" y="5867057"/>
              <a:ext cx="179596" cy="210989"/>
              <a:chOff x="0" y="0"/>
              <a:chExt cx="6350000" cy="6350000"/>
            </a:xfrm>
          </p:grpSpPr>
          <p:sp>
            <p:nvSpPr>
              <p:cNvPr id="24" name="Freeform 9">
                <a:extLst>
                  <a:ext uri="{FF2B5EF4-FFF2-40B4-BE49-F238E27FC236}">
                    <a16:creationId xmlns:a16="http://schemas.microsoft.com/office/drawing/2014/main" id="{4CF2BE9E-FFAF-4819-9FBD-D44582CFAEAD}"/>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a:ln>
                <a:solidFill>
                  <a:schemeClr val="tx1"/>
                </a:solidFill>
              </a:ln>
            </p:spPr>
          </p:sp>
        </p:grpSp>
        <p:grpSp>
          <p:nvGrpSpPr>
            <p:cNvPr id="25" name="Group 10">
              <a:extLst>
                <a:ext uri="{FF2B5EF4-FFF2-40B4-BE49-F238E27FC236}">
                  <a16:creationId xmlns:a16="http://schemas.microsoft.com/office/drawing/2014/main" id="{1CB76961-11F7-414A-8200-433245C51983}"/>
                </a:ext>
              </a:extLst>
            </p:cNvPr>
            <p:cNvGrpSpPr/>
            <p:nvPr/>
          </p:nvGrpSpPr>
          <p:grpSpPr>
            <a:xfrm>
              <a:off x="10037072" y="6651943"/>
              <a:ext cx="179596" cy="210989"/>
              <a:chOff x="0" y="0"/>
              <a:chExt cx="6350000" cy="6350000"/>
            </a:xfrm>
          </p:grpSpPr>
          <p:sp>
            <p:nvSpPr>
              <p:cNvPr id="26" name="Freeform 11">
                <a:extLst>
                  <a:ext uri="{FF2B5EF4-FFF2-40B4-BE49-F238E27FC236}">
                    <a16:creationId xmlns:a16="http://schemas.microsoft.com/office/drawing/2014/main" id="{FC159416-36EE-4774-BDAE-6C7AE69587F8}"/>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a:ln>
                <a:solidFill>
                  <a:schemeClr val="tx1"/>
                </a:solidFill>
              </a:ln>
            </p:spPr>
          </p:sp>
        </p:grpSp>
        <p:grpSp>
          <p:nvGrpSpPr>
            <p:cNvPr id="27" name="Group 12">
              <a:extLst>
                <a:ext uri="{FF2B5EF4-FFF2-40B4-BE49-F238E27FC236}">
                  <a16:creationId xmlns:a16="http://schemas.microsoft.com/office/drawing/2014/main" id="{1A79ED6A-2E5B-44F6-A2BD-BA94A57B9937}"/>
                </a:ext>
              </a:extLst>
            </p:cNvPr>
            <p:cNvGrpSpPr/>
            <p:nvPr/>
          </p:nvGrpSpPr>
          <p:grpSpPr>
            <a:xfrm>
              <a:off x="10037072" y="8044970"/>
              <a:ext cx="179596" cy="210989"/>
              <a:chOff x="0" y="18302828"/>
              <a:chExt cx="6350000" cy="6350000"/>
            </a:xfrm>
          </p:grpSpPr>
          <p:sp>
            <p:nvSpPr>
              <p:cNvPr id="28" name="Freeform 13">
                <a:extLst>
                  <a:ext uri="{FF2B5EF4-FFF2-40B4-BE49-F238E27FC236}">
                    <a16:creationId xmlns:a16="http://schemas.microsoft.com/office/drawing/2014/main" id="{A8B93192-1115-4F52-A66D-D00929318A09}"/>
                  </a:ext>
                </a:extLst>
              </p:cNvPr>
              <p:cNvSpPr/>
              <p:nvPr/>
            </p:nvSpPr>
            <p:spPr>
              <a:xfrm>
                <a:off x="0" y="18302828"/>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a:ln>
                <a:solidFill>
                  <a:schemeClr val="tx1"/>
                </a:solidFill>
              </a:ln>
            </p:spPr>
          </p:sp>
        </p:grpSp>
        <p:grpSp>
          <p:nvGrpSpPr>
            <p:cNvPr id="29" name="Group 14">
              <a:extLst>
                <a:ext uri="{FF2B5EF4-FFF2-40B4-BE49-F238E27FC236}">
                  <a16:creationId xmlns:a16="http://schemas.microsoft.com/office/drawing/2014/main" id="{3D095A4D-C632-4BFF-9C41-C3E1B54E7B31}"/>
                </a:ext>
              </a:extLst>
            </p:cNvPr>
            <p:cNvGrpSpPr/>
            <p:nvPr/>
          </p:nvGrpSpPr>
          <p:grpSpPr>
            <a:xfrm>
              <a:off x="10037072" y="8829856"/>
              <a:ext cx="179596" cy="210989"/>
              <a:chOff x="0" y="18302828"/>
              <a:chExt cx="6350000" cy="6350000"/>
            </a:xfrm>
          </p:grpSpPr>
          <p:sp>
            <p:nvSpPr>
              <p:cNvPr id="30" name="Freeform 15">
                <a:extLst>
                  <a:ext uri="{FF2B5EF4-FFF2-40B4-BE49-F238E27FC236}">
                    <a16:creationId xmlns:a16="http://schemas.microsoft.com/office/drawing/2014/main" id="{3B057299-243A-4AF8-A20A-ACFF5FB8A19C}"/>
                  </a:ext>
                </a:extLst>
              </p:cNvPr>
              <p:cNvSpPr/>
              <p:nvPr/>
            </p:nvSpPr>
            <p:spPr>
              <a:xfrm>
                <a:off x="0" y="18302828"/>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a:ln>
                <a:solidFill>
                  <a:schemeClr val="tx1"/>
                </a:solidFill>
              </a:ln>
            </p:spPr>
          </p:sp>
        </p:grpSp>
        <p:grpSp>
          <p:nvGrpSpPr>
            <p:cNvPr id="31" name="Group 16">
              <a:extLst>
                <a:ext uri="{FF2B5EF4-FFF2-40B4-BE49-F238E27FC236}">
                  <a16:creationId xmlns:a16="http://schemas.microsoft.com/office/drawing/2014/main" id="{5348220E-51C4-4F65-81A8-D3299E4FC350}"/>
                </a:ext>
              </a:extLst>
            </p:cNvPr>
            <p:cNvGrpSpPr/>
            <p:nvPr/>
          </p:nvGrpSpPr>
          <p:grpSpPr>
            <a:xfrm>
              <a:off x="10037072" y="9614741"/>
              <a:ext cx="179596" cy="210989"/>
              <a:chOff x="0" y="18302828"/>
              <a:chExt cx="6350000" cy="6350000"/>
            </a:xfrm>
          </p:grpSpPr>
          <p:sp>
            <p:nvSpPr>
              <p:cNvPr id="32" name="Freeform 17">
                <a:extLst>
                  <a:ext uri="{FF2B5EF4-FFF2-40B4-BE49-F238E27FC236}">
                    <a16:creationId xmlns:a16="http://schemas.microsoft.com/office/drawing/2014/main" id="{E3332A65-BA41-4ED5-B673-18E9358AC6A9}"/>
                  </a:ext>
                </a:extLst>
              </p:cNvPr>
              <p:cNvSpPr/>
              <p:nvPr/>
            </p:nvSpPr>
            <p:spPr>
              <a:xfrm>
                <a:off x="0" y="18302828"/>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a:ln>
                <a:solidFill>
                  <a:schemeClr val="tx1"/>
                </a:solidFill>
              </a:ln>
            </p:spPr>
          </p:sp>
        </p:grpSp>
        <p:sp>
          <p:nvSpPr>
            <p:cNvPr id="33" name="TextBox 18">
              <a:extLst>
                <a:ext uri="{FF2B5EF4-FFF2-40B4-BE49-F238E27FC236}">
                  <a16:creationId xmlns:a16="http://schemas.microsoft.com/office/drawing/2014/main" id="{F0948A2E-6B79-492A-8E39-C71ECFE97CF7}"/>
                </a:ext>
              </a:extLst>
            </p:cNvPr>
            <p:cNvSpPr txBox="1"/>
            <p:nvPr/>
          </p:nvSpPr>
          <p:spPr>
            <a:xfrm>
              <a:off x="10466438" y="4937910"/>
              <a:ext cx="4442086" cy="453041"/>
            </a:xfrm>
            <a:prstGeom prst="rect">
              <a:avLst/>
            </a:prstGeom>
            <a:ln>
              <a:noFill/>
            </a:ln>
          </p:spPr>
          <p:txBody>
            <a:bodyPr wrap="square" lIns="0" tIns="0" rIns="0" bIns="0" rtlCol="0" anchor="t">
              <a:spAutoFit/>
            </a:bodyPr>
            <a:lstStyle/>
            <a:p>
              <a:pPr algn="l">
                <a:lnSpc>
                  <a:spcPts val="3919"/>
                </a:lnSpc>
              </a:pPr>
              <a:r>
                <a:rPr lang="en-US" sz="2799">
                  <a:solidFill>
                    <a:srgbClr val="121212"/>
                  </a:solidFill>
                  <a:latin typeface="Public Sans Thin"/>
                  <a:ea typeface="Public Sans Thin"/>
                  <a:cs typeface="Public Sans Thin"/>
                  <a:sym typeface="Public Sans Thin"/>
                </a:rPr>
                <a:t>Giới thiệu </a:t>
              </a:r>
            </a:p>
          </p:txBody>
        </p:sp>
        <p:sp>
          <p:nvSpPr>
            <p:cNvPr id="34" name="TextBox 19">
              <a:extLst>
                <a:ext uri="{FF2B5EF4-FFF2-40B4-BE49-F238E27FC236}">
                  <a16:creationId xmlns:a16="http://schemas.microsoft.com/office/drawing/2014/main" id="{A619D1E9-0592-4093-A422-0281CB26CB3A}"/>
                </a:ext>
              </a:extLst>
            </p:cNvPr>
            <p:cNvSpPr txBox="1"/>
            <p:nvPr/>
          </p:nvSpPr>
          <p:spPr>
            <a:xfrm>
              <a:off x="10466438" y="5722796"/>
              <a:ext cx="4442086" cy="453041"/>
            </a:xfrm>
            <a:prstGeom prst="rect">
              <a:avLst/>
            </a:prstGeom>
            <a:ln>
              <a:noFill/>
            </a:ln>
          </p:spPr>
          <p:txBody>
            <a:bodyPr wrap="square" lIns="0" tIns="0" rIns="0" bIns="0" rtlCol="0" anchor="t">
              <a:spAutoFit/>
            </a:bodyPr>
            <a:lstStyle/>
            <a:p>
              <a:pPr algn="l">
                <a:lnSpc>
                  <a:spcPts val="3919"/>
                </a:lnSpc>
              </a:pPr>
              <a:r>
                <a:rPr lang="vi-VN" sz="2799">
                  <a:solidFill>
                    <a:srgbClr val="121212"/>
                  </a:solidFill>
                  <a:latin typeface="Public Sans Thin"/>
                  <a:ea typeface="Public Sans Thin"/>
                  <a:cs typeface="Public Sans Thin"/>
                  <a:sym typeface="Public Sans Thin"/>
                </a:rPr>
                <a:t>Ser</a:t>
              </a:r>
              <a:r>
                <a:rPr lang="en-US" sz="2799">
                  <a:solidFill>
                    <a:srgbClr val="121212"/>
                  </a:solidFill>
                  <a:latin typeface="Public Sans Thin"/>
                  <a:ea typeface="Public Sans Thin"/>
                  <a:cs typeface="Public Sans Thin"/>
                  <a:sym typeface="Public Sans Thin"/>
                </a:rPr>
                <a:t>ver</a:t>
              </a:r>
            </a:p>
          </p:txBody>
        </p:sp>
        <p:sp>
          <p:nvSpPr>
            <p:cNvPr id="35" name="TextBox 20">
              <a:extLst>
                <a:ext uri="{FF2B5EF4-FFF2-40B4-BE49-F238E27FC236}">
                  <a16:creationId xmlns:a16="http://schemas.microsoft.com/office/drawing/2014/main" id="{3D5BA17C-1D32-4852-9A0E-E4E57D3F387E}"/>
                </a:ext>
              </a:extLst>
            </p:cNvPr>
            <p:cNvSpPr txBox="1"/>
            <p:nvPr/>
          </p:nvSpPr>
          <p:spPr>
            <a:xfrm>
              <a:off x="10466438" y="6518156"/>
              <a:ext cx="4442086" cy="430184"/>
            </a:xfrm>
            <a:prstGeom prst="rect">
              <a:avLst/>
            </a:prstGeom>
            <a:ln>
              <a:noFill/>
            </a:ln>
          </p:spPr>
          <p:txBody>
            <a:bodyPr wrap="square" lIns="0" tIns="0" rIns="0" bIns="0" rtlCol="0" anchor="t">
              <a:spAutoFit/>
            </a:bodyPr>
            <a:lstStyle/>
            <a:p>
              <a:pPr algn="l">
                <a:lnSpc>
                  <a:spcPts val="3709"/>
                </a:lnSpc>
              </a:pPr>
              <a:r>
                <a:rPr lang="en-US" sz="2649">
                  <a:solidFill>
                    <a:srgbClr val="121212"/>
                  </a:solidFill>
                  <a:latin typeface="Public Sans Thin"/>
                  <a:ea typeface="Public Sans Thin"/>
                  <a:cs typeface="Public Sans Thin"/>
                  <a:sym typeface="Public Sans Thin"/>
                </a:rPr>
                <a:t>Client </a:t>
              </a:r>
            </a:p>
          </p:txBody>
        </p:sp>
        <p:sp>
          <p:nvSpPr>
            <p:cNvPr id="36" name="TextBox 21">
              <a:extLst>
                <a:ext uri="{FF2B5EF4-FFF2-40B4-BE49-F238E27FC236}">
                  <a16:creationId xmlns:a16="http://schemas.microsoft.com/office/drawing/2014/main" id="{7CE5DC95-F01F-4326-8FF6-E887B380BC4B}"/>
                </a:ext>
              </a:extLst>
            </p:cNvPr>
            <p:cNvSpPr txBox="1"/>
            <p:nvPr/>
          </p:nvSpPr>
          <p:spPr>
            <a:xfrm>
              <a:off x="10466438" y="7900709"/>
              <a:ext cx="4442086" cy="453041"/>
            </a:xfrm>
            <a:prstGeom prst="rect">
              <a:avLst/>
            </a:prstGeom>
            <a:ln>
              <a:noFill/>
            </a:ln>
          </p:spPr>
          <p:txBody>
            <a:bodyPr wrap="square" lIns="0" tIns="0" rIns="0" bIns="0" rtlCol="0" anchor="t">
              <a:spAutoFit/>
            </a:bodyPr>
            <a:lstStyle/>
            <a:p>
              <a:pPr algn="l">
                <a:lnSpc>
                  <a:spcPts val="3919"/>
                </a:lnSpc>
              </a:pPr>
              <a:r>
                <a:rPr lang="en-US" sz="2799">
                  <a:solidFill>
                    <a:srgbClr val="121212"/>
                  </a:solidFill>
                  <a:latin typeface="Public Sans Thin"/>
                  <a:ea typeface="Public Sans Thin"/>
                  <a:cs typeface="Public Sans Thin"/>
                  <a:sym typeface="Public Sans Thin"/>
                </a:rPr>
                <a:t>Những Khó Khăn </a:t>
              </a:r>
            </a:p>
          </p:txBody>
        </p:sp>
        <p:sp>
          <p:nvSpPr>
            <p:cNvPr id="37" name="TextBox 22">
              <a:extLst>
                <a:ext uri="{FF2B5EF4-FFF2-40B4-BE49-F238E27FC236}">
                  <a16:creationId xmlns:a16="http://schemas.microsoft.com/office/drawing/2014/main" id="{B9A47E32-48C6-4E3F-9971-BF8DAA66B675}"/>
                </a:ext>
              </a:extLst>
            </p:cNvPr>
            <p:cNvSpPr txBox="1"/>
            <p:nvPr/>
          </p:nvSpPr>
          <p:spPr>
            <a:xfrm>
              <a:off x="10466438" y="8685595"/>
              <a:ext cx="4442086" cy="453041"/>
            </a:xfrm>
            <a:prstGeom prst="rect">
              <a:avLst/>
            </a:prstGeom>
            <a:ln>
              <a:noFill/>
            </a:ln>
          </p:spPr>
          <p:txBody>
            <a:bodyPr wrap="square" lIns="0" tIns="0" rIns="0" bIns="0" rtlCol="0" anchor="t">
              <a:spAutoFit/>
            </a:bodyPr>
            <a:lstStyle/>
            <a:p>
              <a:pPr algn="l">
                <a:lnSpc>
                  <a:spcPts val="3919"/>
                </a:lnSpc>
              </a:pPr>
              <a:r>
                <a:rPr lang="en-US" sz="2799">
                  <a:solidFill>
                    <a:srgbClr val="121212"/>
                  </a:solidFill>
                  <a:latin typeface="Public Sans Thin"/>
                  <a:ea typeface="Public Sans Thin"/>
                  <a:cs typeface="Public Sans Thin"/>
                  <a:sym typeface="Public Sans Thin"/>
                </a:rPr>
                <a:t>Những Thành Tựu </a:t>
              </a:r>
            </a:p>
          </p:txBody>
        </p:sp>
        <p:sp>
          <p:nvSpPr>
            <p:cNvPr id="38" name="TextBox 23">
              <a:extLst>
                <a:ext uri="{FF2B5EF4-FFF2-40B4-BE49-F238E27FC236}">
                  <a16:creationId xmlns:a16="http://schemas.microsoft.com/office/drawing/2014/main" id="{9C021D55-B203-4493-B952-507B2E75952B}"/>
                </a:ext>
              </a:extLst>
            </p:cNvPr>
            <p:cNvSpPr txBox="1"/>
            <p:nvPr/>
          </p:nvSpPr>
          <p:spPr>
            <a:xfrm>
              <a:off x="10466438" y="9470480"/>
              <a:ext cx="4442086" cy="453041"/>
            </a:xfrm>
            <a:prstGeom prst="rect">
              <a:avLst/>
            </a:prstGeom>
            <a:ln>
              <a:noFill/>
            </a:ln>
          </p:spPr>
          <p:txBody>
            <a:bodyPr wrap="square" lIns="0" tIns="0" rIns="0" bIns="0" rtlCol="0" anchor="t">
              <a:spAutoFit/>
            </a:bodyPr>
            <a:lstStyle/>
            <a:p>
              <a:pPr algn="l">
                <a:lnSpc>
                  <a:spcPts val="3919"/>
                </a:lnSpc>
              </a:pPr>
              <a:r>
                <a:rPr lang="en-US" sz="2799">
                  <a:solidFill>
                    <a:srgbClr val="121212"/>
                  </a:solidFill>
                  <a:latin typeface="Public Sans Thin"/>
                  <a:ea typeface="Public Sans Thin"/>
                  <a:cs typeface="Public Sans Thin"/>
                  <a:sym typeface="Public Sans Thin"/>
                </a:rPr>
                <a:t>Những Gì Chưa Làm Được </a:t>
              </a:r>
            </a:p>
          </p:txBody>
        </p:sp>
      </p:grpSp>
      <p:sp>
        <p:nvSpPr>
          <p:cNvPr id="55" name="Freeform 11">
            <a:extLst>
              <a:ext uri="{FF2B5EF4-FFF2-40B4-BE49-F238E27FC236}">
                <a16:creationId xmlns:a16="http://schemas.microsoft.com/office/drawing/2014/main" id="{4E33239F-468E-45EE-831F-8FF1C1253C96}"/>
              </a:ext>
            </a:extLst>
          </p:cNvPr>
          <p:cNvSpPr/>
          <p:nvPr/>
        </p:nvSpPr>
        <p:spPr>
          <a:xfrm>
            <a:off x="9367431" y="7045401"/>
            <a:ext cx="179596" cy="210989"/>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67DB7D"/>
          </a:solidFill>
          <a:ln>
            <a:solidFill>
              <a:schemeClr val="tx1"/>
            </a:solidFill>
          </a:ln>
        </p:spPr>
      </p:sp>
      <p:sp>
        <p:nvSpPr>
          <p:cNvPr id="56" name="TextBox 20">
            <a:extLst>
              <a:ext uri="{FF2B5EF4-FFF2-40B4-BE49-F238E27FC236}">
                <a16:creationId xmlns:a16="http://schemas.microsoft.com/office/drawing/2014/main" id="{C0E489F7-80B0-458F-868B-2C0827BC9EAB}"/>
              </a:ext>
            </a:extLst>
          </p:cNvPr>
          <p:cNvSpPr txBox="1"/>
          <p:nvPr/>
        </p:nvSpPr>
        <p:spPr>
          <a:xfrm>
            <a:off x="9796797" y="6911614"/>
            <a:ext cx="4442086" cy="430184"/>
          </a:xfrm>
          <a:prstGeom prst="rect">
            <a:avLst/>
          </a:prstGeom>
          <a:ln>
            <a:noFill/>
          </a:ln>
        </p:spPr>
        <p:txBody>
          <a:bodyPr wrap="square" lIns="0" tIns="0" rIns="0" bIns="0" rtlCol="0" anchor="t">
            <a:spAutoFit/>
          </a:bodyPr>
          <a:lstStyle/>
          <a:p>
            <a:pPr algn="l">
              <a:lnSpc>
                <a:spcPts val="3709"/>
              </a:lnSpc>
            </a:pPr>
            <a:r>
              <a:rPr lang="vi-VN" sz="2649">
                <a:solidFill>
                  <a:srgbClr val="121212"/>
                </a:solidFill>
                <a:latin typeface="Public Sans Thin"/>
                <a:ea typeface="Public Sans Thin"/>
                <a:cs typeface="Public Sans Thin"/>
                <a:sym typeface="Public Sans Thin"/>
              </a:rPr>
              <a:t>Data</a:t>
            </a:r>
            <a:r>
              <a:rPr lang="en-US" sz="2649">
                <a:solidFill>
                  <a:srgbClr val="121212"/>
                </a:solidFill>
                <a:latin typeface="Public Sans Thin"/>
                <a:ea typeface="Public Sans Thin"/>
                <a:cs typeface="Public Sans Thin"/>
                <a:sym typeface="Public Sans Thin"/>
              </a:rPr>
              <a:t> </a:t>
            </a:r>
          </a:p>
        </p:txBody>
      </p:sp>
      <p:sp>
        <p:nvSpPr>
          <p:cNvPr id="57" name="Freeform 17">
            <a:extLst>
              <a:ext uri="{FF2B5EF4-FFF2-40B4-BE49-F238E27FC236}">
                <a16:creationId xmlns:a16="http://schemas.microsoft.com/office/drawing/2014/main" id="{C49E406D-2C67-4532-905B-407FB26F9621}"/>
              </a:ext>
            </a:extLst>
          </p:cNvPr>
          <p:cNvSpPr/>
          <p:nvPr/>
        </p:nvSpPr>
        <p:spPr>
          <a:xfrm rot="16200000">
            <a:off x="-2799825" y="2460137"/>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4353204" y="0"/>
            <a:ext cx="3934796" cy="4109676"/>
            <a:chOff x="0" y="0"/>
            <a:chExt cx="571500" cy="596900"/>
          </a:xfrm>
        </p:grpSpPr>
        <p:sp>
          <p:nvSpPr>
            <p:cNvPr id="3" name="Freeform 3"/>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4" name="TextBox 4"/>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0" y="6215424"/>
            <a:ext cx="3934796" cy="4109676"/>
            <a:chOff x="0" y="0"/>
            <a:chExt cx="571500" cy="596900"/>
          </a:xfrm>
        </p:grpSpPr>
        <p:sp>
          <p:nvSpPr>
            <p:cNvPr id="8" name="Freeform 8"/>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9" name="TextBox 9"/>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16307856" y="8720934"/>
            <a:ext cx="996445" cy="974400"/>
          </a:xfrm>
          <a:custGeom>
            <a:avLst/>
            <a:gdLst/>
            <a:ahLst/>
            <a:cxnLst/>
            <a:rect l="l" t="t" r="r" b="b"/>
            <a:pathLst>
              <a:path w="437516" h="437516">
                <a:moveTo>
                  <a:pt x="0" y="0"/>
                </a:moveTo>
                <a:lnTo>
                  <a:pt x="437517" y="0"/>
                </a:lnTo>
                <a:lnTo>
                  <a:pt x="437517" y="437516"/>
                </a:lnTo>
                <a:lnTo>
                  <a:pt x="0" y="4375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7000749" y="1902568"/>
            <a:ext cx="4958595"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Tổng quan</a:t>
            </a:r>
            <a:endParaRPr lang="en-US" sz="6800" spc="-374">
              <a:solidFill>
                <a:srgbClr val="231F20"/>
              </a:solidFill>
              <a:latin typeface="Heading Now 71-78"/>
              <a:ea typeface="Heading Now 71-78"/>
              <a:cs typeface="Heading Now 71-78"/>
              <a:sym typeface="Heading Now 71-78"/>
            </a:endParaRPr>
          </a:p>
        </p:txBody>
      </p:sp>
      <p:sp>
        <p:nvSpPr>
          <p:cNvPr id="19" name="Freeform 19"/>
          <p:cNvSpPr/>
          <p:nvPr/>
        </p:nvSpPr>
        <p:spPr>
          <a:xfrm rot="-10800000">
            <a:off x="12268200" y="8568011"/>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p:cNvSpPr/>
          <p:nvPr/>
        </p:nvSpPr>
        <p:spPr>
          <a:xfrm>
            <a:off x="6924549" y="-43781"/>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5" name="TextBox 24">
            <a:extLst>
              <a:ext uri="{FF2B5EF4-FFF2-40B4-BE49-F238E27FC236}">
                <a16:creationId xmlns:a16="http://schemas.microsoft.com/office/drawing/2014/main" id="{DC8E145D-0052-4309-ACC6-F219A8F5EF2D}"/>
              </a:ext>
            </a:extLst>
          </p:cNvPr>
          <p:cNvSpPr txBox="1"/>
          <p:nvPr/>
        </p:nvSpPr>
        <p:spPr>
          <a:xfrm>
            <a:off x="7620000" y="4643727"/>
            <a:ext cx="6331592" cy="1420325"/>
          </a:xfrm>
          <a:prstGeom prst="rect">
            <a:avLst/>
          </a:prstGeom>
          <a:noFill/>
        </p:spPr>
        <p:txBody>
          <a:bodyPr wrap="square">
            <a:spAutoFit/>
          </a:bodyPr>
          <a:lstStyle/>
          <a:p>
            <a:pPr algn="just">
              <a:lnSpc>
                <a:spcPct val="150000"/>
              </a:lnSpc>
              <a:spcBef>
                <a:spcPct val="0"/>
              </a:spcBef>
            </a:pPr>
            <a:r>
              <a:rPr lang="en-US" sz="2000" b="1">
                <a:latin typeface="Public Sans Thin"/>
                <a:ea typeface="Public Sans Thin"/>
                <a:cs typeface="Public Sans Thin"/>
                <a:sym typeface="Public Sans Thin"/>
              </a:rPr>
              <a:t>Người chơi có thể đăng nhập, tham gia phòng chơi và thực hiện các nước đi được đồng bộ qua server. </a:t>
            </a:r>
            <a:endParaRPr lang="vi-VN" sz="2000" b="1">
              <a:latin typeface="Public Sans Thin"/>
              <a:ea typeface="Public Sans Thin"/>
              <a:cs typeface="Public Sans Thin"/>
              <a:sym typeface="Public Sans Thin"/>
            </a:endParaRPr>
          </a:p>
        </p:txBody>
      </p:sp>
      <p:sp>
        <p:nvSpPr>
          <p:cNvPr id="27" name="TextBox 26">
            <a:extLst>
              <a:ext uri="{FF2B5EF4-FFF2-40B4-BE49-F238E27FC236}">
                <a16:creationId xmlns:a16="http://schemas.microsoft.com/office/drawing/2014/main" id="{76DD7BAA-B9C7-4148-AFF8-C0D4BD6168A9}"/>
              </a:ext>
            </a:extLst>
          </p:cNvPr>
          <p:cNvSpPr txBox="1"/>
          <p:nvPr/>
        </p:nvSpPr>
        <p:spPr>
          <a:xfrm>
            <a:off x="7620000" y="6423773"/>
            <a:ext cx="6331592" cy="958660"/>
          </a:xfrm>
          <a:prstGeom prst="rect">
            <a:avLst/>
          </a:prstGeom>
          <a:noFill/>
        </p:spPr>
        <p:txBody>
          <a:bodyPr wrap="square">
            <a:spAutoFit/>
          </a:bodyPr>
          <a:lstStyle/>
          <a:p>
            <a:pPr algn="just">
              <a:lnSpc>
                <a:spcPct val="150000"/>
              </a:lnSpc>
              <a:spcBef>
                <a:spcPct val="0"/>
              </a:spcBef>
            </a:pPr>
            <a:r>
              <a:rPr lang="en-US" sz="2000" b="1">
                <a:latin typeface="Public Sans Thin"/>
                <a:ea typeface="Public Sans Thin"/>
                <a:cs typeface="Public Sans Thin"/>
                <a:sym typeface="Public Sans Thin"/>
              </a:rPr>
              <a:t>Hệ thống tích hợp chức năng tính thời gian cho mỗi lượt chơi và lưu trữ lịch sử thi </a:t>
            </a:r>
            <a:r>
              <a:rPr lang="vi-VN" sz="2000" b="1">
                <a:latin typeface="Public Sans Thin"/>
                <a:ea typeface="Public Sans Thin"/>
                <a:cs typeface="Public Sans Thin"/>
                <a:sym typeface="Public Sans Thin"/>
              </a:rPr>
              <a:t>đấu.</a:t>
            </a:r>
            <a:endParaRPr lang="en-US" sz="2000" b="1">
              <a:latin typeface="Public Sans Thin"/>
              <a:ea typeface="Public Sans Thin"/>
              <a:cs typeface="Public Sans Thin"/>
              <a:sym typeface="Public Sans Thin"/>
            </a:endParaRPr>
          </a:p>
        </p:txBody>
      </p:sp>
      <p:sp>
        <p:nvSpPr>
          <p:cNvPr id="29" name="TextBox 28">
            <a:extLst>
              <a:ext uri="{FF2B5EF4-FFF2-40B4-BE49-F238E27FC236}">
                <a16:creationId xmlns:a16="http://schemas.microsoft.com/office/drawing/2014/main" id="{75C643DB-77D2-4590-819F-0844A77DD376}"/>
              </a:ext>
            </a:extLst>
          </p:cNvPr>
          <p:cNvSpPr txBox="1"/>
          <p:nvPr/>
        </p:nvSpPr>
        <p:spPr>
          <a:xfrm>
            <a:off x="7620000" y="2863681"/>
            <a:ext cx="6331592" cy="1420325"/>
          </a:xfrm>
          <a:prstGeom prst="rect">
            <a:avLst/>
          </a:prstGeom>
          <a:noFill/>
        </p:spPr>
        <p:txBody>
          <a:bodyPr wrap="square">
            <a:spAutoFit/>
          </a:bodyPr>
          <a:lstStyle/>
          <a:p>
            <a:pPr algn="just">
              <a:lnSpc>
                <a:spcPct val="150000"/>
              </a:lnSpc>
              <a:spcBef>
                <a:spcPct val="0"/>
              </a:spcBef>
            </a:pPr>
            <a:r>
              <a:rPr lang="en-US" sz="2000" b="1">
                <a:latin typeface="Public Sans Thin"/>
                <a:ea typeface="Public Sans Thin"/>
                <a:cs typeface="Public Sans Thin"/>
                <a:sym typeface="Public Sans Thin"/>
              </a:rPr>
              <a:t>Chương trình được phát triển nhằm xây dựng một hệ thống game caro trực tuyến sử dụng kiến trúc </a:t>
            </a:r>
            <a:r>
              <a:rPr lang="vi-VN" sz="2000" b="1">
                <a:latin typeface="Public Sans Thin"/>
                <a:ea typeface="Public Sans Thin"/>
                <a:cs typeface="Public Sans Thin"/>
                <a:sym typeface="Public Sans Thin"/>
              </a:rPr>
              <a:t>C</a:t>
            </a:r>
            <a:r>
              <a:rPr lang="en-US" sz="2000" b="1">
                <a:latin typeface="Public Sans Thin"/>
                <a:ea typeface="Public Sans Thin"/>
                <a:cs typeface="Public Sans Thin"/>
                <a:sym typeface="Public Sans Thin"/>
              </a:rPr>
              <a:t>lient</a:t>
            </a:r>
            <a:r>
              <a:rPr lang="vi-VN" sz="2000" b="1">
                <a:latin typeface="Public Sans Thin"/>
                <a:ea typeface="Public Sans Thin"/>
                <a:cs typeface="Public Sans Thin"/>
                <a:sym typeface="Public Sans Thin"/>
              </a:rPr>
              <a:t> </a:t>
            </a:r>
            <a:r>
              <a:rPr lang="en-US" sz="2000" b="1">
                <a:latin typeface="Public Sans Thin"/>
                <a:ea typeface="Public Sans Thin"/>
                <a:cs typeface="Public Sans Thin"/>
                <a:sym typeface="Public Sans Thin"/>
              </a:rPr>
              <a:t>–</a:t>
            </a:r>
            <a:r>
              <a:rPr lang="vi-VN" sz="2000" b="1">
                <a:latin typeface="Public Sans Thin"/>
                <a:ea typeface="Public Sans Thin"/>
                <a:cs typeface="Public Sans Thin"/>
                <a:sym typeface="Public Sans Thin"/>
              </a:rPr>
              <a:t> S</a:t>
            </a:r>
            <a:r>
              <a:rPr lang="en-US" sz="2000" b="1">
                <a:latin typeface="Public Sans Thin"/>
                <a:ea typeface="Public Sans Thin"/>
                <a:cs typeface="Public Sans Thin"/>
                <a:sym typeface="Public Sans Thin"/>
              </a:rPr>
              <a:t>erver.</a:t>
            </a:r>
            <a:endParaRPr lang="vi-VN" sz="2000" b="1">
              <a:latin typeface="Public Sans Thin"/>
              <a:ea typeface="Public Sans Thin"/>
              <a:cs typeface="Public Sans Thin"/>
              <a:sym typeface="Public Sans Thin"/>
            </a:endParaRPr>
          </a:p>
        </p:txBody>
      </p:sp>
      <p:grpSp>
        <p:nvGrpSpPr>
          <p:cNvPr id="31" name="Group 30">
            <a:extLst>
              <a:ext uri="{FF2B5EF4-FFF2-40B4-BE49-F238E27FC236}">
                <a16:creationId xmlns:a16="http://schemas.microsoft.com/office/drawing/2014/main" id="{6312FF49-152D-4A3E-AF76-BA2B75E0A50B}"/>
              </a:ext>
            </a:extLst>
          </p:cNvPr>
          <p:cNvGrpSpPr/>
          <p:nvPr/>
        </p:nvGrpSpPr>
        <p:grpSpPr>
          <a:xfrm>
            <a:off x="2033869" y="1104674"/>
            <a:ext cx="4329799" cy="8269829"/>
            <a:chOff x="2460311" y="1813490"/>
            <a:chExt cx="4329799" cy="8269829"/>
          </a:xfrm>
        </p:grpSpPr>
        <p:grpSp>
          <p:nvGrpSpPr>
            <p:cNvPr id="21" name="Group 2">
              <a:extLst>
                <a:ext uri="{FF2B5EF4-FFF2-40B4-BE49-F238E27FC236}">
                  <a16:creationId xmlns:a16="http://schemas.microsoft.com/office/drawing/2014/main" id="{445EDC60-30D6-48E5-B6CB-3B093ABA2DCA}"/>
                </a:ext>
              </a:extLst>
            </p:cNvPr>
            <p:cNvGrpSpPr>
              <a:grpSpLocks noChangeAspect="1"/>
            </p:cNvGrpSpPr>
            <p:nvPr/>
          </p:nvGrpSpPr>
          <p:grpSpPr>
            <a:xfrm>
              <a:off x="2460311" y="1813490"/>
              <a:ext cx="4329799" cy="8269829"/>
              <a:chOff x="0" y="0"/>
              <a:chExt cx="5000993" cy="10163632"/>
            </a:xfrm>
          </p:grpSpPr>
          <p:sp>
            <p:nvSpPr>
              <p:cNvPr id="22" name="Freeform 3">
                <a:extLst>
                  <a:ext uri="{FF2B5EF4-FFF2-40B4-BE49-F238E27FC236}">
                    <a16:creationId xmlns:a16="http://schemas.microsoft.com/office/drawing/2014/main" id="{864013B0-DA49-4F20-8995-CAC640545C36}"/>
                  </a:ext>
                </a:extLst>
              </p:cNvPr>
              <p:cNvSpPr/>
              <p:nvPr/>
            </p:nvSpPr>
            <p:spPr>
              <a:xfrm>
                <a:off x="0" y="0"/>
                <a:ext cx="5000993" cy="10163632"/>
              </a:xfrm>
              <a:custGeom>
                <a:avLst/>
                <a:gdLst/>
                <a:ahLst/>
                <a:cxnLst/>
                <a:rect l="l" t="t" r="r" b="b"/>
                <a:pathLst>
                  <a:path w="5000993" h="10163632">
                    <a:moveTo>
                      <a:pt x="0" y="0"/>
                    </a:moveTo>
                    <a:lnTo>
                      <a:pt x="5000993" y="0"/>
                    </a:lnTo>
                    <a:lnTo>
                      <a:pt x="5000993" y="10163632"/>
                    </a:lnTo>
                    <a:lnTo>
                      <a:pt x="0" y="10163632"/>
                    </a:lnTo>
                    <a:close/>
                  </a:path>
                </a:pathLst>
              </a:custGeom>
              <a:blipFill>
                <a:blip r:embed="rId6"/>
                <a:stretch>
                  <a:fillRect l="-45" r="-45"/>
                </a:stretch>
              </a:blipFill>
            </p:spPr>
          </p:sp>
          <p:sp>
            <p:nvSpPr>
              <p:cNvPr id="23" name="Freeform 4">
                <a:extLst>
                  <a:ext uri="{FF2B5EF4-FFF2-40B4-BE49-F238E27FC236}">
                    <a16:creationId xmlns:a16="http://schemas.microsoft.com/office/drawing/2014/main" id="{DCB5CE70-82CF-48F1-B24A-362CDA9C22A8}"/>
                  </a:ext>
                </a:extLst>
              </p:cNvPr>
              <p:cNvSpPr/>
              <p:nvPr/>
            </p:nvSpPr>
            <p:spPr>
              <a:xfrm>
                <a:off x="338760" y="288798"/>
                <a:ext cx="4330776" cy="9398000"/>
              </a:xfrm>
              <a:custGeom>
                <a:avLst/>
                <a:gdLst/>
                <a:ahLst/>
                <a:cxnLst/>
                <a:rect l="l" t="t" r="r" b="b"/>
                <a:pathLst>
                  <a:path w="4330776" h="9398000">
                    <a:moveTo>
                      <a:pt x="3894366" y="9398000"/>
                    </a:moveTo>
                    <a:lnTo>
                      <a:pt x="436410" y="9398000"/>
                    </a:lnTo>
                    <a:cubicBezTo>
                      <a:pt x="195389" y="9398000"/>
                      <a:pt x="0" y="9202610"/>
                      <a:pt x="0" y="8961590"/>
                    </a:cubicBezTo>
                    <a:lnTo>
                      <a:pt x="0" y="436410"/>
                    </a:lnTo>
                    <a:cubicBezTo>
                      <a:pt x="0" y="195390"/>
                      <a:pt x="195389" y="0"/>
                      <a:pt x="436410" y="0"/>
                    </a:cubicBezTo>
                    <a:lnTo>
                      <a:pt x="861580" y="0"/>
                    </a:lnTo>
                    <a:cubicBezTo>
                      <a:pt x="902373" y="0"/>
                      <a:pt x="935444" y="33071"/>
                      <a:pt x="935444" y="73863"/>
                    </a:cubicBezTo>
                    <a:lnTo>
                      <a:pt x="935444" y="73863"/>
                    </a:lnTo>
                    <a:cubicBezTo>
                      <a:pt x="935444" y="225019"/>
                      <a:pt x="1057745" y="347688"/>
                      <a:pt x="1208913" y="348120"/>
                    </a:cubicBezTo>
                    <a:lnTo>
                      <a:pt x="3105874" y="353619"/>
                    </a:lnTo>
                    <a:cubicBezTo>
                      <a:pt x="3257651" y="354063"/>
                      <a:pt x="3380930" y="231140"/>
                      <a:pt x="3380930" y="79362"/>
                    </a:cubicBezTo>
                    <a:lnTo>
                      <a:pt x="3380930" y="73863"/>
                    </a:lnTo>
                    <a:cubicBezTo>
                      <a:pt x="3380930" y="33071"/>
                      <a:pt x="3414001" y="0"/>
                      <a:pt x="3454794" y="0"/>
                    </a:cubicBezTo>
                    <a:lnTo>
                      <a:pt x="3894366" y="0"/>
                    </a:lnTo>
                    <a:cubicBezTo>
                      <a:pt x="4135387" y="0"/>
                      <a:pt x="4330776" y="195390"/>
                      <a:pt x="4330776" y="436410"/>
                    </a:cubicBezTo>
                    <a:lnTo>
                      <a:pt x="4330776" y="8961603"/>
                    </a:lnTo>
                    <a:cubicBezTo>
                      <a:pt x="4330776" y="9202610"/>
                      <a:pt x="4135387" y="9398000"/>
                      <a:pt x="3894366" y="9398000"/>
                    </a:cubicBezTo>
                    <a:close/>
                  </a:path>
                </a:pathLst>
              </a:custGeom>
              <a:blipFill>
                <a:blip r:embed="rId7"/>
                <a:stretch>
                  <a:fillRect l="-9405" r="-9405"/>
                </a:stretch>
              </a:blipFill>
            </p:spPr>
            <p:txBody>
              <a:bodyPr/>
              <a:lstStyle/>
              <a:p>
                <a:endParaRPr lang="en-US"/>
              </a:p>
            </p:txBody>
          </p:sp>
        </p:grpSp>
        <p:sp>
          <p:nvSpPr>
            <p:cNvPr id="30" name="Rectangle 29">
              <a:extLst>
                <a:ext uri="{FF2B5EF4-FFF2-40B4-BE49-F238E27FC236}">
                  <a16:creationId xmlns:a16="http://schemas.microsoft.com/office/drawing/2014/main" id="{E0C581F8-2EDE-4FF2-84AF-83B268628CB0}"/>
                </a:ext>
              </a:extLst>
            </p:cNvPr>
            <p:cNvSpPr/>
            <p:nvPr/>
          </p:nvSpPr>
          <p:spPr>
            <a:xfrm>
              <a:off x="4800600" y="5914165"/>
              <a:ext cx="1254753" cy="220980"/>
            </a:xfrm>
            <a:prstGeom prst="rect">
              <a:avLst/>
            </a:prstGeom>
            <a:solidFill>
              <a:srgbClr val="4172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850" b="1">
                  <a:solidFill>
                    <a:srgbClr val="E1FEFF"/>
                  </a:solidFill>
                </a:rPr>
                <a:t>SocketHandler.java</a:t>
              </a:r>
              <a:endParaRPr lang="en-US" sz="850" b="1">
                <a:solidFill>
                  <a:srgbClr val="E1FEFF"/>
                </a:solidFill>
              </a:endParaRPr>
            </a:p>
          </p:txBody>
        </p:sp>
      </p:grpSp>
      <p:sp>
        <p:nvSpPr>
          <p:cNvPr id="32" name="Oval 31">
            <a:extLst>
              <a:ext uri="{FF2B5EF4-FFF2-40B4-BE49-F238E27FC236}">
                <a16:creationId xmlns:a16="http://schemas.microsoft.com/office/drawing/2014/main" id="{A155FD6A-86B7-4473-8A24-71DBB60C574F}"/>
              </a:ext>
            </a:extLst>
          </p:cNvPr>
          <p:cNvSpPr/>
          <p:nvPr/>
        </p:nvSpPr>
        <p:spPr>
          <a:xfrm>
            <a:off x="7218728" y="3459543"/>
            <a:ext cx="228600" cy="2286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08344E4-053E-4EEA-B48C-5FCAC8C9B1D6}"/>
              </a:ext>
            </a:extLst>
          </p:cNvPr>
          <p:cNvSpPr/>
          <p:nvPr/>
        </p:nvSpPr>
        <p:spPr>
          <a:xfrm>
            <a:off x="7218728" y="5239589"/>
            <a:ext cx="228600" cy="2286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1FFE0DD5-291C-401C-8117-4A56927DB4FC}"/>
              </a:ext>
            </a:extLst>
          </p:cNvPr>
          <p:cNvSpPr/>
          <p:nvPr/>
        </p:nvSpPr>
        <p:spPr>
          <a:xfrm>
            <a:off x="7218728" y="6791035"/>
            <a:ext cx="228600" cy="228600"/>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316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4353204" y="0"/>
            <a:ext cx="3934796" cy="4109676"/>
            <a:chOff x="0" y="0"/>
            <a:chExt cx="571500" cy="596900"/>
          </a:xfrm>
        </p:grpSpPr>
        <p:sp>
          <p:nvSpPr>
            <p:cNvPr id="3" name="Freeform 3"/>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4" name="TextBox 4"/>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66019" y="6226823"/>
            <a:ext cx="3934796" cy="4109676"/>
            <a:chOff x="0" y="0"/>
            <a:chExt cx="571500" cy="596900"/>
          </a:xfrm>
        </p:grpSpPr>
        <p:sp>
          <p:nvSpPr>
            <p:cNvPr id="8" name="Freeform 8"/>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9" name="TextBox 9"/>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6516006" y="2603507"/>
            <a:ext cx="437516" cy="437516"/>
          </a:xfrm>
          <a:custGeom>
            <a:avLst/>
            <a:gdLst/>
            <a:ahLst/>
            <a:cxnLst/>
            <a:rect l="l" t="t" r="r" b="b"/>
            <a:pathLst>
              <a:path w="437516" h="437516">
                <a:moveTo>
                  <a:pt x="0" y="0"/>
                </a:moveTo>
                <a:lnTo>
                  <a:pt x="437517" y="0"/>
                </a:lnTo>
                <a:lnTo>
                  <a:pt x="437517" y="437516"/>
                </a:lnTo>
                <a:lnTo>
                  <a:pt x="0" y="4375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1609598" y="1878725"/>
            <a:ext cx="4958595"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Server</a:t>
            </a:r>
            <a:endParaRPr lang="en-US" sz="6800" spc="-374">
              <a:solidFill>
                <a:srgbClr val="231F20"/>
              </a:solidFill>
              <a:latin typeface="Heading Now 71-78"/>
              <a:ea typeface="Heading Now 71-78"/>
              <a:cs typeface="Heading Now 71-78"/>
              <a:sym typeface="Heading Now 71-78"/>
            </a:endParaRPr>
          </a:p>
        </p:txBody>
      </p:sp>
      <p:sp>
        <p:nvSpPr>
          <p:cNvPr id="18" name="TextBox 18"/>
          <p:cNvSpPr txBox="1"/>
          <p:nvPr/>
        </p:nvSpPr>
        <p:spPr>
          <a:xfrm>
            <a:off x="7124962" y="2595570"/>
            <a:ext cx="3283228" cy="419346"/>
          </a:xfrm>
          <a:prstGeom prst="rect">
            <a:avLst/>
          </a:prstGeom>
        </p:spPr>
        <p:txBody>
          <a:bodyPr lIns="0" tIns="0" rIns="0" bIns="0" rtlCol="0" anchor="t">
            <a:spAutoFit/>
          </a:bodyPr>
          <a:lstStyle/>
          <a:p>
            <a:pPr algn="l">
              <a:lnSpc>
                <a:spcPts val="3359"/>
              </a:lnSpc>
            </a:pPr>
            <a:r>
              <a:rPr lang="vi-VN" sz="2400" b="1">
                <a:solidFill>
                  <a:srgbClr val="231F20"/>
                </a:solidFill>
                <a:latin typeface="TT Firs Neue Bold"/>
                <a:ea typeface="TT Firs Neue Bold"/>
                <a:cs typeface="TT Firs Neue Bold"/>
                <a:sym typeface="TT Firs Neue Bold"/>
              </a:rPr>
              <a:t>server.py</a:t>
            </a:r>
            <a:endParaRPr lang="en-US" sz="2400" b="1">
              <a:solidFill>
                <a:srgbClr val="231F20"/>
              </a:solidFill>
              <a:latin typeface="TT Firs Neue Bold"/>
              <a:ea typeface="TT Firs Neue Bold"/>
              <a:cs typeface="TT Firs Neue Bold"/>
              <a:sym typeface="TT Firs Neue Bold"/>
            </a:endParaRPr>
          </a:p>
        </p:txBody>
      </p:sp>
      <p:sp>
        <p:nvSpPr>
          <p:cNvPr id="19" name="Freeform 19"/>
          <p:cNvSpPr/>
          <p:nvPr/>
        </p:nvSpPr>
        <p:spPr>
          <a:xfrm rot="-10800000">
            <a:off x="13205201" y="8429729"/>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p:cNvSpPr/>
          <p:nvPr/>
        </p:nvSpPr>
        <p:spPr>
          <a:xfrm>
            <a:off x="4026097" y="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28" name="Picture 27">
            <a:extLst>
              <a:ext uri="{FF2B5EF4-FFF2-40B4-BE49-F238E27FC236}">
                <a16:creationId xmlns:a16="http://schemas.microsoft.com/office/drawing/2014/main" id="{A5436ECA-2488-4A6B-B943-F1CD21C7C21F}"/>
              </a:ext>
            </a:extLst>
          </p:cNvPr>
          <p:cNvPicPr>
            <a:picLocks noChangeAspect="1"/>
          </p:cNvPicPr>
          <p:nvPr/>
        </p:nvPicPr>
        <p:blipFill rotWithShape="1">
          <a:blip r:embed="rId6"/>
          <a:srcRect l="10945" t="70307" r="43087" b="12829"/>
          <a:stretch/>
        </p:blipFill>
        <p:spPr>
          <a:xfrm>
            <a:off x="1524000" y="2979020"/>
            <a:ext cx="4381917" cy="2231121"/>
          </a:xfrm>
          <a:custGeom>
            <a:avLst/>
            <a:gdLst>
              <a:gd name="connsiteX0" fmla="*/ 391257 w 4593298"/>
              <a:gd name="connsiteY0" fmla="*/ 0 h 2338749"/>
              <a:gd name="connsiteX1" fmla="*/ 4202041 w 4593298"/>
              <a:gd name="connsiteY1" fmla="*/ 0 h 2338749"/>
              <a:gd name="connsiteX2" fmla="*/ 4593298 w 4593298"/>
              <a:gd name="connsiteY2" fmla="*/ 391257 h 2338749"/>
              <a:gd name="connsiteX3" fmla="*/ 4593298 w 4593298"/>
              <a:gd name="connsiteY3" fmla="*/ 1956236 h 2338749"/>
              <a:gd name="connsiteX4" fmla="*/ 4354336 w 4593298"/>
              <a:gd name="connsiteY4" fmla="*/ 2316746 h 2338749"/>
              <a:gd name="connsiteX5" fmla="*/ 4283454 w 4593298"/>
              <a:gd name="connsiteY5" fmla="*/ 2338749 h 2338749"/>
              <a:gd name="connsiteX6" fmla="*/ 309844 w 4593298"/>
              <a:gd name="connsiteY6" fmla="*/ 2338749 h 2338749"/>
              <a:gd name="connsiteX7" fmla="*/ 238962 w 4593298"/>
              <a:gd name="connsiteY7" fmla="*/ 2316746 h 2338749"/>
              <a:gd name="connsiteX8" fmla="*/ 0 w 4593298"/>
              <a:gd name="connsiteY8" fmla="*/ 1956236 h 2338749"/>
              <a:gd name="connsiteX9" fmla="*/ 0 w 4593298"/>
              <a:gd name="connsiteY9" fmla="*/ 391257 h 2338749"/>
              <a:gd name="connsiteX10" fmla="*/ 391257 w 4593298"/>
              <a:gd name="connsiteY10" fmla="*/ 0 h 2338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93298" h="2338749">
                <a:moveTo>
                  <a:pt x="391257" y="0"/>
                </a:moveTo>
                <a:lnTo>
                  <a:pt x="4202041" y="0"/>
                </a:lnTo>
                <a:cubicBezTo>
                  <a:pt x="4418126" y="0"/>
                  <a:pt x="4593298" y="175172"/>
                  <a:pt x="4593298" y="391257"/>
                </a:cubicBezTo>
                <a:lnTo>
                  <a:pt x="4593298" y="1956236"/>
                </a:lnTo>
                <a:cubicBezTo>
                  <a:pt x="4593298" y="2118300"/>
                  <a:pt x="4494764" y="2257350"/>
                  <a:pt x="4354336" y="2316746"/>
                </a:cubicBezTo>
                <a:lnTo>
                  <a:pt x="4283454" y="2338749"/>
                </a:lnTo>
                <a:lnTo>
                  <a:pt x="309844" y="2338749"/>
                </a:lnTo>
                <a:lnTo>
                  <a:pt x="238962" y="2316746"/>
                </a:lnTo>
                <a:cubicBezTo>
                  <a:pt x="98534" y="2257350"/>
                  <a:pt x="0" y="2118300"/>
                  <a:pt x="0" y="1956236"/>
                </a:cubicBezTo>
                <a:lnTo>
                  <a:pt x="0" y="391257"/>
                </a:lnTo>
                <a:cubicBezTo>
                  <a:pt x="0" y="175172"/>
                  <a:pt x="175172" y="0"/>
                  <a:pt x="391257" y="0"/>
                </a:cubicBezTo>
                <a:close/>
              </a:path>
            </a:pathLst>
          </a:custGeom>
          <a:ln>
            <a:solidFill>
              <a:schemeClr val="tx1"/>
            </a:solidFill>
          </a:ln>
        </p:spPr>
      </p:pic>
      <p:grpSp>
        <p:nvGrpSpPr>
          <p:cNvPr id="36" name="Group 35">
            <a:extLst>
              <a:ext uri="{FF2B5EF4-FFF2-40B4-BE49-F238E27FC236}">
                <a16:creationId xmlns:a16="http://schemas.microsoft.com/office/drawing/2014/main" id="{24BA917E-DB2F-414B-A408-34938E20751C}"/>
              </a:ext>
            </a:extLst>
          </p:cNvPr>
          <p:cNvGrpSpPr/>
          <p:nvPr/>
        </p:nvGrpSpPr>
        <p:grpSpPr>
          <a:xfrm>
            <a:off x="6422549" y="3162300"/>
            <a:ext cx="8662472" cy="5369264"/>
            <a:chOff x="5741052" y="3185126"/>
            <a:chExt cx="9277985" cy="5369264"/>
          </a:xfrm>
        </p:grpSpPr>
        <p:sp>
          <p:nvSpPr>
            <p:cNvPr id="29" name="TextBox 4">
              <a:extLst>
                <a:ext uri="{FF2B5EF4-FFF2-40B4-BE49-F238E27FC236}">
                  <a16:creationId xmlns:a16="http://schemas.microsoft.com/office/drawing/2014/main" id="{A525E2D3-ADE8-4AE2-A122-3A5559CF1A49}"/>
                </a:ext>
              </a:extLst>
            </p:cNvPr>
            <p:cNvSpPr txBox="1"/>
            <p:nvPr/>
          </p:nvSpPr>
          <p:spPr>
            <a:xfrm>
              <a:off x="5914282" y="3185126"/>
              <a:ext cx="9104755" cy="860428"/>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self.socket = socket.socket(socket.AF_INET, socket.SOCK_STREAM)</a:t>
              </a:r>
            </a:p>
            <a:p>
              <a:pPr algn="l">
                <a:lnSpc>
                  <a:spcPts val="3640"/>
                </a:lnSpc>
                <a:spcBef>
                  <a:spcPct val="0"/>
                </a:spcBef>
              </a:pPr>
              <a:endParaRPr lang="en-US" b="1">
                <a:solidFill>
                  <a:srgbClr val="121212"/>
                </a:solidFill>
                <a:latin typeface="Public Sans Bold"/>
                <a:ea typeface="Public Sans Bold"/>
                <a:cs typeface="Public Sans Bold"/>
                <a:sym typeface="Public Sans Bold"/>
              </a:endParaRPr>
            </a:p>
          </p:txBody>
        </p:sp>
        <p:sp>
          <p:nvSpPr>
            <p:cNvPr id="30" name="TextBox 6">
              <a:extLst>
                <a:ext uri="{FF2B5EF4-FFF2-40B4-BE49-F238E27FC236}">
                  <a16:creationId xmlns:a16="http://schemas.microsoft.com/office/drawing/2014/main" id="{38A9F292-0146-4696-B1A7-D2F9E787FAF8}"/>
                </a:ext>
              </a:extLst>
            </p:cNvPr>
            <p:cNvSpPr txBox="1"/>
            <p:nvPr/>
          </p:nvSpPr>
          <p:spPr>
            <a:xfrm>
              <a:off x="5914282" y="3615340"/>
              <a:ext cx="8714213" cy="398764"/>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self.socket.setsockopt(socket.SOL_SOCKET, socket.SO_REUSEADDR, 1)</a:t>
              </a:r>
            </a:p>
          </p:txBody>
        </p:sp>
        <p:sp>
          <p:nvSpPr>
            <p:cNvPr id="31" name="TextBox 8">
              <a:extLst>
                <a:ext uri="{FF2B5EF4-FFF2-40B4-BE49-F238E27FC236}">
                  <a16:creationId xmlns:a16="http://schemas.microsoft.com/office/drawing/2014/main" id="{2107A367-6E2D-4D30-A0A8-24192E06927E}"/>
                </a:ext>
              </a:extLst>
            </p:cNvPr>
            <p:cNvSpPr txBox="1"/>
            <p:nvPr/>
          </p:nvSpPr>
          <p:spPr>
            <a:xfrm>
              <a:off x="5925646" y="4184293"/>
              <a:ext cx="6321799" cy="860428"/>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self.socket.bind((self.host, self.port))</a:t>
              </a:r>
            </a:p>
            <a:p>
              <a:pPr algn="l">
                <a:lnSpc>
                  <a:spcPts val="3640"/>
                </a:lnSpc>
                <a:spcBef>
                  <a:spcPct val="0"/>
                </a:spcBef>
              </a:pPr>
              <a:r>
                <a:rPr lang="en-US" b="1">
                  <a:solidFill>
                    <a:srgbClr val="121212"/>
                  </a:solidFill>
                  <a:latin typeface="Public Sans Bold"/>
                  <a:ea typeface="Public Sans Bold"/>
                  <a:cs typeface="Public Sans Bold"/>
                  <a:sym typeface="Public Sans Bold"/>
                </a:rPr>
                <a:t>self.socket.listen()</a:t>
              </a:r>
            </a:p>
          </p:txBody>
        </p:sp>
        <p:sp>
          <p:nvSpPr>
            <p:cNvPr id="32" name="TextBox 11">
              <a:extLst>
                <a:ext uri="{FF2B5EF4-FFF2-40B4-BE49-F238E27FC236}">
                  <a16:creationId xmlns:a16="http://schemas.microsoft.com/office/drawing/2014/main" id="{2CB9A814-D7A1-401D-A350-2954AE14D1AE}"/>
                </a:ext>
              </a:extLst>
            </p:cNvPr>
            <p:cNvSpPr txBox="1"/>
            <p:nvPr/>
          </p:nvSpPr>
          <p:spPr>
            <a:xfrm>
              <a:off x="5914282" y="5115049"/>
              <a:ext cx="5076944" cy="398764"/>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conn, addr = self.socket.accept()</a:t>
              </a:r>
            </a:p>
          </p:txBody>
        </p:sp>
        <p:sp>
          <p:nvSpPr>
            <p:cNvPr id="33" name="TextBox 12">
              <a:extLst>
                <a:ext uri="{FF2B5EF4-FFF2-40B4-BE49-F238E27FC236}">
                  <a16:creationId xmlns:a16="http://schemas.microsoft.com/office/drawing/2014/main" id="{FDA066E9-9F85-4E4A-9CAE-325DC10F0AA7}"/>
                </a:ext>
              </a:extLst>
            </p:cNvPr>
            <p:cNvSpPr txBox="1"/>
            <p:nvPr/>
          </p:nvSpPr>
          <p:spPr>
            <a:xfrm>
              <a:off x="5916536" y="5718145"/>
              <a:ext cx="5717739" cy="1829435"/>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threading.Thread(</a:t>
              </a:r>
            </a:p>
            <a:p>
              <a:pPr algn="l">
                <a:lnSpc>
                  <a:spcPts val="3640"/>
                </a:lnSpc>
                <a:spcBef>
                  <a:spcPct val="0"/>
                </a:spcBef>
              </a:pPr>
              <a:r>
                <a:rPr lang="en-US" b="1">
                  <a:solidFill>
                    <a:srgbClr val="121212"/>
                  </a:solidFill>
                  <a:latin typeface="Public Sans Bold"/>
                  <a:ea typeface="Public Sans Bold"/>
                  <a:cs typeface="Public Sans Bold"/>
                  <a:sym typeface="Public Sans Bold"/>
                </a:rPr>
                <a:t>    target=self.handler.Handle_client,</a:t>
              </a:r>
            </a:p>
            <a:p>
              <a:pPr algn="l">
                <a:lnSpc>
                  <a:spcPts val="3640"/>
                </a:lnSpc>
                <a:spcBef>
                  <a:spcPct val="0"/>
                </a:spcBef>
              </a:pPr>
              <a:r>
                <a:rPr lang="en-US" b="1">
                  <a:solidFill>
                    <a:srgbClr val="121212"/>
                  </a:solidFill>
                  <a:latin typeface="Public Sans Bold"/>
                  <a:ea typeface="Public Sans Bold"/>
                  <a:cs typeface="Public Sans Bold"/>
                  <a:sym typeface="Public Sans Bold"/>
                </a:rPr>
                <a:t>    args=(conn, addr)</a:t>
              </a:r>
            </a:p>
            <a:p>
              <a:pPr algn="l">
                <a:lnSpc>
                  <a:spcPts val="3640"/>
                </a:lnSpc>
                <a:spcBef>
                  <a:spcPct val="0"/>
                </a:spcBef>
              </a:pPr>
              <a:r>
                <a:rPr lang="en-US" b="1">
                  <a:solidFill>
                    <a:srgbClr val="121212"/>
                  </a:solidFill>
                  <a:latin typeface="Public Sans Bold"/>
                  <a:ea typeface="Public Sans Bold"/>
                  <a:cs typeface="Public Sans Bold"/>
                  <a:sym typeface="Public Sans Bold"/>
                </a:rPr>
                <a:t>).start()</a:t>
              </a:r>
            </a:p>
          </p:txBody>
        </p:sp>
        <p:sp>
          <p:nvSpPr>
            <p:cNvPr id="34" name="TextBox 14">
              <a:extLst>
                <a:ext uri="{FF2B5EF4-FFF2-40B4-BE49-F238E27FC236}">
                  <a16:creationId xmlns:a16="http://schemas.microsoft.com/office/drawing/2014/main" id="{C73DD681-E9B8-49B1-9C95-5E95378F26F4}"/>
                </a:ext>
              </a:extLst>
            </p:cNvPr>
            <p:cNvSpPr txBox="1"/>
            <p:nvPr/>
          </p:nvSpPr>
          <p:spPr>
            <a:xfrm>
              <a:off x="5741052" y="7751912"/>
              <a:ext cx="1715691" cy="398764"/>
            </a:xfrm>
            <a:prstGeom prst="rect">
              <a:avLst/>
            </a:prstGeom>
          </p:spPr>
          <p:txBody>
            <a:bodyPr lIns="0" tIns="0" rIns="0" bIns="0" rtlCol="0" anchor="t">
              <a:spAutoFit/>
            </a:bodyPr>
            <a:lstStyle/>
            <a:p>
              <a:pPr algn="ctr">
                <a:lnSpc>
                  <a:spcPts val="3640"/>
                </a:lnSpc>
                <a:spcBef>
                  <a:spcPct val="0"/>
                </a:spcBef>
              </a:pPr>
              <a:r>
                <a:rPr lang="en-US" b="1">
                  <a:solidFill>
                    <a:srgbClr val="121212"/>
                  </a:solidFill>
                  <a:latin typeface="Public Sans Bold"/>
                  <a:ea typeface="Public Sans Bold"/>
                  <a:cs typeface="Public Sans Bold"/>
                  <a:sym typeface="Public Sans Bold"/>
                </a:rPr>
                <a:t>while True:</a:t>
              </a:r>
            </a:p>
          </p:txBody>
        </p:sp>
        <p:sp>
          <p:nvSpPr>
            <p:cNvPr id="35" name="TextBox 17">
              <a:extLst>
                <a:ext uri="{FF2B5EF4-FFF2-40B4-BE49-F238E27FC236}">
                  <a16:creationId xmlns:a16="http://schemas.microsoft.com/office/drawing/2014/main" id="{EE7F30EF-F714-467B-AF92-FD7B6FF72F89}"/>
                </a:ext>
              </a:extLst>
            </p:cNvPr>
            <p:cNvSpPr txBox="1"/>
            <p:nvPr/>
          </p:nvSpPr>
          <p:spPr>
            <a:xfrm>
              <a:off x="5841150" y="8155626"/>
              <a:ext cx="4633079" cy="398764"/>
            </a:xfrm>
            <a:prstGeom prst="rect">
              <a:avLst/>
            </a:prstGeom>
          </p:spPr>
          <p:txBody>
            <a:bodyPr lIns="0" tIns="0" rIns="0" bIns="0" rtlCol="0" anchor="t">
              <a:spAutoFit/>
            </a:bodyPr>
            <a:lstStyle/>
            <a:p>
              <a:pPr algn="ctr">
                <a:lnSpc>
                  <a:spcPts val="3640"/>
                </a:lnSpc>
                <a:spcBef>
                  <a:spcPct val="0"/>
                </a:spcBef>
              </a:pPr>
              <a:r>
                <a:rPr lang="en-US" b="1">
                  <a:solidFill>
                    <a:srgbClr val="121212"/>
                  </a:solidFill>
                  <a:latin typeface="Public Sans Bold"/>
                  <a:ea typeface="Public Sans Bold"/>
                  <a:cs typeface="Public Sans Bold"/>
                  <a:sym typeface="Public Sans Bold"/>
                </a:rPr>
                <a:t>self.handler = GameHandler()</a:t>
              </a:r>
            </a:p>
          </p:txBody>
        </p:sp>
      </p:grpSp>
      <p:sp>
        <p:nvSpPr>
          <p:cNvPr id="37" name="TextBox 5">
            <a:extLst>
              <a:ext uri="{FF2B5EF4-FFF2-40B4-BE49-F238E27FC236}">
                <a16:creationId xmlns:a16="http://schemas.microsoft.com/office/drawing/2014/main" id="{8A2BE523-638C-452F-A145-5E5CBDCA0758}"/>
              </a:ext>
            </a:extLst>
          </p:cNvPr>
          <p:cNvSpPr txBox="1"/>
          <p:nvPr/>
        </p:nvSpPr>
        <p:spPr>
          <a:xfrm>
            <a:off x="14353204" y="2769546"/>
            <a:ext cx="2492812" cy="445186"/>
          </a:xfrm>
          <a:prstGeom prst="rect">
            <a:avLst/>
          </a:prstGeom>
          <a:ln>
            <a:solidFill>
              <a:schemeClr val="tx2">
                <a:lumMod val="75000"/>
              </a:schemeClr>
            </a:solidFill>
          </a:ln>
        </p:spPr>
        <p:txBody>
          <a:bodyPr lIns="0" tIns="0" rIns="0" bIns="0" rtlCol="0" anchor="t">
            <a:spAutoFit/>
          </a:bodyPr>
          <a:lstStyle/>
          <a:p>
            <a:pPr algn="ctr">
              <a:lnSpc>
                <a:spcPts val="3919"/>
              </a:lnSpc>
              <a:spcBef>
                <a:spcPct val="0"/>
              </a:spcBef>
            </a:pPr>
            <a:r>
              <a:rPr lang="en-US" sz="2400" b="1">
                <a:solidFill>
                  <a:schemeClr val="accent3">
                    <a:lumMod val="50000"/>
                  </a:schemeClr>
                </a:solidFill>
                <a:latin typeface="Public Sans Thin"/>
                <a:ea typeface="Public Sans Thin"/>
                <a:cs typeface="Public Sans Thin"/>
                <a:sym typeface="Public Sans Thin"/>
              </a:rPr>
              <a:t>Khởi tạo socket</a:t>
            </a:r>
          </a:p>
        </p:txBody>
      </p:sp>
      <p:sp>
        <p:nvSpPr>
          <p:cNvPr id="38" name="TextBox 7">
            <a:extLst>
              <a:ext uri="{FF2B5EF4-FFF2-40B4-BE49-F238E27FC236}">
                <a16:creationId xmlns:a16="http://schemas.microsoft.com/office/drawing/2014/main" id="{742C4B68-6102-4CF8-AF71-912AC47D019B}"/>
              </a:ext>
            </a:extLst>
          </p:cNvPr>
          <p:cNvSpPr txBox="1"/>
          <p:nvPr/>
        </p:nvSpPr>
        <p:spPr>
          <a:xfrm>
            <a:off x="14703026" y="3459762"/>
            <a:ext cx="3153023" cy="877997"/>
          </a:xfrm>
          <a:prstGeom prst="rect">
            <a:avLst/>
          </a:prstGeom>
          <a:ln>
            <a:solidFill>
              <a:schemeClr val="tx2">
                <a:lumMod val="75000"/>
              </a:schemeClr>
            </a:solidFill>
          </a:ln>
        </p:spPr>
        <p:txBody>
          <a:bodyPr wrap="square"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Cấu hình port </a:t>
            </a:r>
            <a:endParaRPr lang="vi-VN" sz="2400" b="1">
              <a:solidFill>
                <a:schemeClr val="accent3">
                  <a:lumMod val="50000"/>
                </a:schemeClr>
              </a:solidFill>
              <a:latin typeface="Public Sans"/>
              <a:ea typeface="Public Sans"/>
              <a:cs typeface="Public Sans"/>
              <a:sym typeface="Public Sans"/>
            </a:endParaRPr>
          </a:p>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(tránh lỗi khi restart)</a:t>
            </a:r>
          </a:p>
        </p:txBody>
      </p:sp>
      <p:sp>
        <p:nvSpPr>
          <p:cNvPr id="39" name="TextBox 9">
            <a:extLst>
              <a:ext uri="{FF2B5EF4-FFF2-40B4-BE49-F238E27FC236}">
                <a16:creationId xmlns:a16="http://schemas.microsoft.com/office/drawing/2014/main" id="{B108FFEF-DCE0-491D-8A8A-338F6494FF70}"/>
              </a:ext>
            </a:extLst>
          </p:cNvPr>
          <p:cNvSpPr txBox="1"/>
          <p:nvPr/>
        </p:nvSpPr>
        <p:spPr>
          <a:xfrm>
            <a:off x="10698536" y="4421492"/>
            <a:ext cx="3679746" cy="416332"/>
          </a:xfrm>
          <a:prstGeom prst="rect">
            <a:avLst/>
          </a:prstGeom>
          <a:ln>
            <a:solidFill>
              <a:schemeClr val="tx2">
                <a:lumMod val="75000"/>
              </a:schemeClr>
            </a:solidFill>
          </a:ln>
        </p:spPr>
        <p:txBody>
          <a:bodyPr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 Gắn địa chỉ &amp; mở server</a:t>
            </a:r>
          </a:p>
        </p:txBody>
      </p:sp>
      <p:sp>
        <p:nvSpPr>
          <p:cNvPr id="40" name="TextBox 10">
            <a:extLst>
              <a:ext uri="{FF2B5EF4-FFF2-40B4-BE49-F238E27FC236}">
                <a16:creationId xmlns:a16="http://schemas.microsoft.com/office/drawing/2014/main" id="{BF3C41D8-16D2-4A1D-8876-614741A2AE27}"/>
              </a:ext>
            </a:extLst>
          </p:cNvPr>
          <p:cNvSpPr txBox="1"/>
          <p:nvPr/>
        </p:nvSpPr>
        <p:spPr>
          <a:xfrm>
            <a:off x="10408190" y="5108235"/>
            <a:ext cx="3350300" cy="416332"/>
          </a:xfrm>
          <a:prstGeom prst="rect">
            <a:avLst/>
          </a:prstGeom>
          <a:ln>
            <a:solidFill>
              <a:schemeClr val="tx2">
                <a:lumMod val="75000"/>
              </a:schemeClr>
            </a:solidFill>
          </a:ln>
        </p:spPr>
        <p:txBody>
          <a:bodyPr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Nhận kết nối từ client </a:t>
            </a:r>
          </a:p>
        </p:txBody>
      </p:sp>
      <p:sp>
        <p:nvSpPr>
          <p:cNvPr id="41" name="TextBox 13">
            <a:extLst>
              <a:ext uri="{FF2B5EF4-FFF2-40B4-BE49-F238E27FC236}">
                <a16:creationId xmlns:a16="http://schemas.microsoft.com/office/drawing/2014/main" id="{7B46DF92-0A34-4185-9FFC-FC7DBB1F1FB4}"/>
              </a:ext>
            </a:extLst>
          </p:cNvPr>
          <p:cNvSpPr txBox="1"/>
          <p:nvPr/>
        </p:nvSpPr>
        <p:spPr>
          <a:xfrm>
            <a:off x="10644180" y="6202227"/>
            <a:ext cx="1928538" cy="416332"/>
          </a:xfrm>
          <a:prstGeom prst="rect">
            <a:avLst/>
          </a:prstGeom>
          <a:ln>
            <a:solidFill>
              <a:schemeClr val="tx2">
                <a:lumMod val="75000"/>
              </a:schemeClr>
            </a:solidFill>
          </a:ln>
        </p:spPr>
        <p:txBody>
          <a:bodyPr wrap="square"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Đa luồng</a:t>
            </a:r>
          </a:p>
        </p:txBody>
      </p:sp>
      <p:sp>
        <p:nvSpPr>
          <p:cNvPr id="42" name="TextBox 15">
            <a:extLst>
              <a:ext uri="{FF2B5EF4-FFF2-40B4-BE49-F238E27FC236}">
                <a16:creationId xmlns:a16="http://schemas.microsoft.com/office/drawing/2014/main" id="{73326322-C050-4593-AD14-9793BA1A63A8}"/>
              </a:ext>
            </a:extLst>
          </p:cNvPr>
          <p:cNvSpPr txBox="1"/>
          <p:nvPr/>
        </p:nvSpPr>
        <p:spPr>
          <a:xfrm>
            <a:off x="8028012" y="7713993"/>
            <a:ext cx="2380178" cy="416332"/>
          </a:xfrm>
          <a:prstGeom prst="rect">
            <a:avLst/>
          </a:prstGeom>
          <a:ln>
            <a:solidFill>
              <a:schemeClr val="tx2">
                <a:lumMod val="75000"/>
              </a:schemeClr>
            </a:solidFill>
          </a:ln>
        </p:spPr>
        <p:txBody>
          <a:bodyPr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Vòng lặp server</a:t>
            </a:r>
          </a:p>
        </p:txBody>
      </p:sp>
      <p:sp>
        <p:nvSpPr>
          <p:cNvPr id="43" name="TextBox 16">
            <a:extLst>
              <a:ext uri="{FF2B5EF4-FFF2-40B4-BE49-F238E27FC236}">
                <a16:creationId xmlns:a16="http://schemas.microsoft.com/office/drawing/2014/main" id="{567F3F66-BAD9-4CC1-AE43-078171F4780A}"/>
              </a:ext>
            </a:extLst>
          </p:cNvPr>
          <p:cNvSpPr txBox="1"/>
          <p:nvPr/>
        </p:nvSpPr>
        <p:spPr>
          <a:xfrm>
            <a:off x="10408118" y="8184698"/>
            <a:ext cx="4029551" cy="416332"/>
          </a:xfrm>
          <a:prstGeom prst="rect">
            <a:avLst/>
          </a:prstGeom>
          <a:solidFill>
            <a:srgbClr val="FFFFFF"/>
          </a:solidFill>
          <a:ln>
            <a:solidFill>
              <a:schemeClr val="tx2">
                <a:lumMod val="75000"/>
              </a:schemeClr>
            </a:solidFill>
          </a:ln>
        </p:spPr>
        <p:txBody>
          <a:bodyPr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 Liên kết với GameHandler</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4353204" y="0"/>
            <a:ext cx="3934796" cy="4109676"/>
            <a:chOff x="0" y="0"/>
            <a:chExt cx="571500" cy="596900"/>
          </a:xfrm>
        </p:grpSpPr>
        <p:sp>
          <p:nvSpPr>
            <p:cNvPr id="3" name="Freeform 3"/>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4" name="TextBox 4"/>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66019" y="6226823"/>
            <a:ext cx="3934796" cy="4109676"/>
            <a:chOff x="0" y="0"/>
            <a:chExt cx="571500" cy="596900"/>
          </a:xfrm>
        </p:grpSpPr>
        <p:sp>
          <p:nvSpPr>
            <p:cNvPr id="8" name="Freeform 8"/>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9" name="TextBox 9"/>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6516006" y="2603507"/>
            <a:ext cx="437516" cy="437516"/>
          </a:xfrm>
          <a:custGeom>
            <a:avLst/>
            <a:gdLst/>
            <a:ahLst/>
            <a:cxnLst/>
            <a:rect l="l" t="t" r="r" b="b"/>
            <a:pathLst>
              <a:path w="437516" h="437516">
                <a:moveTo>
                  <a:pt x="0" y="0"/>
                </a:moveTo>
                <a:lnTo>
                  <a:pt x="437517" y="0"/>
                </a:lnTo>
                <a:lnTo>
                  <a:pt x="437517" y="437516"/>
                </a:lnTo>
                <a:lnTo>
                  <a:pt x="0" y="4375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1609598" y="1878725"/>
            <a:ext cx="4958595"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Server</a:t>
            </a:r>
            <a:endParaRPr lang="en-US" sz="6800" spc="-374">
              <a:solidFill>
                <a:srgbClr val="231F20"/>
              </a:solidFill>
              <a:latin typeface="Heading Now 71-78"/>
              <a:ea typeface="Heading Now 71-78"/>
              <a:cs typeface="Heading Now 71-78"/>
              <a:sym typeface="Heading Now 71-78"/>
            </a:endParaRPr>
          </a:p>
        </p:txBody>
      </p:sp>
      <p:sp>
        <p:nvSpPr>
          <p:cNvPr id="18" name="TextBox 18"/>
          <p:cNvSpPr txBox="1"/>
          <p:nvPr/>
        </p:nvSpPr>
        <p:spPr>
          <a:xfrm>
            <a:off x="7124962" y="2595570"/>
            <a:ext cx="3283228" cy="419346"/>
          </a:xfrm>
          <a:prstGeom prst="rect">
            <a:avLst/>
          </a:prstGeom>
        </p:spPr>
        <p:txBody>
          <a:bodyPr lIns="0" tIns="0" rIns="0" bIns="0" rtlCol="0" anchor="t">
            <a:spAutoFit/>
          </a:bodyPr>
          <a:lstStyle/>
          <a:p>
            <a:pPr algn="l">
              <a:lnSpc>
                <a:spcPts val="3359"/>
              </a:lnSpc>
            </a:pPr>
            <a:r>
              <a:rPr lang="vi-VN" sz="2400" b="1">
                <a:solidFill>
                  <a:srgbClr val="231F20"/>
                </a:solidFill>
                <a:latin typeface="TT Firs Neue Bold"/>
                <a:ea typeface="TT Firs Neue Bold"/>
                <a:cs typeface="TT Firs Neue Bold"/>
                <a:sym typeface="TT Firs Neue Bold"/>
              </a:rPr>
              <a:t>server.py</a:t>
            </a:r>
            <a:endParaRPr lang="en-US" sz="2400" b="1">
              <a:solidFill>
                <a:srgbClr val="231F20"/>
              </a:solidFill>
              <a:latin typeface="TT Firs Neue Bold"/>
              <a:ea typeface="TT Firs Neue Bold"/>
              <a:cs typeface="TT Firs Neue Bold"/>
              <a:sym typeface="TT Firs Neue Bold"/>
            </a:endParaRPr>
          </a:p>
        </p:txBody>
      </p:sp>
      <p:sp>
        <p:nvSpPr>
          <p:cNvPr id="19" name="Freeform 19"/>
          <p:cNvSpPr/>
          <p:nvPr/>
        </p:nvSpPr>
        <p:spPr>
          <a:xfrm rot="-10800000">
            <a:off x="13205201" y="8429729"/>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p:cNvSpPr/>
          <p:nvPr/>
        </p:nvSpPr>
        <p:spPr>
          <a:xfrm>
            <a:off x="4026097" y="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28" name="Picture 27">
            <a:extLst>
              <a:ext uri="{FF2B5EF4-FFF2-40B4-BE49-F238E27FC236}">
                <a16:creationId xmlns:a16="http://schemas.microsoft.com/office/drawing/2014/main" id="{A5436ECA-2488-4A6B-B943-F1CD21C7C21F}"/>
              </a:ext>
            </a:extLst>
          </p:cNvPr>
          <p:cNvPicPr>
            <a:picLocks noChangeAspect="1"/>
          </p:cNvPicPr>
          <p:nvPr/>
        </p:nvPicPr>
        <p:blipFill rotWithShape="1">
          <a:blip r:embed="rId6"/>
          <a:srcRect l="10945" t="70307" r="43087" b="12829"/>
          <a:stretch/>
        </p:blipFill>
        <p:spPr>
          <a:xfrm>
            <a:off x="1524000" y="2979020"/>
            <a:ext cx="4381917" cy="2231121"/>
          </a:xfrm>
          <a:custGeom>
            <a:avLst/>
            <a:gdLst>
              <a:gd name="connsiteX0" fmla="*/ 391257 w 4593298"/>
              <a:gd name="connsiteY0" fmla="*/ 0 h 2338749"/>
              <a:gd name="connsiteX1" fmla="*/ 4202041 w 4593298"/>
              <a:gd name="connsiteY1" fmla="*/ 0 h 2338749"/>
              <a:gd name="connsiteX2" fmla="*/ 4593298 w 4593298"/>
              <a:gd name="connsiteY2" fmla="*/ 391257 h 2338749"/>
              <a:gd name="connsiteX3" fmla="*/ 4593298 w 4593298"/>
              <a:gd name="connsiteY3" fmla="*/ 1956236 h 2338749"/>
              <a:gd name="connsiteX4" fmla="*/ 4354336 w 4593298"/>
              <a:gd name="connsiteY4" fmla="*/ 2316746 h 2338749"/>
              <a:gd name="connsiteX5" fmla="*/ 4283454 w 4593298"/>
              <a:gd name="connsiteY5" fmla="*/ 2338749 h 2338749"/>
              <a:gd name="connsiteX6" fmla="*/ 309844 w 4593298"/>
              <a:gd name="connsiteY6" fmla="*/ 2338749 h 2338749"/>
              <a:gd name="connsiteX7" fmla="*/ 238962 w 4593298"/>
              <a:gd name="connsiteY7" fmla="*/ 2316746 h 2338749"/>
              <a:gd name="connsiteX8" fmla="*/ 0 w 4593298"/>
              <a:gd name="connsiteY8" fmla="*/ 1956236 h 2338749"/>
              <a:gd name="connsiteX9" fmla="*/ 0 w 4593298"/>
              <a:gd name="connsiteY9" fmla="*/ 391257 h 2338749"/>
              <a:gd name="connsiteX10" fmla="*/ 391257 w 4593298"/>
              <a:gd name="connsiteY10" fmla="*/ 0 h 2338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93298" h="2338749">
                <a:moveTo>
                  <a:pt x="391257" y="0"/>
                </a:moveTo>
                <a:lnTo>
                  <a:pt x="4202041" y="0"/>
                </a:lnTo>
                <a:cubicBezTo>
                  <a:pt x="4418126" y="0"/>
                  <a:pt x="4593298" y="175172"/>
                  <a:pt x="4593298" y="391257"/>
                </a:cubicBezTo>
                <a:lnTo>
                  <a:pt x="4593298" y="1956236"/>
                </a:lnTo>
                <a:cubicBezTo>
                  <a:pt x="4593298" y="2118300"/>
                  <a:pt x="4494764" y="2257350"/>
                  <a:pt x="4354336" y="2316746"/>
                </a:cubicBezTo>
                <a:lnTo>
                  <a:pt x="4283454" y="2338749"/>
                </a:lnTo>
                <a:lnTo>
                  <a:pt x="309844" y="2338749"/>
                </a:lnTo>
                <a:lnTo>
                  <a:pt x="238962" y="2316746"/>
                </a:lnTo>
                <a:cubicBezTo>
                  <a:pt x="98534" y="2257350"/>
                  <a:pt x="0" y="2118300"/>
                  <a:pt x="0" y="1956236"/>
                </a:cubicBezTo>
                <a:lnTo>
                  <a:pt x="0" y="391257"/>
                </a:lnTo>
                <a:cubicBezTo>
                  <a:pt x="0" y="175172"/>
                  <a:pt x="175172" y="0"/>
                  <a:pt x="391257" y="0"/>
                </a:cubicBezTo>
                <a:close/>
              </a:path>
            </a:pathLst>
          </a:custGeom>
          <a:ln>
            <a:solidFill>
              <a:schemeClr val="tx1"/>
            </a:solidFill>
          </a:ln>
        </p:spPr>
      </p:pic>
      <p:grpSp>
        <p:nvGrpSpPr>
          <p:cNvPr id="36" name="Group 35">
            <a:extLst>
              <a:ext uri="{FF2B5EF4-FFF2-40B4-BE49-F238E27FC236}">
                <a16:creationId xmlns:a16="http://schemas.microsoft.com/office/drawing/2014/main" id="{24BA917E-DB2F-414B-A408-34938E20751C}"/>
              </a:ext>
            </a:extLst>
          </p:cNvPr>
          <p:cNvGrpSpPr/>
          <p:nvPr/>
        </p:nvGrpSpPr>
        <p:grpSpPr>
          <a:xfrm>
            <a:off x="19091118" y="3314700"/>
            <a:ext cx="8662472" cy="5369264"/>
            <a:chOff x="5741052" y="3185126"/>
            <a:chExt cx="9277985" cy="5369264"/>
          </a:xfrm>
        </p:grpSpPr>
        <p:sp>
          <p:nvSpPr>
            <p:cNvPr id="29" name="TextBox 4">
              <a:extLst>
                <a:ext uri="{FF2B5EF4-FFF2-40B4-BE49-F238E27FC236}">
                  <a16:creationId xmlns:a16="http://schemas.microsoft.com/office/drawing/2014/main" id="{A525E2D3-ADE8-4AE2-A122-3A5559CF1A49}"/>
                </a:ext>
              </a:extLst>
            </p:cNvPr>
            <p:cNvSpPr txBox="1"/>
            <p:nvPr/>
          </p:nvSpPr>
          <p:spPr>
            <a:xfrm>
              <a:off x="5914282" y="3185126"/>
              <a:ext cx="9104755" cy="860428"/>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self.socket = socket.socket(socket.AF_INET, socket.SOCK_STREAM)</a:t>
              </a:r>
            </a:p>
            <a:p>
              <a:pPr algn="l">
                <a:lnSpc>
                  <a:spcPts val="3640"/>
                </a:lnSpc>
                <a:spcBef>
                  <a:spcPct val="0"/>
                </a:spcBef>
              </a:pPr>
              <a:endParaRPr lang="en-US" b="1">
                <a:solidFill>
                  <a:srgbClr val="121212"/>
                </a:solidFill>
                <a:latin typeface="Public Sans Bold"/>
                <a:ea typeface="Public Sans Bold"/>
                <a:cs typeface="Public Sans Bold"/>
                <a:sym typeface="Public Sans Bold"/>
              </a:endParaRPr>
            </a:p>
          </p:txBody>
        </p:sp>
        <p:sp>
          <p:nvSpPr>
            <p:cNvPr id="30" name="TextBox 6">
              <a:extLst>
                <a:ext uri="{FF2B5EF4-FFF2-40B4-BE49-F238E27FC236}">
                  <a16:creationId xmlns:a16="http://schemas.microsoft.com/office/drawing/2014/main" id="{38A9F292-0146-4696-B1A7-D2F9E787FAF8}"/>
                </a:ext>
              </a:extLst>
            </p:cNvPr>
            <p:cNvSpPr txBox="1"/>
            <p:nvPr/>
          </p:nvSpPr>
          <p:spPr>
            <a:xfrm>
              <a:off x="5914282" y="3615340"/>
              <a:ext cx="8714213" cy="398764"/>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self.socket.setsockopt(socket.SOL_SOCKET, socket.SO_REUSEADDR, 1)</a:t>
              </a:r>
            </a:p>
          </p:txBody>
        </p:sp>
        <p:sp>
          <p:nvSpPr>
            <p:cNvPr id="31" name="TextBox 8">
              <a:extLst>
                <a:ext uri="{FF2B5EF4-FFF2-40B4-BE49-F238E27FC236}">
                  <a16:creationId xmlns:a16="http://schemas.microsoft.com/office/drawing/2014/main" id="{2107A367-6E2D-4D30-A0A8-24192E06927E}"/>
                </a:ext>
              </a:extLst>
            </p:cNvPr>
            <p:cNvSpPr txBox="1"/>
            <p:nvPr/>
          </p:nvSpPr>
          <p:spPr>
            <a:xfrm>
              <a:off x="5925646" y="4184293"/>
              <a:ext cx="6321799" cy="860428"/>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self.socket.bind((self.host, self.port))</a:t>
              </a:r>
            </a:p>
            <a:p>
              <a:pPr algn="l">
                <a:lnSpc>
                  <a:spcPts val="3640"/>
                </a:lnSpc>
                <a:spcBef>
                  <a:spcPct val="0"/>
                </a:spcBef>
              </a:pPr>
              <a:r>
                <a:rPr lang="en-US" b="1">
                  <a:solidFill>
                    <a:srgbClr val="121212"/>
                  </a:solidFill>
                  <a:latin typeface="Public Sans Bold"/>
                  <a:ea typeface="Public Sans Bold"/>
                  <a:cs typeface="Public Sans Bold"/>
                  <a:sym typeface="Public Sans Bold"/>
                </a:rPr>
                <a:t>self.socket.listen()</a:t>
              </a:r>
            </a:p>
          </p:txBody>
        </p:sp>
        <p:sp>
          <p:nvSpPr>
            <p:cNvPr id="32" name="TextBox 11">
              <a:extLst>
                <a:ext uri="{FF2B5EF4-FFF2-40B4-BE49-F238E27FC236}">
                  <a16:creationId xmlns:a16="http://schemas.microsoft.com/office/drawing/2014/main" id="{2CB9A814-D7A1-401D-A350-2954AE14D1AE}"/>
                </a:ext>
              </a:extLst>
            </p:cNvPr>
            <p:cNvSpPr txBox="1"/>
            <p:nvPr/>
          </p:nvSpPr>
          <p:spPr>
            <a:xfrm>
              <a:off x="5914282" y="5115049"/>
              <a:ext cx="5076944" cy="398764"/>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conn, addr = self.socket.accept()</a:t>
              </a:r>
            </a:p>
          </p:txBody>
        </p:sp>
        <p:sp>
          <p:nvSpPr>
            <p:cNvPr id="33" name="TextBox 12">
              <a:extLst>
                <a:ext uri="{FF2B5EF4-FFF2-40B4-BE49-F238E27FC236}">
                  <a16:creationId xmlns:a16="http://schemas.microsoft.com/office/drawing/2014/main" id="{FDA066E9-9F85-4E4A-9CAE-325DC10F0AA7}"/>
                </a:ext>
              </a:extLst>
            </p:cNvPr>
            <p:cNvSpPr txBox="1"/>
            <p:nvPr/>
          </p:nvSpPr>
          <p:spPr>
            <a:xfrm>
              <a:off x="5916536" y="5718145"/>
              <a:ext cx="5717739" cy="1829435"/>
            </a:xfrm>
            <a:prstGeom prst="rect">
              <a:avLst/>
            </a:prstGeom>
          </p:spPr>
          <p:txBody>
            <a:bodyPr lIns="0" tIns="0" rIns="0" bIns="0" rtlCol="0" anchor="t">
              <a:spAutoFit/>
            </a:bodyPr>
            <a:lstStyle/>
            <a:p>
              <a:pPr algn="l">
                <a:lnSpc>
                  <a:spcPts val="3640"/>
                </a:lnSpc>
                <a:spcBef>
                  <a:spcPct val="0"/>
                </a:spcBef>
              </a:pPr>
              <a:r>
                <a:rPr lang="en-US" b="1">
                  <a:solidFill>
                    <a:srgbClr val="121212"/>
                  </a:solidFill>
                  <a:latin typeface="Public Sans Bold"/>
                  <a:ea typeface="Public Sans Bold"/>
                  <a:cs typeface="Public Sans Bold"/>
                  <a:sym typeface="Public Sans Bold"/>
                </a:rPr>
                <a:t>threading.Thread(</a:t>
              </a:r>
            </a:p>
            <a:p>
              <a:pPr algn="l">
                <a:lnSpc>
                  <a:spcPts val="3640"/>
                </a:lnSpc>
                <a:spcBef>
                  <a:spcPct val="0"/>
                </a:spcBef>
              </a:pPr>
              <a:r>
                <a:rPr lang="en-US" b="1">
                  <a:solidFill>
                    <a:srgbClr val="121212"/>
                  </a:solidFill>
                  <a:latin typeface="Public Sans Bold"/>
                  <a:ea typeface="Public Sans Bold"/>
                  <a:cs typeface="Public Sans Bold"/>
                  <a:sym typeface="Public Sans Bold"/>
                </a:rPr>
                <a:t>    target=self.handler.Handle_client,</a:t>
              </a:r>
            </a:p>
            <a:p>
              <a:pPr algn="l">
                <a:lnSpc>
                  <a:spcPts val="3640"/>
                </a:lnSpc>
                <a:spcBef>
                  <a:spcPct val="0"/>
                </a:spcBef>
              </a:pPr>
              <a:r>
                <a:rPr lang="en-US" b="1">
                  <a:solidFill>
                    <a:srgbClr val="121212"/>
                  </a:solidFill>
                  <a:latin typeface="Public Sans Bold"/>
                  <a:ea typeface="Public Sans Bold"/>
                  <a:cs typeface="Public Sans Bold"/>
                  <a:sym typeface="Public Sans Bold"/>
                </a:rPr>
                <a:t>    args=(conn, addr)</a:t>
              </a:r>
            </a:p>
            <a:p>
              <a:pPr algn="l">
                <a:lnSpc>
                  <a:spcPts val="3640"/>
                </a:lnSpc>
                <a:spcBef>
                  <a:spcPct val="0"/>
                </a:spcBef>
              </a:pPr>
              <a:r>
                <a:rPr lang="en-US" b="1">
                  <a:solidFill>
                    <a:srgbClr val="121212"/>
                  </a:solidFill>
                  <a:latin typeface="Public Sans Bold"/>
                  <a:ea typeface="Public Sans Bold"/>
                  <a:cs typeface="Public Sans Bold"/>
                  <a:sym typeface="Public Sans Bold"/>
                </a:rPr>
                <a:t>).start()</a:t>
              </a:r>
            </a:p>
          </p:txBody>
        </p:sp>
        <p:sp>
          <p:nvSpPr>
            <p:cNvPr id="34" name="TextBox 14">
              <a:extLst>
                <a:ext uri="{FF2B5EF4-FFF2-40B4-BE49-F238E27FC236}">
                  <a16:creationId xmlns:a16="http://schemas.microsoft.com/office/drawing/2014/main" id="{C73DD681-E9B8-49B1-9C95-5E95378F26F4}"/>
                </a:ext>
              </a:extLst>
            </p:cNvPr>
            <p:cNvSpPr txBox="1"/>
            <p:nvPr/>
          </p:nvSpPr>
          <p:spPr>
            <a:xfrm>
              <a:off x="5741052" y="7751912"/>
              <a:ext cx="1715691" cy="398764"/>
            </a:xfrm>
            <a:prstGeom prst="rect">
              <a:avLst/>
            </a:prstGeom>
          </p:spPr>
          <p:txBody>
            <a:bodyPr lIns="0" tIns="0" rIns="0" bIns="0" rtlCol="0" anchor="t">
              <a:spAutoFit/>
            </a:bodyPr>
            <a:lstStyle/>
            <a:p>
              <a:pPr algn="ctr">
                <a:lnSpc>
                  <a:spcPts val="3640"/>
                </a:lnSpc>
                <a:spcBef>
                  <a:spcPct val="0"/>
                </a:spcBef>
              </a:pPr>
              <a:r>
                <a:rPr lang="en-US" b="1">
                  <a:solidFill>
                    <a:srgbClr val="121212"/>
                  </a:solidFill>
                  <a:latin typeface="Public Sans Bold"/>
                  <a:ea typeface="Public Sans Bold"/>
                  <a:cs typeface="Public Sans Bold"/>
                  <a:sym typeface="Public Sans Bold"/>
                </a:rPr>
                <a:t>while True:</a:t>
              </a:r>
            </a:p>
          </p:txBody>
        </p:sp>
        <p:sp>
          <p:nvSpPr>
            <p:cNvPr id="35" name="TextBox 17">
              <a:extLst>
                <a:ext uri="{FF2B5EF4-FFF2-40B4-BE49-F238E27FC236}">
                  <a16:creationId xmlns:a16="http://schemas.microsoft.com/office/drawing/2014/main" id="{EE7F30EF-F714-467B-AF92-FD7B6FF72F89}"/>
                </a:ext>
              </a:extLst>
            </p:cNvPr>
            <p:cNvSpPr txBox="1"/>
            <p:nvPr/>
          </p:nvSpPr>
          <p:spPr>
            <a:xfrm>
              <a:off x="5841150" y="8155626"/>
              <a:ext cx="4633079" cy="398764"/>
            </a:xfrm>
            <a:prstGeom prst="rect">
              <a:avLst/>
            </a:prstGeom>
          </p:spPr>
          <p:txBody>
            <a:bodyPr lIns="0" tIns="0" rIns="0" bIns="0" rtlCol="0" anchor="t">
              <a:spAutoFit/>
            </a:bodyPr>
            <a:lstStyle/>
            <a:p>
              <a:pPr algn="ctr">
                <a:lnSpc>
                  <a:spcPts val="3640"/>
                </a:lnSpc>
                <a:spcBef>
                  <a:spcPct val="0"/>
                </a:spcBef>
              </a:pPr>
              <a:r>
                <a:rPr lang="en-US" b="1">
                  <a:solidFill>
                    <a:srgbClr val="121212"/>
                  </a:solidFill>
                  <a:latin typeface="Public Sans Bold"/>
                  <a:ea typeface="Public Sans Bold"/>
                  <a:cs typeface="Public Sans Bold"/>
                  <a:sym typeface="Public Sans Bold"/>
                </a:rPr>
                <a:t>self.handler = GameHandler()</a:t>
              </a:r>
            </a:p>
          </p:txBody>
        </p:sp>
      </p:grpSp>
      <p:sp>
        <p:nvSpPr>
          <p:cNvPr id="37" name="TextBox 5">
            <a:extLst>
              <a:ext uri="{FF2B5EF4-FFF2-40B4-BE49-F238E27FC236}">
                <a16:creationId xmlns:a16="http://schemas.microsoft.com/office/drawing/2014/main" id="{8A2BE523-638C-452F-A145-5E5CBDCA0758}"/>
              </a:ext>
            </a:extLst>
          </p:cNvPr>
          <p:cNvSpPr txBox="1"/>
          <p:nvPr/>
        </p:nvSpPr>
        <p:spPr>
          <a:xfrm>
            <a:off x="27021773" y="2921946"/>
            <a:ext cx="2492812" cy="445186"/>
          </a:xfrm>
          <a:prstGeom prst="rect">
            <a:avLst/>
          </a:prstGeom>
          <a:ln>
            <a:solidFill>
              <a:schemeClr val="tx2">
                <a:lumMod val="75000"/>
              </a:schemeClr>
            </a:solidFill>
          </a:ln>
        </p:spPr>
        <p:txBody>
          <a:bodyPr lIns="0" tIns="0" rIns="0" bIns="0" rtlCol="0" anchor="t">
            <a:spAutoFit/>
          </a:bodyPr>
          <a:lstStyle/>
          <a:p>
            <a:pPr algn="ctr">
              <a:lnSpc>
                <a:spcPts val="3919"/>
              </a:lnSpc>
              <a:spcBef>
                <a:spcPct val="0"/>
              </a:spcBef>
            </a:pPr>
            <a:r>
              <a:rPr lang="en-US" sz="2400" b="1">
                <a:solidFill>
                  <a:schemeClr val="accent3">
                    <a:lumMod val="50000"/>
                  </a:schemeClr>
                </a:solidFill>
                <a:latin typeface="Public Sans Thin"/>
                <a:ea typeface="Public Sans Thin"/>
                <a:cs typeface="Public Sans Thin"/>
                <a:sym typeface="Public Sans Thin"/>
              </a:rPr>
              <a:t>Khởi tạo socket</a:t>
            </a:r>
          </a:p>
        </p:txBody>
      </p:sp>
      <p:sp>
        <p:nvSpPr>
          <p:cNvPr id="38" name="TextBox 7">
            <a:extLst>
              <a:ext uri="{FF2B5EF4-FFF2-40B4-BE49-F238E27FC236}">
                <a16:creationId xmlns:a16="http://schemas.microsoft.com/office/drawing/2014/main" id="{742C4B68-6102-4CF8-AF71-912AC47D019B}"/>
              </a:ext>
            </a:extLst>
          </p:cNvPr>
          <p:cNvSpPr txBox="1"/>
          <p:nvPr/>
        </p:nvSpPr>
        <p:spPr>
          <a:xfrm>
            <a:off x="27371595" y="3612162"/>
            <a:ext cx="3153023" cy="877997"/>
          </a:xfrm>
          <a:prstGeom prst="rect">
            <a:avLst/>
          </a:prstGeom>
          <a:ln>
            <a:solidFill>
              <a:schemeClr val="tx2">
                <a:lumMod val="75000"/>
              </a:schemeClr>
            </a:solidFill>
          </a:ln>
        </p:spPr>
        <p:txBody>
          <a:bodyPr wrap="square"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Cấu hình port </a:t>
            </a:r>
            <a:endParaRPr lang="vi-VN" sz="2400" b="1">
              <a:solidFill>
                <a:schemeClr val="accent3">
                  <a:lumMod val="50000"/>
                </a:schemeClr>
              </a:solidFill>
              <a:latin typeface="Public Sans"/>
              <a:ea typeface="Public Sans"/>
              <a:cs typeface="Public Sans"/>
              <a:sym typeface="Public Sans"/>
            </a:endParaRPr>
          </a:p>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(tránh lỗi khi restart)</a:t>
            </a:r>
          </a:p>
        </p:txBody>
      </p:sp>
      <p:sp>
        <p:nvSpPr>
          <p:cNvPr id="39" name="TextBox 9">
            <a:extLst>
              <a:ext uri="{FF2B5EF4-FFF2-40B4-BE49-F238E27FC236}">
                <a16:creationId xmlns:a16="http://schemas.microsoft.com/office/drawing/2014/main" id="{B108FFEF-DCE0-491D-8A8A-338F6494FF70}"/>
              </a:ext>
            </a:extLst>
          </p:cNvPr>
          <p:cNvSpPr txBox="1"/>
          <p:nvPr/>
        </p:nvSpPr>
        <p:spPr>
          <a:xfrm>
            <a:off x="23367105" y="4573892"/>
            <a:ext cx="3679746" cy="416332"/>
          </a:xfrm>
          <a:prstGeom prst="rect">
            <a:avLst/>
          </a:prstGeom>
          <a:ln>
            <a:solidFill>
              <a:schemeClr val="tx2">
                <a:lumMod val="75000"/>
              </a:schemeClr>
            </a:solidFill>
          </a:ln>
        </p:spPr>
        <p:txBody>
          <a:bodyPr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 Gắn địa chỉ &amp; mở server</a:t>
            </a:r>
          </a:p>
        </p:txBody>
      </p:sp>
      <p:sp>
        <p:nvSpPr>
          <p:cNvPr id="40" name="TextBox 10">
            <a:extLst>
              <a:ext uri="{FF2B5EF4-FFF2-40B4-BE49-F238E27FC236}">
                <a16:creationId xmlns:a16="http://schemas.microsoft.com/office/drawing/2014/main" id="{BF3C41D8-16D2-4A1D-8876-614741A2AE27}"/>
              </a:ext>
            </a:extLst>
          </p:cNvPr>
          <p:cNvSpPr txBox="1"/>
          <p:nvPr/>
        </p:nvSpPr>
        <p:spPr>
          <a:xfrm>
            <a:off x="23076759" y="5260635"/>
            <a:ext cx="3350300" cy="416332"/>
          </a:xfrm>
          <a:prstGeom prst="rect">
            <a:avLst/>
          </a:prstGeom>
          <a:ln>
            <a:solidFill>
              <a:schemeClr val="tx2">
                <a:lumMod val="75000"/>
              </a:schemeClr>
            </a:solidFill>
          </a:ln>
        </p:spPr>
        <p:txBody>
          <a:bodyPr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Nhận kết nối từ client </a:t>
            </a:r>
          </a:p>
        </p:txBody>
      </p:sp>
      <p:sp>
        <p:nvSpPr>
          <p:cNvPr id="41" name="TextBox 13">
            <a:extLst>
              <a:ext uri="{FF2B5EF4-FFF2-40B4-BE49-F238E27FC236}">
                <a16:creationId xmlns:a16="http://schemas.microsoft.com/office/drawing/2014/main" id="{7B46DF92-0A34-4185-9FFC-FC7DBB1F1FB4}"/>
              </a:ext>
            </a:extLst>
          </p:cNvPr>
          <p:cNvSpPr txBox="1"/>
          <p:nvPr/>
        </p:nvSpPr>
        <p:spPr>
          <a:xfrm>
            <a:off x="23312749" y="6354627"/>
            <a:ext cx="1928538" cy="416332"/>
          </a:xfrm>
          <a:prstGeom prst="rect">
            <a:avLst/>
          </a:prstGeom>
          <a:ln>
            <a:solidFill>
              <a:schemeClr val="tx2">
                <a:lumMod val="75000"/>
              </a:schemeClr>
            </a:solidFill>
          </a:ln>
        </p:spPr>
        <p:txBody>
          <a:bodyPr wrap="square"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Đa luồng</a:t>
            </a:r>
          </a:p>
        </p:txBody>
      </p:sp>
      <p:sp>
        <p:nvSpPr>
          <p:cNvPr id="42" name="TextBox 15">
            <a:extLst>
              <a:ext uri="{FF2B5EF4-FFF2-40B4-BE49-F238E27FC236}">
                <a16:creationId xmlns:a16="http://schemas.microsoft.com/office/drawing/2014/main" id="{73326322-C050-4593-AD14-9793BA1A63A8}"/>
              </a:ext>
            </a:extLst>
          </p:cNvPr>
          <p:cNvSpPr txBox="1"/>
          <p:nvPr/>
        </p:nvSpPr>
        <p:spPr>
          <a:xfrm>
            <a:off x="20696581" y="7866393"/>
            <a:ext cx="2380178" cy="416332"/>
          </a:xfrm>
          <a:prstGeom prst="rect">
            <a:avLst/>
          </a:prstGeom>
          <a:ln>
            <a:solidFill>
              <a:schemeClr val="tx2">
                <a:lumMod val="75000"/>
              </a:schemeClr>
            </a:solidFill>
          </a:ln>
        </p:spPr>
        <p:txBody>
          <a:bodyPr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Vòng lặp server</a:t>
            </a:r>
          </a:p>
        </p:txBody>
      </p:sp>
      <p:sp>
        <p:nvSpPr>
          <p:cNvPr id="43" name="TextBox 16">
            <a:extLst>
              <a:ext uri="{FF2B5EF4-FFF2-40B4-BE49-F238E27FC236}">
                <a16:creationId xmlns:a16="http://schemas.microsoft.com/office/drawing/2014/main" id="{567F3F66-BAD9-4CC1-AE43-078171F4780A}"/>
              </a:ext>
            </a:extLst>
          </p:cNvPr>
          <p:cNvSpPr txBox="1"/>
          <p:nvPr/>
        </p:nvSpPr>
        <p:spPr>
          <a:xfrm>
            <a:off x="23076687" y="8337098"/>
            <a:ext cx="4029551" cy="416332"/>
          </a:xfrm>
          <a:prstGeom prst="rect">
            <a:avLst/>
          </a:prstGeom>
          <a:solidFill>
            <a:srgbClr val="FFFFFF"/>
          </a:solidFill>
          <a:ln>
            <a:solidFill>
              <a:schemeClr val="tx2">
                <a:lumMod val="75000"/>
              </a:schemeClr>
            </a:solidFill>
          </a:ln>
        </p:spPr>
        <p:txBody>
          <a:bodyPr lIns="0" tIns="0" rIns="0" bIns="0" rtlCol="0" anchor="t">
            <a:spAutoFit/>
          </a:bodyPr>
          <a:lstStyle/>
          <a:p>
            <a:pPr algn="ctr">
              <a:lnSpc>
                <a:spcPts val="3640"/>
              </a:lnSpc>
              <a:spcBef>
                <a:spcPct val="0"/>
              </a:spcBef>
            </a:pPr>
            <a:r>
              <a:rPr lang="en-US" sz="2400" b="1">
                <a:solidFill>
                  <a:schemeClr val="accent3">
                    <a:lumMod val="50000"/>
                  </a:schemeClr>
                </a:solidFill>
                <a:latin typeface="Public Sans"/>
                <a:ea typeface="Public Sans"/>
                <a:cs typeface="Public Sans"/>
                <a:sym typeface="Public Sans"/>
              </a:rPr>
              <a:t> Liên kết với GameHandler</a:t>
            </a:r>
          </a:p>
        </p:txBody>
      </p:sp>
      <p:pic>
        <p:nvPicPr>
          <p:cNvPr id="11" name="Picture 10">
            <a:extLst>
              <a:ext uri="{FF2B5EF4-FFF2-40B4-BE49-F238E27FC236}">
                <a16:creationId xmlns:a16="http://schemas.microsoft.com/office/drawing/2014/main" id="{905388D0-9AF2-49CB-B9E7-ABA20B2FEA6D}"/>
              </a:ext>
            </a:extLst>
          </p:cNvPr>
          <p:cNvPicPr>
            <a:picLocks noChangeAspect="1"/>
          </p:cNvPicPr>
          <p:nvPr/>
        </p:nvPicPr>
        <p:blipFill>
          <a:blip r:embed="rId7"/>
          <a:stretch>
            <a:fillRect/>
          </a:stretch>
        </p:blipFill>
        <p:spPr>
          <a:xfrm>
            <a:off x="6528217" y="3196328"/>
            <a:ext cx="7944959" cy="5944430"/>
          </a:xfrm>
          <a:prstGeom prst="rect">
            <a:avLst/>
          </a:prstGeom>
        </p:spPr>
      </p:pic>
    </p:spTree>
    <p:extLst>
      <p:ext uri="{BB962C8B-B14F-4D97-AF65-F5344CB8AC3E}">
        <p14:creationId xmlns:p14="http://schemas.microsoft.com/office/powerpoint/2010/main" val="85818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4353204" y="0"/>
            <a:ext cx="3934796" cy="4109676"/>
            <a:chOff x="0" y="0"/>
            <a:chExt cx="571500" cy="596900"/>
          </a:xfrm>
        </p:grpSpPr>
        <p:sp>
          <p:nvSpPr>
            <p:cNvPr id="3" name="Freeform 3"/>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4" name="TextBox 4"/>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76200" y="6177324"/>
            <a:ext cx="3934796" cy="4109676"/>
            <a:chOff x="0" y="0"/>
            <a:chExt cx="571500" cy="596900"/>
          </a:xfrm>
        </p:grpSpPr>
        <p:sp>
          <p:nvSpPr>
            <p:cNvPr id="8" name="Freeform 8"/>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9" name="TextBox 9"/>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6516006" y="2603507"/>
            <a:ext cx="437516" cy="437516"/>
          </a:xfrm>
          <a:custGeom>
            <a:avLst/>
            <a:gdLst/>
            <a:ahLst/>
            <a:cxnLst/>
            <a:rect l="l" t="t" r="r" b="b"/>
            <a:pathLst>
              <a:path w="437516" h="437516">
                <a:moveTo>
                  <a:pt x="0" y="0"/>
                </a:moveTo>
                <a:lnTo>
                  <a:pt x="437517" y="0"/>
                </a:lnTo>
                <a:lnTo>
                  <a:pt x="437517" y="437516"/>
                </a:lnTo>
                <a:lnTo>
                  <a:pt x="0" y="4375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1609598" y="1878725"/>
            <a:ext cx="4958595"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Server</a:t>
            </a:r>
            <a:endParaRPr lang="en-US" sz="6800" spc="-374">
              <a:solidFill>
                <a:srgbClr val="231F20"/>
              </a:solidFill>
              <a:latin typeface="Heading Now 71-78"/>
              <a:ea typeface="Heading Now 71-78"/>
              <a:cs typeface="Heading Now 71-78"/>
              <a:sym typeface="Heading Now 71-78"/>
            </a:endParaRPr>
          </a:p>
        </p:txBody>
      </p:sp>
      <p:sp>
        <p:nvSpPr>
          <p:cNvPr id="18" name="TextBox 18"/>
          <p:cNvSpPr txBox="1"/>
          <p:nvPr/>
        </p:nvSpPr>
        <p:spPr>
          <a:xfrm>
            <a:off x="7124962" y="2595570"/>
            <a:ext cx="3283228" cy="419346"/>
          </a:xfrm>
          <a:prstGeom prst="rect">
            <a:avLst/>
          </a:prstGeom>
        </p:spPr>
        <p:txBody>
          <a:bodyPr lIns="0" tIns="0" rIns="0" bIns="0" rtlCol="0" anchor="t">
            <a:spAutoFit/>
          </a:bodyPr>
          <a:lstStyle/>
          <a:p>
            <a:pPr algn="l">
              <a:lnSpc>
                <a:spcPts val="3359"/>
              </a:lnSpc>
            </a:pPr>
            <a:r>
              <a:rPr lang="vi-VN" sz="2400" b="1">
                <a:solidFill>
                  <a:srgbClr val="231F20"/>
                </a:solidFill>
                <a:latin typeface="TT Firs Neue Bold"/>
                <a:ea typeface="TT Firs Neue Bold"/>
                <a:cs typeface="TT Firs Neue Bold"/>
                <a:sym typeface="TT Firs Neue Bold"/>
              </a:rPr>
              <a:t>handler.py</a:t>
            </a:r>
            <a:endParaRPr lang="en-US" sz="2400" b="1">
              <a:solidFill>
                <a:srgbClr val="231F20"/>
              </a:solidFill>
              <a:latin typeface="TT Firs Neue Bold"/>
              <a:ea typeface="TT Firs Neue Bold"/>
              <a:cs typeface="TT Firs Neue Bold"/>
              <a:sym typeface="TT Firs Neue Bold"/>
            </a:endParaRPr>
          </a:p>
        </p:txBody>
      </p:sp>
      <p:sp>
        <p:nvSpPr>
          <p:cNvPr id="19" name="Freeform 19"/>
          <p:cNvSpPr/>
          <p:nvPr/>
        </p:nvSpPr>
        <p:spPr>
          <a:xfrm rot="-10800000">
            <a:off x="13205201" y="8429729"/>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0" name="Freeform 20"/>
          <p:cNvSpPr/>
          <p:nvPr/>
        </p:nvSpPr>
        <p:spPr>
          <a:xfrm>
            <a:off x="4026097" y="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pic>
        <p:nvPicPr>
          <p:cNvPr id="28" name="Picture 27">
            <a:extLst>
              <a:ext uri="{FF2B5EF4-FFF2-40B4-BE49-F238E27FC236}">
                <a16:creationId xmlns:a16="http://schemas.microsoft.com/office/drawing/2014/main" id="{A5436ECA-2488-4A6B-B943-F1CD21C7C21F}"/>
              </a:ext>
            </a:extLst>
          </p:cNvPr>
          <p:cNvPicPr>
            <a:picLocks noChangeAspect="1"/>
          </p:cNvPicPr>
          <p:nvPr/>
        </p:nvPicPr>
        <p:blipFill rotWithShape="1">
          <a:blip r:embed="rId6"/>
          <a:srcRect l="10945" t="70307" r="43087" b="12829"/>
          <a:stretch/>
        </p:blipFill>
        <p:spPr>
          <a:xfrm>
            <a:off x="1524000" y="2979020"/>
            <a:ext cx="4381917" cy="2231121"/>
          </a:xfrm>
          <a:custGeom>
            <a:avLst/>
            <a:gdLst>
              <a:gd name="connsiteX0" fmla="*/ 391257 w 4593298"/>
              <a:gd name="connsiteY0" fmla="*/ 0 h 2338749"/>
              <a:gd name="connsiteX1" fmla="*/ 4202041 w 4593298"/>
              <a:gd name="connsiteY1" fmla="*/ 0 h 2338749"/>
              <a:gd name="connsiteX2" fmla="*/ 4593298 w 4593298"/>
              <a:gd name="connsiteY2" fmla="*/ 391257 h 2338749"/>
              <a:gd name="connsiteX3" fmla="*/ 4593298 w 4593298"/>
              <a:gd name="connsiteY3" fmla="*/ 1956236 h 2338749"/>
              <a:gd name="connsiteX4" fmla="*/ 4354336 w 4593298"/>
              <a:gd name="connsiteY4" fmla="*/ 2316746 h 2338749"/>
              <a:gd name="connsiteX5" fmla="*/ 4283454 w 4593298"/>
              <a:gd name="connsiteY5" fmla="*/ 2338749 h 2338749"/>
              <a:gd name="connsiteX6" fmla="*/ 309844 w 4593298"/>
              <a:gd name="connsiteY6" fmla="*/ 2338749 h 2338749"/>
              <a:gd name="connsiteX7" fmla="*/ 238962 w 4593298"/>
              <a:gd name="connsiteY7" fmla="*/ 2316746 h 2338749"/>
              <a:gd name="connsiteX8" fmla="*/ 0 w 4593298"/>
              <a:gd name="connsiteY8" fmla="*/ 1956236 h 2338749"/>
              <a:gd name="connsiteX9" fmla="*/ 0 w 4593298"/>
              <a:gd name="connsiteY9" fmla="*/ 391257 h 2338749"/>
              <a:gd name="connsiteX10" fmla="*/ 391257 w 4593298"/>
              <a:gd name="connsiteY10" fmla="*/ 0 h 2338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93298" h="2338749">
                <a:moveTo>
                  <a:pt x="391257" y="0"/>
                </a:moveTo>
                <a:lnTo>
                  <a:pt x="4202041" y="0"/>
                </a:lnTo>
                <a:cubicBezTo>
                  <a:pt x="4418126" y="0"/>
                  <a:pt x="4593298" y="175172"/>
                  <a:pt x="4593298" y="391257"/>
                </a:cubicBezTo>
                <a:lnTo>
                  <a:pt x="4593298" y="1956236"/>
                </a:lnTo>
                <a:cubicBezTo>
                  <a:pt x="4593298" y="2118300"/>
                  <a:pt x="4494764" y="2257350"/>
                  <a:pt x="4354336" y="2316746"/>
                </a:cubicBezTo>
                <a:lnTo>
                  <a:pt x="4283454" y="2338749"/>
                </a:lnTo>
                <a:lnTo>
                  <a:pt x="309844" y="2338749"/>
                </a:lnTo>
                <a:lnTo>
                  <a:pt x="238962" y="2316746"/>
                </a:lnTo>
                <a:cubicBezTo>
                  <a:pt x="98534" y="2257350"/>
                  <a:pt x="0" y="2118300"/>
                  <a:pt x="0" y="1956236"/>
                </a:cubicBezTo>
                <a:lnTo>
                  <a:pt x="0" y="391257"/>
                </a:lnTo>
                <a:cubicBezTo>
                  <a:pt x="0" y="175172"/>
                  <a:pt x="175172" y="0"/>
                  <a:pt x="391257" y="0"/>
                </a:cubicBezTo>
                <a:close/>
              </a:path>
            </a:pathLst>
          </a:custGeom>
          <a:ln>
            <a:solidFill>
              <a:schemeClr val="tx1"/>
            </a:solidFill>
          </a:ln>
        </p:spPr>
      </p:pic>
      <p:sp>
        <p:nvSpPr>
          <p:cNvPr id="44" name="TextBox 5">
            <a:extLst>
              <a:ext uri="{FF2B5EF4-FFF2-40B4-BE49-F238E27FC236}">
                <a16:creationId xmlns:a16="http://schemas.microsoft.com/office/drawing/2014/main" id="{5E91C78B-8350-4C5A-A76D-498728FF3DD8}"/>
              </a:ext>
            </a:extLst>
          </p:cNvPr>
          <p:cNvSpPr txBox="1"/>
          <p:nvPr/>
        </p:nvSpPr>
        <p:spPr>
          <a:xfrm>
            <a:off x="6488998" y="3383262"/>
            <a:ext cx="6096000" cy="3653757"/>
          </a:xfrm>
          <a:prstGeom prst="rect">
            <a:avLst/>
          </a:prstGeom>
        </p:spPr>
        <p:txBody>
          <a:bodyPr wrap="square" lIns="0" tIns="0" rIns="0" bIns="0" rtlCol="0" anchor="t">
            <a:spAutoFit/>
          </a:bodyPr>
          <a:lstStyle/>
          <a:p>
            <a:pPr algn="l">
              <a:lnSpc>
                <a:spcPts val="3640"/>
              </a:lnSpc>
              <a:spcBef>
                <a:spcPct val="0"/>
              </a:spcBef>
            </a:pPr>
            <a:r>
              <a:rPr lang="vi-VN" sz="2600" b="1">
                <a:solidFill>
                  <a:srgbClr val="121212"/>
                </a:solidFill>
                <a:latin typeface="Public Sans Bold"/>
                <a:ea typeface="Public Sans Bold"/>
                <a:cs typeface="Public Sans Bold"/>
                <a:sym typeface="Public Sans Bold"/>
              </a:rPr>
              <a:t>H</a:t>
            </a:r>
            <a:r>
              <a:rPr lang="en-US" sz="2600" b="1">
                <a:solidFill>
                  <a:srgbClr val="121212"/>
                </a:solidFill>
                <a:latin typeface="Public Sans Bold"/>
                <a:ea typeface="Public Sans Bold"/>
                <a:cs typeface="Public Sans Bold"/>
                <a:sym typeface="Public Sans Bold"/>
              </a:rPr>
              <a:t>andler là thành phần xử lý toàn bộ logic game. </a:t>
            </a:r>
            <a:endParaRPr lang="vi-VN" sz="2600" b="1">
              <a:solidFill>
                <a:srgbClr val="121212"/>
              </a:solidFill>
              <a:latin typeface="Public Sans Bold"/>
              <a:ea typeface="Public Sans Bold"/>
              <a:cs typeface="Public Sans Bold"/>
              <a:sym typeface="Public Sans Bold"/>
            </a:endParaRPr>
          </a:p>
          <a:p>
            <a:pPr algn="l">
              <a:lnSpc>
                <a:spcPts val="3640"/>
              </a:lnSpc>
              <a:spcBef>
                <a:spcPct val="0"/>
              </a:spcBef>
            </a:pPr>
            <a:endParaRPr lang="vi-VN" sz="2600" b="1">
              <a:solidFill>
                <a:srgbClr val="121212"/>
              </a:solidFill>
              <a:latin typeface="Public Sans Bold"/>
              <a:ea typeface="Public Sans Bold"/>
              <a:cs typeface="Public Sans Bold"/>
              <a:sym typeface="Public Sans Bold"/>
            </a:endParaRPr>
          </a:p>
          <a:p>
            <a:pPr algn="l">
              <a:lnSpc>
                <a:spcPts val="3640"/>
              </a:lnSpc>
              <a:spcBef>
                <a:spcPct val="0"/>
              </a:spcBef>
            </a:pPr>
            <a:r>
              <a:rPr lang="en-US" sz="2600" b="1">
                <a:solidFill>
                  <a:srgbClr val="121212"/>
                </a:solidFill>
                <a:latin typeface="Public Sans Bold"/>
                <a:ea typeface="Public Sans Bold"/>
                <a:cs typeface="Public Sans Bold"/>
                <a:sym typeface="Public Sans Bold"/>
              </a:rPr>
              <a:t>Nó nhận lệnh từ client, phân tích command, cập nhật trạng thái hệ thống như người chơi online, lời mời và trận đấu, sau đó gửi phản hồi để đồng bộ giữa các client.</a:t>
            </a:r>
          </a:p>
        </p:txBody>
      </p:sp>
      <p:sp>
        <p:nvSpPr>
          <p:cNvPr id="45" name="Freeform 3">
            <a:extLst>
              <a:ext uri="{FF2B5EF4-FFF2-40B4-BE49-F238E27FC236}">
                <a16:creationId xmlns:a16="http://schemas.microsoft.com/office/drawing/2014/main" id="{ACA5DD42-858D-486E-B8AA-859A1FBCC96C}"/>
              </a:ext>
            </a:extLst>
          </p:cNvPr>
          <p:cNvSpPr/>
          <p:nvPr/>
        </p:nvSpPr>
        <p:spPr>
          <a:xfrm>
            <a:off x="12584998" y="3008439"/>
            <a:ext cx="5302809" cy="4109678"/>
          </a:xfrm>
          <a:custGeom>
            <a:avLst/>
            <a:gdLst/>
            <a:ahLst/>
            <a:cxnLst/>
            <a:rect l="l" t="t" r="r" b="b"/>
            <a:pathLst>
              <a:path w="6526251" h="5111893">
                <a:moveTo>
                  <a:pt x="0" y="0"/>
                </a:moveTo>
                <a:lnTo>
                  <a:pt x="6526251" y="0"/>
                </a:lnTo>
                <a:lnTo>
                  <a:pt x="6526251" y="5111893"/>
                </a:lnTo>
                <a:lnTo>
                  <a:pt x="0" y="5111893"/>
                </a:lnTo>
                <a:lnTo>
                  <a:pt x="0" y="0"/>
                </a:lnTo>
                <a:close/>
              </a:path>
            </a:pathLst>
          </a:custGeom>
          <a:blipFill>
            <a:blip r:embed="rId7"/>
            <a:stretch>
              <a:fillRect/>
            </a:stretch>
          </a:blipFill>
          <a:ln>
            <a:solidFill>
              <a:schemeClr val="tx2">
                <a:lumMod val="75000"/>
              </a:schemeClr>
            </a:solidFill>
          </a:ln>
        </p:spPr>
      </p:sp>
    </p:spTree>
    <p:extLst>
      <p:ext uri="{BB962C8B-B14F-4D97-AF65-F5344CB8AC3E}">
        <p14:creationId xmlns:p14="http://schemas.microsoft.com/office/powerpoint/2010/main" val="3048235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319168" y="1790700"/>
            <a:ext cx="6297107"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5885885" y="1713670"/>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7927930" y="-191073"/>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23" name="Group 22">
            <a:extLst>
              <a:ext uri="{FF2B5EF4-FFF2-40B4-BE49-F238E27FC236}">
                <a16:creationId xmlns:a16="http://schemas.microsoft.com/office/drawing/2014/main" id="{B6D36923-28AB-4665-B916-1F5F296610C9}"/>
              </a:ext>
            </a:extLst>
          </p:cNvPr>
          <p:cNvGrpSpPr/>
          <p:nvPr/>
        </p:nvGrpSpPr>
        <p:grpSpPr>
          <a:xfrm>
            <a:off x="8643844" y="1936904"/>
            <a:ext cx="5704129" cy="7345601"/>
            <a:chOff x="11704165" y="1470699"/>
            <a:chExt cx="5704129" cy="7345601"/>
          </a:xfrm>
        </p:grpSpPr>
        <p:pic>
          <p:nvPicPr>
            <p:cNvPr id="20" name="Picture 19">
              <a:extLst>
                <a:ext uri="{FF2B5EF4-FFF2-40B4-BE49-F238E27FC236}">
                  <a16:creationId xmlns:a16="http://schemas.microsoft.com/office/drawing/2014/main" id="{FCD58CB2-CD6C-4C64-B5F8-9EB22D0E4972}"/>
                </a:ext>
              </a:extLst>
            </p:cNvPr>
            <p:cNvPicPr>
              <a:picLocks noChangeAspect="1"/>
            </p:cNvPicPr>
            <p:nvPr/>
          </p:nvPicPr>
          <p:blipFill rotWithShape="1">
            <a:blip r:embed="rId6"/>
            <a:srcRect l="6723" t="2898" r="19466" b="28619"/>
            <a:stretch/>
          </p:blipFill>
          <p:spPr>
            <a:xfrm>
              <a:off x="11704165" y="1470699"/>
              <a:ext cx="5704129" cy="7345601"/>
            </a:xfrm>
            <a:prstGeom prst="rect">
              <a:avLst/>
            </a:prstGeom>
            <a:ln>
              <a:solidFill>
                <a:schemeClr val="tx2">
                  <a:lumMod val="75000"/>
                </a:schemeClr>
              </a:solidFill>
            </a:ln>
          </p:spPr>
        </p:pic>
        <p:sp>
          <p:nvSpPr>
            <p:cNvPr id="21" name="Rectangle 20">
              <a:extLst>
                <a:ext uri="{FF2B5EF4-FFF2-40B4-BE49-F238E27FC236}">
                  <a16:creationId xmlns:a16="http://schemas.microsoft.com/office/drawing/2014/main" id="{463C830D-1D79-433F-8CF9-8A70A05C90CD}"/>
                </a:ext>
              </a:extLst>
            </p:cNvPr>
            <p:cNvSpPr/>
            <p:nvPr/>
          </p:nvSpPr>
          <p:spPr>
            <a:xfrm>
              <a:off x="14935200" y="5753100"/>
              <a:ext cx="1828800" cy="348024"/>
            </a:xfrm>
            <a:prstGeom prst="rect">
              <a:avLst/>
            </a:prstGeom>
            <a:solidFill>
              <a:srgbClr val="4172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400">
                  <a:solidFill>
                    <a:srgbClr val="E1FEFF"/>
                  </a:solidFill>
                </a:rPr>
                <a:t>SocketHandler.java</a:t>
              </a:r>
              <a:endParaRPr lang="en-US" sz="1400">
                <a:solidFill>
                  <a:srgbClr val="E1FEFF"/>
                </a:solidFill>
              </a:endParaRPr>
            </a:p>
          </p:txBody>
        </p:sp>
      </p:grpSp>
      <p:sp>
        <p:nvSpPr>
          <p:cNvPr id="22" name="TextBox 3">
            <a:extLst>
              <a:ext uri="{FF2B5EF4-FFF2-40B4-BE49-F238E27FC236}">
                <a16:creationId xmlns:a16="http://schemas.microsoft.com/office/drawing/2014/main" id="{74099873-FA70-48E8-8817-7E5E3E234723}"/>
              </a:ext>
            </a:extLst>
          </p:cNvPr>
          <p:cNvSpPr txBox="1"/>
          <p:nvPr/>
        </p:nvSpPr>
        <p:spPr>
          <a:xfrm>
            <a:off x="3733800" y="2932017"/>
            <a:ext cx="3468754" cy="5355377"/>
          </a:xfrm>
          <a:prstGeom prst="rect">
            <a:avLst/>
          </a:prstGeom>
        </p:spPr>
        <p:txBody>
          <a:bodyPr wrap="square" lIns="0" tIns="0" rIns="0" bIns="0" rtlCol="0" anchor="t">
            <a:spAutoFit/>
          </a:bodyPr>
          <a:lstStyle/>
          <a:p>
            <a:pPr>
              <a:lnSpc>
                <a:spcPts val="8599"/>
              </a:lnSpc>
            </a:pPr>
            <a:r>
              <a:rPr lang="en-US" sz="3999" b="1">
                <a:solidFill>
                  <a:srgbClr val="000000"/>
                </a:solidFill>
                <a:latin typeface="Canva Sans Bold"/>
                <a:ea typeface="Canva Sans Bold"/>
                <a:cs typeface="Canva Sans Bold"/>
                <a:sym typeface="Canva Sans Bold"/>
              </a:rPr>
              <a:t>1. GUI</a:t>
            </a:r>
          </a:p>
          <a:p>
            <a:pPr>
              <a:lnSpc>
                <a:spcPts val="8599"/>
              </a:lnSpc>
            </a:pPr>
            <a:r>
              <a:rPr lang="en-US" sz="3999" b="1">
                <a:solidFill>
                  <a:srgbClr val="000000"/>
                </a:solidFill>
                <a:latin typeface="Canva Sans Bold"/>
                <a:ea typeface="Canva Sans Bold"/>
                <a:cs typeface="Canva Sans Bold"/>
                <a:sym typeface="Canva Sans Bold"/>
              </a:rPr>
              <a:t>2. Challenge</a:t>
            </a:r>
          </a:p>
          <a:p>
            <a:pPr>
              <a:lnSpc>
                <a:spcPts val="8599"/>
              </a:lnSpc>
            </a:pPr>
            <a:r>
              <a:rPr lang="en-US" sz="3999" b="1">
                <a:solidFill>
                  <a:srgbClr val="000000"/>
                </a:solidFill>
                <a:latin typeface="Canva Sans Bold"/>
                <a:ea typeface="Canva Sans Bold"/>
                <a:cs typeface="Canva Sans Bold"/>
                <a:sym typeface="Canva Sans Bold"/>
              </a:rPr>
              <a:t>3.</a:t>
            </a:r>
            <a:r>
              <a:rPr lang="vi-VN" sz="3999" b="1">
                <a:solidFill>
                  <a:srgbClr val="000000"/>
                </a:solidFill>
                <a:latin typeface="Canva Sans Bold"/>
                <a:ea typeface="Canva Sans Bold"/>
                <a:cs typeface="Canva Sans Bold"/>
                <a:sym typeface="Canva Sans Bold"/>
              </a:rPr>
              <a:t> </a:t>
            </a:r>
            <a:r>
              <a:rPr lang="en-US" sz="3999" b="1">
                <a:solidFill>
                  <a:srgbClr val="000000"/>
                </a:solidFill>
                <a:latin typeface="Canva Sans Bold"/>
                <a:ea typeface="Canva Sans Bold"/>
                <a:cs typeface="Canva Sans Bold"/>
                <a:sym typeface="Canva Sans Bold"/>
              </a:rPr>
              <a:t>History</a:t>
            </a:r>
          </a:p>
          <a:p>
            <a:pPr>
              <a:lnSpc>
                <a:spcPts val="8599"/>
              </a:lnSpc>
            </a:pPr>
            <a:r>
              <a:rPr lang="en-US" sz="3999" b="1">
                <a:solidFill>
                  <a:srgbClr val="000000"/>
                </a:solidFill>
                <a:latin typeface="Canva Sans Bold"/>
                <a:ea typeface="Canva Sans Bold"/>
                <a:cs typeface="Canva Sans Bold"/>
                <a:sym typeface="Canva Sans Bold"/>
              </a:rPr>
              <a:t>4. Network</a:t>
            </a:r>
          </a:p>
          <a:p>
            <a:pPr>
              <a:lnSpc>
                <a:spcPts val="8599"/>
              </a:lnSpc>
            </a:pPr>
            <a:r>
              <a:rPr lang="en-US" sz="3999" b="1">
                <a:solidFill>
                  <a:srgbClr val="000000"/>
                </a:solidFill>
                <a:latin typeface="Canva Sans Bold"/>
                <a:ea typeface="Canva Sans Bold"/>
                <a:cs typeface="Canva Sans Bold"/>
                <a:sym typeface="Canva Sans Bold"/>
              </a:rPr>
              <a:t>5. Game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319168" y="1790700"/>
            <a:ext cx="6297107"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5885885" y="1713670"/>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955818" y="-186503"/>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2" name="TextBox 3">
            <a:extLst>
              <a:ext uri="{FF2B5EF4-FFF2-40B4-BE49-F238E27FC236}">
                <a16:creationId xmlns:a16="http://schemas.microsoft.com/office/drawing/2014/main" id="{74099873-FA70-48E8-8817-7E5E3E234723}"/>
              </a:ext>
            </a:extLst>
          </p:cNvPr>
          <p:cNvSpPr txBox="1"/>
          <p:nvPr/>
        </p:nvSpPr>
        <p:spPr>
          <a:xfrm>
            <a:off x="3733800" y="2932017"/>
            <a:ext cx="3468754" cy="943913"/>
          </a:xfrm>
          <a:prstGeom prst="rect">
            <a:avLst/>
          </a:prstGeom>
        </p:spPr>
        <p:txBody>
          <a:bodyPr wrap="square" lIns="0" tIns="0" rIns="0" bIns="0" rtlCol="0" anchor="t">
            <a:spAutoFit/>
          </a:bodyPr>
          <a:lstStyle/>
          <a:p>
            <a:pPr>
              <a:lnSpc>
                <a:spcPts val="8599"/>
              </a:lnSpc>
            </a:pPr>
            <a:r>
              <a:rPr lang="en-US" sz="3999" b="1">
                <a:solidFill>
                  <a:srgbClr val="000000"/>
                </a:solidFill>
                <a:latin typeface="Canva Sans Bold"/>
                <a:ea typeface="Canva Sans Bold"/>
                <a:cs typeface="Canva Sans Bold"/>
                <a:sym typeface="Canva Sans Bold"/>
              </a:rPr>
              <a:t>1. GUI</a:t>
            </a:r>
          </a:p>
        </p:txBody>
      </p:sp>
      <p:sp>
        <p:nvSpPr>
          <p:cNvPr id="18" name="TextBox 2">
            <a:extLst>
              <a:ext uri="{FF2B5EF4-FFF2-40B4-BE49-F238E27FC236}">
                <a16:creationId xmlns:a16="http://schemas.microsoft.com/office/drawing/2014/main" id="{BC909FAD-5EC1-40FB-9B2D-790BDA6B8E6B}"/>
              </a:ext>
            </a:extLst>
          </p:cNvPr>
          <p:cNvSpPr txBox="1"/>
          <p:nvPr/>
        </p:nvSpPr>
        <p:spPr>
          <a:xfrm>
            <a:off x="3710775" y="4146687"/>
            <a:ext cx="11811000" cy="3602076"/>
          </a:xfrm>
          <a:prstGeom prst="rect">
            <a:avLst/>
          </a:prstGeom>
        </p:spPr>
        <p:txBody>
          <a:bodyPr wrap="square" lIns="0" tIns="0" rIns="0" bIns="0" rtlCol="0" anchor="t">
            <a:spAutoFit/>
          </a:bodyPr>
          <a:lstStyle/>
          <a:p>
            <a:pPr algn="l">
              <a:lnSpc>
                <a:spcPct val="150000"/>
              </a:lnSpc>
            </a:pPr>
            <a:r>
              <a:rPr lang="en-US" sz="3200" b="1" spc="187">
                <a:solidFill>
                  <a:srgbClr val="000000"/>
                </a:solidFill>
                <a:latin typeface="Canva Sans Bold"/>
                <a:ea typeface="Canva Sans Bold"/>
                <a:cs typeface="Canva Sans Bold"/>
                <a:sym typeface="Canva Sans Bold"/>
              </a:rPr>
              <a:t>Giao diện người dùng bao gồm các màn hình chính như đăng nhập,đăng ký phòng chờ và bàn cờ.</a:t>
            </a:r>
            <a:endParaRPr lang="vi-VN" sz="3200" b="1" spc="187">
              <a:solidFill>
                <a:srgbClr val="000000"/>
              </a:solidFill>
              <a:latin typeface="Canva Sans Bold"/>
              <a:ea typeface="Canva Sans Bold"/>
              <a:cs typeface="Canva Sans Bold"/>
              <a:sym typeface="Canva Sans Bold"/>
            </a:endParaRPr>
          </a:p>
          <a:p>
            <a:pPr algn="l">
              <a:lnSpc>
                <a:spcPct val="150000"/>
              </a:lnSpc>
            </a:pPr>
            <a:endParaRPr lang="en-US" sz="3200" b="1" spc="187">
              <a:solidFill>
                <a:srgbClr val="000000"/>
              </a:solidFill>
              <a:latin typeface="Canva Sans Bold"/>
              <a:ea typeface="Canva Sans Bold"/>
              <a:cs typeface="Canva Sans Bold"/>
              <a:sym typeface="Canva Sans Bold"/>
            </a:endParaRPr>
          </a:p>
          <a:p>
            <a:pPr algn="l">
              <a:lnSpc>
                <a:spcPct val="150000"/>
              </a:lnSpc>
            </a:pPr>
            <a:r>
              <a:rPr lang="en-US" sz="3200" b="1" spc="187">
                <a:solidFill>
                  <a:srgbClr val="000000"/>
                </a:solidFill>
                <a:latin typeface="Canva Sans Bold"/>
                <a:ea typeface="Canva Sans Bold"/>
                <a:cs typeface="Canva Sans Bold"/>
                <a:sym typeface="Canva Sans Bold"/>
              </a:rPr>
              <a:t>Cho phép người chơi nhập thông tin, chọn đối thủ và tương tác trong quá trình chơi.</a:t>
            </a:r>
          </a:p>
        </p:txBody>
      </p:sp>
      <p:sp>
        <p:nvSpPr>
          <p:cNvPr id="19" name="Freeform 4">
            <a:extLst>
              <a:ext uri="{FF2B5EF4-FFF2-40B4-BE49-F238E27FC236}">
                <a16:creationId xmlns:a16="http://schemas.microsoft.com/office/drawing/2014/main" id="{AD4BF388-E6EF-4B34-8E3E-A3C7B9B77206}"/>
              </a:ext>
            </a:extLst>
          </p:cNvPr>
          <p:cNvSpPr/>
          <p:nvPr/>
        </p:nvSpPr>
        <p:spPr>
          <a:xfrm>
            <a:off x="-5410200" y="2702028"/>
            <a:ext cx="4708992" cy="5547140"/>
          </a:xfrm>
          <a:custGeom>
            <a:avLst/>
            <a:gdLst/>
            <a:ahLst/>
            <a:cxnLst/>
            <a:rect l="l" t="t" r="r" b="b"/>
            <a:pathLst>
              <a:path w="5161667" h="6117531">
                <a:moveTo>
                  <a:pt x="0" y="0"/>
                </a:moveTo>
                <a:lnTo>
                  <a:pt x="5161667" y="0"/>
                </a:lnTo>
                <a:lnTo>
                  <a:pt x="5161667" y="6117531"/>
                </a:lnTo>
                <a:lnTo>
                  <a:pt x="0" y="6117531"/>
                </a:lnTo>
                <a:lnTo>
                  <a:pt x="0" y="0"/>
                </a:lnTo>
                <a:close/>
              </a:path>
            </a:pathLst>
          </a:custGeom>
          <a:blipFill>
            <a:blip r:embed="rId6"/>
            <a:stretch>
              <a:fillRect/>
            </a:stretch>
          </a:blipFill>
        </p:spPr>
      </p:sp>
      <p:grpSp>
        <p:nvGrpSpPr>
          <p:cNvPr id="24" name="Group 23">
            <a:extLst>
              <a:ext uri="{FF2B5EF4-FFF2-40B4-BE49-F238E27FC236}">
                <a16:creationId xmlns:a16="http://schemas.microsoft.com/office/drawing/2014/main" id="{BEC1A42E-307D-45BE-875D-F4FAF6A86186}"/>
              </a:ext>
            </a:extLst>
          </p:cNvPr>
          <p:cNvGrpSpPr/>
          <p:nvPr/>
        </p:nvGrpSpPr>
        <p:grpSpPr>
          <a:xfrm>
            <a:off x="18973050" y="2562218"/>
            <a:ext cx="8514838" cy="5826760"/>
            <a:chOff x="714738" y="4269740"/>
            <a:chExt cx="8514838" cy="5826760"/>
          </a:xfrm>
        </p:grpSpPr>
        <p:grpSp>
          <p:nvGrpSpPr>
            <p:cNvPr id="25" name="Group 2">
              <a:extLst>
                <a:ext uri="{FF2B5EF4-FFF2-40B4-BE49-F238E27FC236}">
                  <a16:creationId xmlns:a16="http://schemas.microsoft.com/office/drawing/2014/main" id="{5D2A1137-EC3F-42ED-85ED-8B659464D276}"/>
                </a:ext>
              </a:extLst>
            </p:cNvPr>
            <p:cNvGrpSpPr/>
            <p:nvPr/>
          </p:nvGrpSpPr>
          <p:grpSpPr>
            <a:xfrm>
              <a:off x="714738" y="4269740"/>
              <a:ext cx="8273758" cy="5826760"/>
              <a:chOff x="-1875054" y="323579"/>
              <a:chExt cx="3193467" cy="2725844"/>
            </a:xfrm>
          </p:grpSpPr>
          <p:sp>
            <p:nvSpPr>
              <p:cNvPr id="27" name="Freeform 3">
                <a:extLst>
                  <a:ext uri="{FF2B5EF4-FFF2-40B4-BE49-F238E27FC236}">
                    <a16:creationId xmlns:a16="http://schemas.microsoft.com/office/drawing/2014/main" id="{C302D37A-A187-40D9-B9E0-2179A992C820}"/>
                  </a:ext>
                </a:extLst>
              </p:cNvPr>
              <p:cNvSpPr/>
              <p:nvPr/>
            </p:nvSpPr>
            <p:spPr>
              <a:xfrm>
                <a:off x="-1875054" y="323579"/>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26" name="TextBox 6">
              <a:extLst>
                <a:ext uri="{FF2B5EF4-FFF2-40B4-BE49-F238E27FC236}">
                  <a16:creationId xmlns:a16="http://schemas.microsoft.com/office/drawing/2014/main" id="{1DEFF2D1-AC66-4AB5-B241-A13BF5815518}"/>
                </a:ext>
              </a:extLst>
            </p:cNvPr>
            <p:cNvSpPr txBox="1"/>
            <p:nvPr/>
          </p:nvSpPr>
          <p:spPr>
            <a:xfrm>
              <a:off x="955818" y="4400073"/>
              <a:ext cx="8273758" cy="5530938"/>
            </a:xfrm>
            <a:prstGeom prst="rect">
              <a:avLst/>
            </a:prstGeom>
          </p:spPr>
          <p:txBody>
            <a:bodyPr lIns="0" tIns="0" rIns="0" bIns="0" rtlCol="0" anchor="t">
              <a:spAutoFit/>
            </a:bodyPr>
            <a:lstStyle/>
            <a:p>
              <a:pPr algn="l">
                <a:lnSpc>
                  <a:spcPts val="3103"/>
                </a:lnSpc>
                <a:spcBef>
                  <a:spcPct val="0"/>
                </a:spcBef>
              </a:pPr>
              <a:r>
                <a:rPr lang="en-US" sz="2216" b="1">
                  <a:solidFill>
                    <a:srgbClr val="000000"/>
                  </a:solidFill>
                  <a:latin typeface="Canva Sans Bold"/>
                  <a:ea typeface="Canva Sans Bold"/>
                  <a:cs typeface="Canva Sans Bold"/>
                  <a:sym typeface="Canva Sans Bold"/>
                </a:rPr>
                <a:t>LoginUI chịu trách nhiệm xác thực người dùng và kết nối server, là bước khởi đầu trước khi vào hệ thống game.</a:t>
              </a:r>
              <a:endParaRPr lang="vi-VN" sz="2216" b="1">
                <a:solidFill>
                  <a:srgbClr val="000000"/>
                </a:solidFill>
                <a:latin typeface="Canva Sans Bold"/>
                <a:ea typeface="Canva Sans Bold"/>
                <a:cs typeface="Canva Sans Bold"/>
                <a:sym typeface="Canva Sans Bold"/>
              </a:endParaRPr>
            </a:p>
            <a:p>
              <a:pPr algn="l">
                <a:lnSpc>
                  <a:spcPts val="3103"/>
                </a:lnSpc>
                <a:spcBef>
                  <a:spcPct val="0"/>
                </a:spcBef>
              </a:pPr>
              <a:endParaRPr lang="en-US" sz="2216" b="1">
                <a:solidFill>
                  <a:srgbClr val="000000"/>
                </a:solidFill>
                <a:latin typeface="Canva Sans Bold"/>
                <a:ea typeface="Canva Sans Bold"/>
                <a:cs typeface="Canva Sans Bold"/>
                <a:sym typeface="Canva Sans Bold"/>
              </a:endParaRPr>
            </a:p>
            <a:p>
              <a:pPr algn="l">
                <a:lnSpc>
                  <a:spcPts val="3103"/>
                </a:lnSpc>
                <a:spcBef>
                  <a:spcPct val="0"/>
                </a:spcBef>
              </a:pPr>
              <a:r>
                <a:rPr lang="en-US" sz="2216" b="1">
                  <a:solidFill>
                    <a:srgbClr val="000000"/>
                  </a:solidFill>
                  <a:latin typeface="Canva Sans Bold"/>
                  <a:ea typeface="Canva Sans Bold"/>
                  <a:cs typeface="Canva Sans Bold"/>
                  <a:sym typeface="Canva Sans Bold"/>
                </a:rPr>
                <a:t>Các chức năng chính:</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Đăng ký tài khoản mới nếu chưa có</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Đăng nhập vào hệ thống</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Kiểm tra dữ liệu đầu vào</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Báo lỗi khi:</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Tài khoản không tồn tại</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Sai mật khẩu</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Trùng tài khoản khi đăng ký</a:t>
              </a:r>
              <a:endParaRPr lang="vi-VN" sz="2216" b="1">
                <a:solidFill>
                  <a:srgbClr val="000000"/>
                </a:solidFill>
                <a:latin typeface="Canva Sans Bold"/>
                <a:ea typeface="Canva Sans Bold"/>
                <a:cs typeface="Canva Sans Bold"/>
                <a:sym typeface="Canva Sans Bold"/>
              </a:endParaRPr>
            </a:p>
            <a:p>
              <a:pPr marL="957100" lvl="2" indent="-319033" algn="l">
                <a:lnSpc>
                  <a:spcPts val="3103"/>
                </a:lnSpc>
                <a:spcBef>
                  <a:spcPct val="0"/>
                </a:spcBef>
                <a:buFont typeface="Arial"/>
                <a:buChar char="⚬"/>
              </a:pPr>
              <a:endParaRPr lang="en-US" sz="2216" b="1">
                <a:solidFill>
                  <a:srgbClr val="000000"/>
                </a:solidFill>
                <a:latin typeface="Canva Sans Bold"/>
                <a:ea typeface="Canva Sans Bold"/>
                <a:cs typeface="Canva Sans Bold"/>
                <a:sym typeface="Canva Sans Bold"/>
              </a:endParaRPr>
            </a:p>
            <a:p>
              <a:pPr algn="l">
                <a:lnSpc>
                  <a:spcPts val="3103"/>
                </a:lnSpc>
                <a:spcBef>
                  <a:spcPct val="0"/>
                </a:spcBef>
              </a:pPr>
              <a:r>
                <a:rPr lang="en-US" sz="2216" b="1">
                  <a:solidFill>
                    <a:srgbClr val="000000"/>
                  </a:solidFill>
                  <a:latin typeface="Canva Sans Bold"/>
                  <a:ea typeface="Canva Sans Bold"/>
                  <a:cs typeface="Canva Sans Bold"/>
                  <a:sym typeface="Canva Sans Bold"/>
                </a:rPr>
                <a:t>⟶ LoginUI đảm bảo người dùng hợp lệ trước khi truy cập vào hệ thống game.</a:t>
              </a:r>
            </a:p>
          </p:txBody>
        </p:sp>
      </p:grpSp>
    </p:spTree>
    <p:extLst>
      <p:ext uri="{BB962C8B-B14F-4D97-AF65-F5344CB8AC3E}">
        <p14:creationId xmlns:p14="http://schemas.microsoft.com/office/powerpoint/2010/main" val="36434499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9905991" y="-85621"/>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2" name="TextBox 3">
            <a:extLst>
              <a:ext uri="{FF2B5EF4-FFF2-40B4-BE49-F238E27FC236}">
                <a16:creationId xmlns:a16="http://schemas.microsoft.com/office/drawing/2014/main" id="{74099873-FA70-48E8-8817-7E5E3E234723}"/>
              </a:ext>
            </a:extLst>
          </p:cNvPr>
          <p:cNvSpPr txBox="1"/>
          <p:nvPr/>
        </p:nvSpPr>
        <p:spPr>
          <a:xfrm>
            <a:off x="955818" y="1299693"/>
            <a:ext cx="3468754" cy="943913"/>
          </a:xfrm>
          <a:prstGeom prst="rect">
            <a:avLst/>
          </a:prstGeom>
        </p:spPr>
        <p:txBody>
          <a:bodyPr wrap="square" lIns="0" tIns="0" rIns="0" bIns="0" rtlCol="0" anchor="t">
            <a:spAutoFit/>
          </a:bodyPr>
          <a:lstStyle/>
          <a:p>
            <a:pPr>
              <a:lnSpc>
                <a:spcPts val="8599"/>
              </a:lnSpc>
            </a:pPr>
            <a:r>
              <a:rPr lang="en-US" sz="3999" b="1">
                <a:solidFill>
                  <a:srgbClr val="000000"/>
                </a:solidFill>
                <a:latin typeface="Canva Sans Bold"/>
                <a:ea typeface="Canva Sans Bold"/>
                <a:cs typeface="Canva Sans Bold"/>
                <a:sym typeface="Canva Sans Bold"/>
              </a:rPr>
              <a:t>1. GUI</a:t>
            </a:r>
          </a:p>
        </p:txBody>
      </p:sp>
      <p:sp>
        <p:nvSpPr>
          <p:cNvPr id="13" name="Freeform 4">
            <a:extLst>
              <a:ext uri="{FF2B5EF4-FFF2-40B4-BE49-F238E27FC236}">
                <a16:creationId xmlns:a16="http://schemas.microsoft.com/office/drawing/2014/main" id="{AC76A243-B7AB-499A-BB96-B8763406B0D3}"/>
              </a:ext>
            </a:extLst>
          </p:cNvPr>
          <p:cNvSpPr/>
          <p:nvPr/>
        </p:nvSpPr>
        <p:spPr>
          <a:xfrm>
            <a:off x="1600093" y="2684462"/>
            <a:ext cx="4708992" cy="5547140"/>
          </a:xfrm>
          <a:custGeom>
            <a:avLst/>
            <a:gdLst/>
            <a:ahLst/>
            <a:cxnLst/>
            <a:rect l="l" t="t" r="r" b="b"/>
            <a:pathLst>
              <a:path w="5161667" h="6117531">
                <a:moveTo>
                  <a:pt x="0" y="0"/>
                </a:moveTo>
                <a:lnTo>
                  <a:pt x="5161667" y="0"/>
                </a:lnTo>
                <a:lnTo>
                  <a:pt x="5161667" y="6117531"/>
                </a:lnTo>
                <a:lnTo>
                  <a:pt x="0" y="6117531"/>
                </a:lnTo>
                <a:lnTo>
                  <a:pt x="0" y="0"/>
                </a:lnTo>
                <a:close/>
              </a:path>
            </a:pathLst>
          </a:custGeom>
          <a:blipFill>
            <a:blip r:embed="rId6"/>
            <a:stretch>
              <a:fillRect/>
            </a:stretch>
          </a:blipFill>
        </p:spPr>
        <p:txBody>
          <a:bodyPr/>
          <a:lstStyle/>
          <a:p>
            <a:endParaRPr lang="en-US"/>
          </a:p>
        </p:txBody>
      </p:sp>
      <p:grpSp>
        <p:nvGrpSpPr>
          <p:cNvPr id="7" name="Group 6">
            <a:extLst>
              <a:ext uri="{FF2B5EF4-FFF2-40B4-BE49-F238E27FC236}">
                <a16:creationId xmlns:a16="http://schemas.microsoft.com/office/drawing/2014/main" id="{D0C64C70-8DAB-49AB-9EE8-CE61CDCBDB0F}"/>
              </a:ext>
            </a:extLst>
          </p:cNvPr>
          <p:cNvGrpSpPr/>
          <p:nvPr/>
        </p:nvGrpSpPr>
        <p:grpSpPr>
          <a:xfrm>
            <a:off x="6891847" y="3263944"/>
            <a:ext cx="8514838" cy="5826760"/>
            <a:chOff x="714738" y="4269740"/>
            <a:chExt cx="8514838" cy="5826760"/>
          </a:xfrm>
        </p:grpSpPr>
        <p:grpSp>
          <p:nvGrpSpPr>
            <p:cNvPr id="20" name="Group 2">
              <a:extLst>
                <a:ext uri="{FF2B5EF4-FFF2-40B4-BE49-F238E27FC236}">
                  <a16:creationId xmlns:a16="http://schemas.microsoft.com/office/drawing/2014/main" id="{4804801D-7D5A-4D2D-8B4A-7547045F4E8B}"/>
                </a:ext>
              </a:extLst>
            </p:cNvPr>
            <p:cNvGrpSpPr/>
            <p:nvPr/>
          </p:nvGrpSpPr>
          <p:grpSpPr>
            <a:xfrm>
              <a:off x="714738" y="4269740"/>
              <a:ext cx="8273758" cy="5826760"/>
              <a:chOff x="-1875054" y="323579"/>
              <a:chExt cx="3193467" cy="2725844"/>
            </a:xfrm>
          </p:grpSpPr>
          <p:sp>
            <p:nvSpPr>
              <p:cNvPr id="21" name="Freeform 3">
                <a:extLst>
                  <a:ext uri="{FF2B5EF4-FFF2-40B4-BE49-F238E27FC236}">
                    <a16:creationId xmlns:a16="http://schemas.microsoft.com/office/drawing/2014/main" id="{BB957CD8-8125-43A9-96BB-42F716BB6433}"/>
                  </a:ext>
                </a:extLst>
              </p:cNvPr>
              <p:cNvSpPr/>
              <p:nvPr/>
            </p:nvSpPr>
            <p:spPr>
              <a:xfrm>
                <a:off x="-1875054" y="323579"/>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19" name="TextBox 6">
              <a:extLst>
                <a:ext uri="{FF2B5EF4-FFF2-40B4-BE49-F238E27FC236}">
                  <a16:creationId xmlns:a16="http://schemas.microsoft.com/office/drawing/2014/main" id="{11FC5449-D4C0-4211-99CD-693796BE6E30}"/>
                </a:ext>
              </a:extLst>
            </p:cNvPr>
            <p:cNvSpPr txBox="1"/>
            <p:nvPr/>
          </p:nvSpPr>
          <p:spPr>
            <a:xfrm>
              <a:off x="955818" y="4400073"/>
              <a:ext cx="8273758" cy="5530938"/>
            </a:xfrm>
            <a:prstGeom prst="rect">
              <a:avLst/>
            </a:prstGeom>
          </p:spPr>
          <p:txBody>
            <a:bodyPr lIns="0" tIns="0" rIns="0" bIns="0" rtlCol="0" anchor="t">
              <a:spAutoFit/>
            </a:bodyPr>
            <a:lstStyle/>
            <a:p>
              <a:pPr algn="l">
                <a:lnSpc>
                  <a:spcPts val="3103"/>
                </a:lnSpc>
                <a:spcBef>
                  <a:spcPct val="0"/>
                </a:spcBef>
              </a:pPr>
              <a:r>
                <a:rPr lang="en-US" sz="2216" b="1">
                  <a:solidFill>
                    <a:srgbClr val="000000"/>
                  </a:solidFill>
                  <a:latin typeface="Canva Sans Bold"/>
                  <a:ea typeface="Canva Sans Bold"/>
                  <a:cs typeface="Canva Sans Bold"/>
                  <a:sym typeface="Canva Sans Bold"/>
                </a:rPr>
                <a:t>LoginUI chịu trách nhiệm xác thực người dùng và kết nối server, là bước khởi đầu trước khi vào hệ thống game.</a:t>
              </a:r>
              <a:endParaRPr lang="vi-VN" sz="2216" b="1">
                <a:solidFill>
                  <a:srgbClr val="000000"/>
                </a:solidFill>
                <a:latin typeface="Canva Sans Bold"/>
                <a:ea typeface="Canva Sans Bold"/>
                <a:cs typeface="Canva Sans Bold"/>
                <a:sym typeface="Canva Sans Bold"/>
              </a:endParaRPr>
            </a:p>
            <a:p>
              <a:pPr algn="l">
                <a:lnSpc>
                  <a:spcPts val="3103"/>
                </a:lnSpc>
                <a:spcBef>
                  <a:spcPct val="0"/>
                </a:spcBef>
              </a:pPr>
              <a:endParaRPr lang="en-US" sz="2216" b="1">
                <a:solidFill>
                  <a:srgbClr val="000000"/>
                </a:solidFill>
                <a:latin typeface="Canva Sans Bold"/>
                <a:ea typeface="Canva Sans Bold"/>
                <a:cs typeface="Canva Sans Bold"/>
                <a:sym typeface="Canva Sans Bold"/>
              </a:endParaRPr>
            </a:p>
            <a:p>
              <a:pPr algn="l">
                <a:lnSpc>
                  <a:spcPts val="3103"/>
                </a:lnSpc>
                <a:spcBef>
                  <a:spcPct val="0"/>
                </a:spcBef>
              </a:pPr>
              <a:r>
                <a:rPr lang="en-US" sz="2216" b="1">
                  <a:solidFill>
                    <a:srgbClr val="000000"/>
                  </a:solidFill>
                  <a:latin typeface="Canva Sans Bold"/>
                  <a:ea typeface="Canva Sans Bold"/>
                  <a:cs typeface="Canva Sans Bold"/>
                  <a:sym typeface="Canva Sans Bold"/>
                </a:rPr>
                <a:t>Các chức năng chính:</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Đăng ký tài khoản mới nếu chưa có</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Đăng nhập vào hệ thống</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Kiểm tra dữ liệu đầu vào</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Báo lỗi khi:</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Tài khoản không tồn tại</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Sai mật khẩu</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Trùng tài khoản khi đăng ký</a:t>
              </a:r>
              <a:endParaRPr lang="vi-VN" sz="2216" b="1">
                <a:solidFill>
                  <a:srgbClr val="000000"/>
                </a:solidFill>
                <a:latin typeface="Canva Sans Bold"/>
                <a:ea typeface="Canva Sans Bold"/>
                <a:cs typeface="Canva Sans Bold"/>
                <a:sym typeface="Canva Sans Bold"/>
              </a:endParaRPr>
            </a:p>
            <a:p>
              <a:pPr marL="957100" lvl="2" indent="-319033" algn="l">
                <a:lnSpc>
                  <a:spcPts val="3103"/>
                </a:lnSpc>
                <a:spcBef>
                  <a:spcPct val="0"/>
                </a:spcBef>
                <a:buFont typeface="Arial"/>
                <a:buChar char="⚬"/>
              </a:pPr>
              <a:endParaRPr lang="en-US" sz="2216" b="1">
                <a:solidFill>
                  <a:srgbClr val="000000"/>
                </a:solidFill>
                <a:latin typeface="Canva Sans Bold"/>
                <a:ea typeface="Canva Sans Bold"/>
                <a:cs typeface="Canva Sans Bold"/>
                <a:sym typeface="Canva Sans Bold"/>
              </a:endParaRPr>
            </a:p>
            <a:p>
              <a:pPr algn="l">
                <a:lnSpc>
                  <a:spcPts val="3103"/>
                </a:lnSpc>
                <a:spcBef>
                  <a:spcPct val="0"/>
                </a:spcBef>
              </a:pPr>
              <a:r>
                <a:rPr lang="en-US" sz="2216" b="1">
                  <a:solidFill>
                    <a:srgbClr val="000000"/>
                  </a:solidFill>
                  <a:latin typeface="Canva Sans Bold"/>
                  <a:ea typeface="Canva Sans Bold"/>
                  <a:cs typeface="Canva Sans Bold"/>
                  <a:sym typeface="Canva Sans Bold"/>
                </a:rPr>
                <a:t>⟶ LoginUI đảm bảo người dùng hợp lệ trước khi truy cập vào hệ thống game.</a:t>
              </a:r>
            </a:p>
          </p:txBody>
        </p:sp>
      </p:grpSp>
      <p:sp>
        <p:nvSpPr>
          <p:cNvPr id="23" name="Freeform 2">
            <a:extLst>
              <a:ext uri="{FF2B5EF4-FFF2-40B4-BE49-F238E27FC236}">
                <a16:creationId xmlns:a16="http://schemas.microsoft.com/office/drawing/2014/main" id="{90F61AD1-9A97-4E81-9C3F-8D96E42F76A5}"/>
              </a:ext>
            </a:extLst>
          </p:cNvPr>
          <p:cNvSpPr/>
          <p:nvPr/>
        </p:nvSpPr>
        <p:spPr>
          <a:xfrm>
            <a:off x="-8761693" y="2732345"/>
            <a:ext cx="4084626" cy="5239595"/>
          </a:xfrm>
          <a:custGeom>
            <a:avLst/>
            <a:gdLst/>
            <a:ahLst/>
            <a:cxnLst/>
            <a:rect l="l" t="t" r="r" b="b"/>
            <a:pathLst>
              <a:path w="3591490" h="4288060">
                <a:moveTo>
                  <a:pt x="0" y="0"/>
                </a:moveTo>
                <a:lnTo>
                  <a:pt x="3591490" y="0"/>
                </a:lnTo>
                <a:lnTo>
                  <a:pt x="3591490" y="4288060"/>
                </a:lnTo>
                <a:lnTo>
                  <a:pt x="0" y="4288060"/>
                </a:lnTo>
                <a:lnTo>
                  <a:pt x="0" y="0"/>
                </a:lnTo>
                <a:close/>
              </a:path>
            </a:pathLst>
          </a:custGeom>
          <a:blipFill>
            <a:blip r:embed="rId7"/>
            <a:stretch>
              <a:fillRect/>
            </a:stretch>
          </a:blipFill>
        </p:spPr>
      </p:sp>
      <p:sp>
        <p:nvSpPr>
          <p:cNvPr id="24" name="Freeform 3">
            <a:extLst>
              <a:ext uri="{FF2B5EF4-FFF2-40B4-BE49-F238E27FC236}">
                <a16:creationId xmlns:a16="http://schemas.microsoft.com/office/drawing/2014/main" id="{96BCA924-BF4C-4602-9CB5-A850B7553E0F}"/>
              </a:ext>
            </a:extLst>
          </p:cNvPr>
          <p:cNvSpPr/>
          <p:nvPr/>
        </p:nvSpPr>
        <p:spPr>
          <a:xfrm>
            <a:off x="-4440720" y="2732344"/>
            <a:ext cx="3909753" cy="5239595"/>
          </a:xfrm>
          <a:custGeom>
            <a:avLst/>
            <a:gdLst/>
            <a:ahLst/>
            <a:cxnLst/>
            <a:rect l="l" t="t" r="r" b="b"/>
            <a:pathLst>
              <a:path w="3437729" h="4288060">
                <a:moveTo>
                  <a:pt x="0" y="0"/>
                </a:moveTo>
                <a:lnTo>
                  <a:pt x="3437728" y="0"/>
                </a:lnTo>
                <a:lnTo>
                  <a:pt x="3437728" y="4288060"/>
                </a:lnTo>
                <a:lnTo>
                  <a:pt x="0" y="4288060"/>
                </a:lnTo>
                <a:lnTo>
                  <a:pt x="0" y="0"/>
                </a:lnTo>
                <a:close/>
              </a:path>
            </a:pathLst>
          </a:custGeom>
          <a:blipFill>
            <a:blip r:embed="rId8"/>
            <a:stretch>
              <a:fillRect l="-2143" r="-2143"/>
            </a:stretch>
          </a:blipFill>
        </p:spPr>
      </p:sp>
      <p:sp>
        <p:nvSpPr>
          <p:cNvPr id="25" name="Freeform 4">
            <a:extLst>
              <a:ext uri="{FF2B5EF4-FFF2-40B4-BE49-F238E27FC236}">
                <a16:creationId xmlns:a16="http://schemas.microsoft.com/office/drawing/2014/main" id="{9B40E433-8AC1-4985-BABD-CE2E8BDA7A9C}"/>
              </a:ext>
            </a:extLst>
          </p:cNvPr>
          <p:cNvSpPr/>
          <p:nvPr/>
        </p:nvSpPr>
        <p:spPr>
          <a:xfrm>
            <a:off x="23276934" y="2746998"/>
            <a:ext cx="4939698" cy="5239595"/>
          </a:xfrm>
          <a:custGeom>
            <a:avLst/>
            <a:gdLst/>
            <a:ahLst/>
            <a:cxnLst/>
            <a:rect l="l" t="t" r="r" b="b"/>
            <a:pathLst>
              <a:path w="4343329" h="4172870">
                <a:moveTo>
                  <a:pt x="0" y="0"/>
                </a:moveTo>
                <a:lnTo>
                  <a:pt x="4343329" y="0"/>
                </a:lnTo>
                <a:lnTo>
                  <a:pt x="4343329" y="4172869"/>
                </a:lnTo>
                <a:lnTo>
                  <a:pt x="0" y="4172869"/>
                </a:lnTo>
                <a:lnTo>
                  <a:pt x="0" y="0"/>
                </a:lnTo>
                <a:close/>
              </a:path>
            </a:pathLst>
          </a:custGeom>
          <a:blipFill>
            <a:blip r:embed="rId9"/>
            <a:stretch>
              <a:fillRect l="-1149" t="-581" r="-1149"/>
            </a:stretch>
          </a:blipFill>
        </p:spPr>
      </p:sp>
      <p:sp>
        <p:nvSpPr>
          <p:cNvPr id="26" name="Freeform 5">
            <a:extLst>
              <a:ext uri="{FF2B5EF4-FFF2-40B4-BE49-F238E27FC236}">
                <a16:creationId xmlns:a16="http://schemas.microsoft.com/office/drawing/2014/main" id="{E1EA291F-E422-497F-A9BA-F1AC6388AF75}"/>
              </a:ext>
            </a:extLst>
          </p:cNvPr>
          <p:cNvSpPr/>
          <p:nvPr/>
        </p:nvSpPr>
        <p:spPr>
          <a:xfrm>
            <a:off x="18918436" y="2746999"/>
            <a:ext cx="4060596" cy="5239595"/>
          </a:xfrm>
          <a:custGeom>
            <a:avLst/>
            <a:gdLst/>
            <a:ahLst/>
            <a:cxnLst/>
            <a:rect l="l" t="t" r="r" b="b"/>
            <a:pathLst>
              <a:path w="3570361" h="4288060">
                <a:moveTo>
                  <a:pt x="0" y="0"/>
                </a:moveTo>
                <a:lnTo>
                  <a:pt x="3570361" y="0"/>
                </a:lnTo>
                <a:lnTo>
                  <a:pt x="3570361" y="4288060"/>
                </a:lnTo>
                <a:lnTo>
                  <a:pt x="0" y="4288060"/>
                </a:lnTo>
                <a:lnTo>
                  <a:pt x="0" y="0"/>
                </a:lnTo>
                <a:close/>
              </a:path>
            </a:pathLst>
          </a:custGeom>
          <a:blipFill>
            <a:blip r:embed="rId10"/>
            <a:stretch>
              <a:fillRect l="-1087" r="-1087"/>
            </a:stretch>
          </a:blipFill>
        </p:spPr>
      </p:sp>
      <p:sp>
        <p:nvSpPr>
          <p:cNvPr id="27" name="TextBox 3">
            <a:extLst>
              <a:ext uri="{FF2B5EF4-FFF2-40B4-BE49-F238E27FC236}">
                <a16:creationId xmlns:a16="http://schemas.microsoft.com/office/drawing/2014/main" id="{EDBF765E-E96E-4D58-B0BC-641301D334C0}"/>
              </a:ext>
            </a:extLst>
          </p:cNvPr>
          <p:cNvSpPr txBox="1"/>
          <p:nvPr/>
        </p:nvSpPr>
        <p:spPr>
          <a:xfrm>
            <a:off x="6930390" y="2154542"/>
            <a:ext cx="3468754"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Login</a:t>
            </a:r>
            <a:endParaRPr lang="en-US" sz="3999" b="1">
              <a:solidFill>
                <a:srgbClr val="000000"/>
              </a:solidFill>
              <a:latin typeface="Canva Sans Bold"/>
              <a:ea typeface="Canva Sans Bold"/>
              <a:cs typeface="Canva Sans Bold"/>
              <a:sym typeface="Canva Sans Bold"/>
            </a:endParaRPr>
          </a:p>
        </p:txBody>
      </p:sp>
    </p:spTree>
    <p:extLst>
      <p:ext uri="{BB962C8B-B14F-4D97-AF65-F5344CB8AC3E}">
        <p14:creationId xmlns:p14="http://schemas.microsoft.com/office/powerpoint/2010/main" val="1299450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3">
            <a:lumMod val="60000"/>
            <a:lumOff val="40000"/>
          </a:schemeClr>
        </a:solidFill>
        <a:effectLst/>
      </p:bgPr>
    </p:bg>
    <p:spTree>
      <p:nvGrpSpPr>
        <p:cNvPr id="1" name=""/>
        <p:cNvGrpSpPr/>
        <p:nvPr/>
      </p:nvGrpSpPr>
      <p:grpSpPr>
        <a:xfrm>
          <a:off x="0" y="0"/>
          <a:ext cx="0" cy="0"/>
          <a:chOff x="0" y="0"/>
          <a:chExt cx="0" cy="0"/>
        </a:xfrm>
      </p:grpSpPr>
      <p:sp>
        <p:nvSpPr>
          <p:cNvPr id="2" name="TextBox 2"/>
          <p:cNvSpPr txBox="1"/>
          <p:nvPr/>
        </p:nvSpPr>
        <p:spPr>
          <a:xfrm>
            <a:off x="415782" y="-2237726"/>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2982498" y="-2314756"/>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188241" y="8232162"/>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9906000" y="-2237726"/>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5" name="Group 15"/>
          <p:cNvGrpSpPr/>
          <p:nvPr/>
        </p:nvGrpSpPr>
        <p:grpSpPr>
          <a:xfrm rot="-10800000">
            <a:off x="16700176" y="-1953879"/>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2" name="TextBox 3">
            <a:extLst>
              <a:ext uri="{FF2B5EF4-FFF2-40B4-BE49-F238E27FC236}">
                <a16:creationId xmlns:a16="http://schemas.microsoft.com/office/drawing/2014/main" id="{74099873-FA70-48E8-8817-7E5E3E234723}"/>
              </a:ext>
            </a:extLst>
          </p:cNvPr>
          <p:cNvSpPr txBox="1"/>
          <p:nvPr/>
        </p:nvSpPr>
        <p:spPr>
          <a:xfrm>
            <a:off x="838200" y="-1409700"/>
            <a:ext cx="3468754" cy="943913"/>
          </a:xfrm>
          <a:prstGeom prst="rect">
            <a:avLst/>
          </a:prstGeom>
        </p:spPr>
        <p:txBody>
          <a:bodyPr wrap="square" lIns="0" tIns="0" rIns="0" bIns="0" rtlCol="0" anchor="t">
            <a:spAutoFit/>
          </a:bodyPr>
          <a:lstStyle/>
          <a:p>
            <a:pPr>
              <a:lnSpc>
                <a:spcPts val="8599"/>
              </a:lnSpc>
            </a:pPr>
            <a:r>
              <a:rPr lang="en-US" sz="3999" b="1">
                <a:solidFill>
                  <a:srgbClr val="000000"/>
                </a:solidFill>
                <a:latin typeface="Canva Sans Bold"/>
                <a:ea typeface="Canva Sans Bold"/>
                <a:cs typeface="Canva Sans Bold"/>
                <a:sym typeface="Canva Sans Bold"/>
              </a:rPr>
              <a:t>1. GUI</a:t>
            </a:r>
          </a:p>
        </p:txBody>
      </p:sp>
      <p:sp>
        <p:nvSpPr>
          <p:cNvPr id="13" name="Freeform 4">
            <a:extLst>
              <a:ext uri="{FF2B5EF4-FFF2-40B4-BE49-F238E27FC236}">
                <a16:creationId xmlns:a16="http://schemas.microsoft.com/office/drawing/2014/main" id="{AC76A243-B7AB-499A-BB96-B8763406B0D3}"/>
              </a:ext>
            </a:extLst>
          </p:cNvPr>
          <p:cNvSpPr/>
          <p:nvPr/>
        </p:nvSpPr>
        <p:spPr>
          <a:xfrm>
            <a:off x="-7054537" y="3023687"/>
            <a:ext cx="4708992" cy="5547140"/>
          </a:xfrm>
          <a:custGeom>
            <a:avLst/>
            <a:gdLst/>
            <a:ahLst/>
            <a:cxnLst/>
            <a:rect l="l" t="t" r="r" b="b"/>
            <a:pathLst>
              <a:path w="5161667" h="6117531">
                <a:moveTo>
                  <a:pt x="0" y="0"/>
                </a:moveTo>
                <a:lnTo>
                  <a:pt x="5161667" y="0"/>
                </a:lnTo>
                <a:lnTo>
                  <a:pt x="5161667" y="6117531"/>
                </a:lnTo>
                <a:lnTo>
                  <a:pt x="0" y="6117531"/>
                </a:lnTo>
                <a:lnTo>
                  <a:pt x="0" y="0"/>
                </a:lnTo>
                <a:close/>
              </a:path>
            </a:pathLst>
          </a:custGeom>
          <a:blipFill>
            <a:blip r:embed="rId6"/>
            <a:stretch>
              <a:fillRect/>
            </a:stretch>
          </a:blipFill>
        </p:spPr>
      </p:sp>
      <p:grpSp>
        <p:nvGrpSpPr>
          <p:cNvPr id="7" name="Group 6">
            <a:extLst>
              <a:ext uri="{FF2B5EF4-FFF2-40B4-BE49-F238E27FC236}">
                <a16:creationId xmlns:a16="http://schemas.microsoft.com/office/drawing/2014/main" id="{D0C64C70-8DAB-49AB-9EE8-CE61CDCBDB0F}"/>
              </a:ext>
            </a:extLst>
          </p:cNvPr>
          <p:cNvGrpSpPr/>
          <p:nvPr/>
        </p:nvGrpSpPr>
        <p:grpSpPr>
          <a:xfrm>
            <a:off x="18667574" y="2744067"/>
            <a:ext cx="8514838" cy="5826760"/>
            <a:chOff x="714738" y="4269740"/>
            <a:chExt cx="8514838" cy="5826760"/>
          </a:xfrm>
        </p:grpSpPr>
        <p:grpSp>
          <p:nvGrpSpPr>
            <p:cNvPr id="20" name="Group 2">
              <a:extLst>
                <a:ext uri="{FF2B5EF4-FFF2-40B4-BE49-F238E27FC236}">
                  <a16:creationId xmlns:a16="http://schemas.microsoft.com/office/drawing/2014/main" id="{4804801D-7D5A-4D2D-8B4A-7547045F4E8B}"/>
                </a:ext>
              </a:extLst>
            </p:cNvPr>
            <p:cNvGrpSpPr/>
            <p:nvPr/>
          </p:nvGrpSpPr>
          <p:grpSpPr>
            <a:xfrm>
              <a:off x="714738" y="4269740"/>
              <a:ext cx="8273758" cy="5826760"/>
              <a:chOff x="-1875054" y="323579"/>
              <a:chExt cx="3193467" cy="2725844"/>
            </a:xfrm>
          </p:grpSpPr>
          <p:sp>
            <p:nvSpPr>
              <p:cNvPr id="21" name="Freeform 3">
                <a:extLst>
                  <a:ext uri="{FF2B5EF4-FFF2-40B4-BE49-F238E27FC236}">
                    <a16:creationId xmlns:a16="http://schemas.microsoft.com/office/drawing/2014/main" id="{BB957CD8-8125-43A9-96BB-42F716BB6433}"/>
                  </a:ext>
                </a:extLst>
              </p:cNvPr>
              <p:cNvSpPr/>
              <p:nvPr/>
            </p:nvSpPr>
            <p:spPr>
              <a:xfrm>
                <a:off x="-1875054" y="323579"/>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19" name="TextBox 6">
              <a:extLst>
                <a:ext uri="{FF2B5EF4-FFF2-40B4-BE49-F238E27FC236}">
                  <a16:creationId xmlns:a16="http://schemas.microsoft.com/office/drawing/2014/main" id="{11FC5449-D4C0-4211-99CD-693796BE6E30}"/>
                </a:ext>
              </a:extLst>
            </p:cNvPr>
            <p:cNvSpPr txBox="1"/>
            <p:nvPr/>
          </p:nvSpPr>
          <p:spPr>
            <a:xfrm>
              <a:off x="955818" y="4400073"/>
              <a:ext cx="8273758" cy="5530938"/>
            </a:xfrm>
            <a:prstGeom prst="rect">
              <a:avLst/>
            </a:prstGeom>
          </p:spPr>
          <p:txBody>
            <a:bodyPr lIns="0" tIns="0" rIns="0" bIns="0" rtlCol="0" anchor="t">
              <a:spAutoFit/>
            </a:bodyPr>
            <a:lstStyle/>
            <a:p>
              <a:pPr algn="l">
                <a:lnSpc>
                  <a:spcPts val="3103"/>
                </a:lnSpc>
                <a:spcBef>
                  <a:spcPct val="0"/>
                </a:spcBef>
              </a:pPr>
              <a:r>
                <a:rPr lang="en-US" sz="2216" b="1">
                  <a:solidFill>
                    <a:srgbClr val="000000"/>
                  </a:solidFill>
                  <a:latin typeface="Canva Sans Bold"/>
                  <a:ea typeface="Canva Sans Bold"/>
                  <a:cs typeface="Canva Sans Bold"/>
                  <a:sym typeface="Canva Sans Bold"/>
                </a:rPr>
                <a:t>LoginUI chịu trách nhiệm xác thực người dùng và kết nối server, là bước khởi đầu trước khi vào hệ thống game.</a:t>
              </a:r>
              <a:endParaRPr lang="vi-VN" sz="2216" b="1">
                <a:solidFill>
                  <a:srgbClr val="000000"/>
                </a:solidFill>
                <a:latin typeface="Canva Sans Bold"/>
                <a:ea typeface="Canva Sans Bold"/>
                <a:cs typeface="Canva Sans Bold"/>
                <a:sym typeface="Canva Sans Bold"/>
              </a:endParaRPr>
            </a:p>
            <a:p>
              <a:pPr algn="l">
                <a:lnSpc>
                  <a:spcPts val="3103"/>
                </a:lnSpc>
                <a:spcBef>
                  <a:spcPct val="0"/>
                </a:spcBef>
              </a:pPr>
              <a:endParaRPr lang="en-US" sz="2216" b="1">
                <a:solidFill>
                  <a:srgbClr val="000000"/>
                </a:solidFill>
                <a:latin typeface="Canva Sans Bold"/>
                <a:ea typeface="Canva Sans Bold"/>
                <a:cs typeface="Canva Sans Bold"/>
                <a:sym typeface="Canva Sans Bold"/>
              </a:endParaRPr>
            </a:p>
            <a:p>
              <a:pPr algn="l">
                <a:lnSpc>
                  <a:spcPts val="3103"/>
                </a:lnSpc>
                <a:spcBef>
                  <a:spcPct val="0"/>
                </a:spcBef>
              </a:pPr>
              <a:r>
                <a:rPr lang="en-US" sz="2216" b="1">
                  <a:solidFill>
                    <a:srgbClr val="000000"/>
                  </a:solidFill>
                  <a:latin typeface="Canva Sans Bold"/>
                  <a:ea typeface="Canva Sans Bold"/>
                  <a:cs typeface="Canva Sans Bold"/>
                  <a:sym typeface="Canva Sans Bold"/>
                </a:rPr>
                <a:t>Các chức năng chính:</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Đăng ký tài khoản mới nếu chưa có</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Đăng nhập vào hệ thống</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Kiểm tra dữ liệu đầu vào</a:t>
              </a:r>
            </a:p>
            <a:p>
              <a:pPr marL="478550" lvl="1" indent="-239275"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Báo lỗi khi:</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Tài khoản không tồn tại</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Sai mật khẩu</a:t>
              </a:r>
            </a:p>
            <a:p>
              <a:pPr marL="957100" lvl="2" indent="-319033" algn="l">
                <a:lnSpc>
                  <a:spcPts val="3103"/>
                </a:lnSpc>
                <a:spcBef>
                  <a:spcPct val="0"/>
                </a:spcBef>
                <a:buFont typeface="Arial"/>
                <a:buChar char="⚬"/>
              </a:pPr>
              <a:r>
                <a:rPr lang="en-US" sz="2216" b="1">
                  <a:solidFill>
                    <a:srgbClr val="000000"/>
                  </a:solidFill>
                  <a:latin typeface="Canva Sans Bold"/>
                  <a:ea typeface="Canva Sans Bold"/>
                  <a:cs typeface="Canva Sans Bold"/>
                  <a:sym typeface="Canva Sans Bold"/>
                </a:rPr>
                <a:t>Trùng tài khoản khi đăng ký</a:t>
              </a:r>
              <a:endParaRPr lang="vi-VN" sz="2216" b="1">
                <a:solidFill>
                  <a:srgbClr val="000000"/>
                </a:solidFill>
                <a:latin typeface="Canva Sans Bold"/>
                <a:ea typeface="Canva Sans Bold"/>
                <a:cs typeface="Canva Sans Bold"/>
                <a:sym typeface="Canva Sans Bold"/>
              </a:endParaRPr>
            </a:p>
            <a:p>
              <a:pPr marL="957100" lvl="2" indent="-319033" algn="l">
                <a:lnSpc>
                  <a:spcPts val="3103"/>
                </a:lnSpc>
                <a:spcBef>
                  <a:spcPct val="0"/>
                </a:spcBef>
                <a:buFont typeface="Arial"/>
                <a:buChar char="⚬"/>
              </a:pPr>
              <a:endParaRPr lang="en-US" sz="2216" b="1">
                <a:solidFill>
                  <a:srgbClr val="000000"/>
                </a:solidFill>
                <a:latin typeface="Canva Sans Bold"/>
                <a:ea typeface="Canva Sans Bold"/>
                <a:cs typeface="Canva Sans Bold"/>
                <a:sym typeface="Canva Sans Bold"/>
              </a:endParaRPr>
            </a:p>
            <a:p>
              <a:pPr algn="l">
                <a:lnSpc>
                  <a:spcPts val="3103"/>
                </a:lnSpc>
                <a:spcBef>
                  <a:spcPct val="0"/>
                </a:spcBef>
              </a:pPr>
              <a:r>
                <a:rPr lang="en-US" sz="2216" b="1">
                  <a:solidFill>
                    <a:srgbClr val="000000"/>
                  </a:solidFill>
                  <a:latin typeface="Canva Sans Bold"/>
                  <a:ea typeface="Canva Sans Bold"/>
                  <a:cs typeface="Canva Sans Bold"/>
                  <a:sym typeface="Canva Sans Bold"/>
                </a:rPr>
                <a:t>⟶ LoginUI đảm bảo người dùng hợp lệ trước khi truy cập vào hệ thống game.</a:t>
              </a:r>
            </a:p>
          </p:txBody>
        </p:sp>
      </p:grpSp>
      <p:sp>
        <p:nvSpPr>
          <p:cNvPr id="18" name="Freeform 2">
            <a:extLst>
              <a:ext uri="{FF2B5EF4-FFF2-40B4-BE49-F238E27FC236}">
                <a16:creationId xmlns:a16="http://schemas.microsoft.com/office/drawing/2014/main" id="{CE08E4ED-E7E1-4AB2-BB96-6C966368605F}"/>
              </a:ext>
            </a:extLst>
          </p:cNvPr>
          <p:cNvSpPr/>
          <p:nvPr/>
        </p:nvSpPr>
        <p:spPr>
          <a:xfrm>
            <a:off x="222328" y="2744067"/>
            <a:ext cx="4084626" cy="5239595"/>
          </a:xfrm>
          <a:custGeom>
            <a:avLst/>
            <a:gdLst/>
            <a:ahLst/>
            <a:cxnLst/>
            <a:rect l="l" t="t" r="r" b="b"/>
            <a:pathLst>
              <a:path w="3591490" h="4288060">
                <a:moveTo>
                  <a:pt x="0" y="0"/>
                </a:moveTo>
                <a:lnTo>
                  <a:pt x="3591490" y="0"/>
                </a:lnTo>
                <a:lnTo>
                  <a:pt x="3591490" y="4288060"/>
                </a:lnTo>
                <a:lnTo>
                  <a:pt x="0" y="4288060"/>
                </a:lnTo>
                <a:lnTo>
                  <a:pt x="0" y="0"/>
                </a:lnTo>
                <a:close/>
              </a:path>
            </a:pathLst>
          </a:custGeom>
          <a:blipFill>
            <a:blip r:embed="rId7"/>
            <a:stretch>
              <a:fillRect/>
            </a:stretch>
          </a:blipFill>
        </p:spPr>
      </p:sp>
      <p:sp>
        <p:nvSpPr>
          <p:cNvPr id="23" name="Freeform 3">
            <a:extLst>
              <a:ext uri="{FF2B5EF4-FFF2-40B4-BE49-F238E27FC236}">
                <a16:creationId xmlns:a16="http://schemas.microsoft.com/office/drawing/2014/main" id="{E106523F-19BA-403E-A9DE-B37568A87F11}"/>
              </a:ext>
            </a:extLst>
          </p:cNvPr>
          <p:cNvSpPr/>
          <p:nvPr/>
        </p:nvSpPr>
        <p:spPr>
          <a:xfrm>
            <a:off x="4543301" y="2744066"/>
            <a:ext cx="3909753" cy="5239595"/>
          </a:xfrm>
          <a:custGeom>
            <a:avLst/>
            <a:gdLst/>
            <a:ahLst/>
            <a:cxnLst/>
            <a:rect l="l" t="t" r="r" b="b"/>
            <a:pathLst>
              <a:path w="3437729" h="4288060">
                <a:moveTo>
                  <a:pt x="0" y="0"/>
                </a:moveTo>
                <a:lnTo>
                  <a:pt x="3437728" y="0"/>
                </a:lnTo>
                <a:lnTo>
                  <a:pt x="3437728" y="4288060"/>
                </a:lnTo>
                <a:lnTo>
                  <a:pt x="0" y="4288060"/>
                </a:lnTo>
                <a:lnTo>
                  <a:pt x="0" y="0"/>
                </a:lnTo>
                <a:close/>
              </a:path>
            </a:pathLst>
          </a:custGeom>
          <a:blipFill>
            <a:blip r:embed="rId8"/>
            <a:stretch>
              <a:fillRect l="-2143" r="-2143"/>
            </a:stretch>
          </a:blipFill>
        </p:spPr>
      </p:sp>
      <p:sp>
        <p:nvSpPr>
          <p:cNvPr id="24" name="Freeform 4">
            <a:extLst>
              <a:ext uri="{FF2B5EF4-FFF2-40B4-BE49-F238E27FC236}">
                <a16:creationId xmlns:a16="http://schemas.microsoft.com/office/drawing/2014/main" id="{2F44B585-A960-4E5E-8E28-2A72248ABAF8}"/>
              </a:ext>
            </a:extLst>
          </p:cNvPr>
          <p:cNvSpPr/>
          <p:nvPr/>
        </p:nvSpPr>
        <p:spPr>
          <a:xfrm>
            <a:off x="13047899" y="2744064"/>
            <a:ext cx="4939698" cy="5239595"/>
          </a:xfrm>
          <a:custGeom>
            <a:avLst/>
            <a:gdLst/>
            <a:ahLst/>
            <a:cxnLst/>
            <a:rect l="l" t="t" r="r" b="b"/>
            <a:pathLst>
              <a:path w="4343329" h="4172870">
                <a:moveTo>
                  <a:pt x="0" y="0"/>
                </a:moveTo>
                <a:lnTo>
                  <a:pt x="4343329" y="0"/>
                </a:lnTo>
                <a:lnTo>
                  <a:pt x="4343329" y="4172869"/>
                </a:lnTo>
                <a:lnTo>
                  <a:pt x="0" y="4172869"/>
                </a:lnTo>
                <a:lnTo>
                  <a:pt x="0" y="0"/>
                </a:lnTo>
                <a:close/>
              </a:path>
            </a:pathLst>
          </a:custGeom>
          <a:blipFill>
            <a:blip r:embed="rId9"/>
            <a:stretch>
              <a:fillRect l="-1149" t="-581" r="-1149"/>
            </a:stretch>
          </a:blipFill>
        </p:spPr>
      </p:sp>
      <p:sp>
        <p:nvSpPr>
          <p:cNvPr id="25" name="Freeform 5">
            <a:extLst>
              <a:ext uri="{FF2B5EF4-FFF2-40B4-BE49-F238E27FC236}">
                <a16:creationId xmlns:a16="http://schemas.microsoft.com/office/drawing/2014/main" id="{7ED245A1-F6F3-416F-BF59-202F33E5AA5A}"/>
              </a:ext>
            </a:extLst>
          </p:cNvPr>
          <p:cNvSpPr/>
          <p:nvPr/>
        </p:nvSpPr>
        <p:spPr>
          <a:xfrm>
            <a:off x="8689401" y="2744065"/>
            <a:ext cx="4060596" cy="5239595"/>
          </a:xfrm>
          <a:custGeom>
            <a:avLst/>
            <a:gdLst/>
            <a:ahLst/>
            <a:cxnLst/>
            <a:rect l="l" t="t" r="r" b="b"/>
            <a:pathLst>
              <a:path w="3570361" h="4288060">
                <a:moveTo>
                  <a:pt x="0" y="0"/>
                </a:moveTo>
                <a:lnTo>
                  <a:pt x="3570361" y="0"/>
                </a:lnTo>
                <a:lnTo>
                  <a:pt x="3570361" y="4288060"/>
                </a:lnTo>
                <a:lnTo>
                  <a:pt x="0" y="4288060"/>
                </a:lnTo>
                <a:lnTo>
                  <a:pt x="0" y="0"/>
                </a:lnTo>
                <a:close/>
              </a:path>
            </a:pathLst>
          </a:custGeom>
          <a:blipFill>
            <a:blip r:embed="rId10"/>
            <a:stretch>
              <a:fillRect l="-1087" r="-1087"/>
            </a:stretch>
          </a:blipFill>
        </p:spPr>
      </p:sp>
    </p:spTree>
    <p:extLst>
      <p:ext uri="{BB962C8B-B14F-4D97-AF65-F5344CB8AC3E}">
        <p14:creationId xmlns:p14="http://schemas.microsoft.com/office/powerpoint/2010/main" val="22613459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11394073" y="890288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5928372" y="-146439"/>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8" name="Freeform 2">
            <a:extLst>
              <a:ext uri="{FF2B5EF4-FFF2-40B4-BE49-F238E27FC236}">
                <a16:creationId xmlns:a16="http://schemas.microsoft.com/office/drawing/2014/main" id="{5BCC312F-AB86-41FC-BCF6-9D3A4B2D87A6}"/>
              </a:ext>
            </a:extLst>
          </p:cNvPr>
          <p:cNvSpPr/>
          <p:nvPr/>
        </p:nvSpPr>
        <p:spPr>
          <a:xfrm>
            <a:off x="-8761693" y="2732345"/>
            <a:ext cx="4084626" cy="5239595"/>
          </a:xfrm>
          <a:custGeom>
            <a:avLst/>
            <a:gdLst/>
            <a:ahLst/>
            <a:cxnLst/>
            <a:rect l="l" t="t" r="r" b="b"/>
            <a:pathLst>
              <a:path w="3591490" h="4288060">
                <a:moveTo>
                  <a:pt x="0" y="0"/>
                </a:moveTo>
                <a:lnTo>
                  <a:pt x="3591490" y="0"/>
                </a:lnTo>
                <a:lnTo>
                  <a:pt x="3591490" y="4288060"/>
                </a:lnTo>
                <a:lnTo>
                  <a:pt x="0" y="4288060"/>
                </a:lnTo>
                <a:lnTo>
                  <a:pt x="0" y="0"/>
                </a:lnTo>
                <a:close/>
              </a:path>
            </a:pathLst>
          </a:custGeom>
          <a:blipFill>
            <a:blip r:embed="rId6"/>
            <a:stretch>
              <a:fillRect/>
            </a:stretch>
          </a:blipFill>
        </p:spPr>
      </p:sp>
      <p:sp>
        <p:nvSpPr>
          <p:cNvPr id="23" name="Freeform 3">
            <a:extLst>
              <a:ext uri="{FF2B5EF4-FFF2-40B4-BE49-F238E27FC236}">
                <a16:creationId xmlns:a16="http://schemas.microsoft.com/office/drawing/2014/main" id="{5702004B-D3C5-41B5-8016-0AC114097038}"/>
              </a:ext>
            </a:extLst>
          </p:cNvPr>
          <p:cNvSpPr/>
          <p:nvPr/>
        </p:nvSpPr>
        <p:spPr>
          <a:xfrm>
            <a:off x="-4440720" y="2732344"/>
            <a:ext cx="3909753" cy="5239595"/>
          </a:xfrm>
          <a:custGeom>
            <a:avLst/>
            <a:gdLst/>
            <a:ahLst/>
            <a:cxnLst/>
            <a:rect l="l" t="t" r="r" b="b"/>
            <a:pathLst>
              <a:path w="3437729" h="4288060">
                <a:moveTo>
                  <a:pt x="0" y="0"/>
                </a:moveTo>
                <a:lnTo>
                  <a:pt x="3437728" y="0"/>
                </a:lnTo>
                <a:lnTo>
                  <a:pt x="3437728" y="4288060"/>
                </a:lnTo>
                <a:lnTo>
                  <a:pt x="0" y="4288060"/>
                </a:lnTo>
                <a:lnTo>
                  <a:pt x="0" y="0"/>
                </a:lnTo>
                <a:close/>
              </a:path>
            </a:pathLst>
          </a:custGeom>
          <a:blipFill>
            <a:blip r:embed="rId7"/>
            <a:stretch>
              <a:fillRect l="-2143" r="-2143"/>
            </a:stretch>
          </a:blipFill>
        </p:spPr>
      </p:sp>
      <p:sp>
        <p:nvSpPr>
          <p:cNvPr id="24" name="Freeform 4">
            <a:extLst>
              <a:ext uri="{FF2B5EF4-FFF2-40B4-BE49-F238E27FC236}">
                <a16:creationId xmlns:a16="http://schemas.microsoft.com/office/drawing/2014/main" id="{EBE56EDF-6631-4950-BA20-5A5445C9A35F}"/>
              </a:ext>
            </a:extLst>
          </p:cNvPr>
          <p:cNvSpPr/>
          <p:nvPr/>
        </p:nvSpPr>
        <p:spPr>
          <a:xfrm>
            <a:off x="23276934" y="2746998"/>
            <a:ext cx="4939698" cy="5239595"/>
          </a:xfrm>
          <a:custGeom>
            <a:avLst/>
            <a:gdLst/>
            <a:ahLst/>
            <a:cxnLst/>
            <a:rect l="l" t="t" r="r" b="b"/>
            <a:pathLst>
              <a:path w="4343329" h="4172870">
                <a:moveTo>
                  <a:pt x="0" y="0"/>
                </a:moveTo>
                <a:lnTo>
                  <a:pt x="4343329" y="0"/>
                </a:lnTo>
                <a:lnTo>
                  <a:pt x="4343329" y="4172869"/>
                </a:lnTo>
                <a:lnTo>
                  <a:pt x="0" y="4172869"/>
                </a:lnTo>
                <a:lnTo>
                  <a:pt x="0" y="0"/>
                </a:lnTo>
                <a:close/>
              </a:path>
            </a:pathLst>
          </a:custGeom>
          <a:blipFill>
            <a:blip r:embed="rId8"/>
            <a:stretch>
              <a:fillRect l="-1149" t="-581" r="-1149"/>
            </a:stretch>
          </a:blipFill>
        </p:spPr>
      </p:sp>
      <p:sp>
        <p:nvSpPr>
          <p:cNvPr id="25" name="Freeform 5">
            <a:extLst>
              <a:ext uri="{FF2B5EF4-FFF2-40B4-BE49-F238E27FC236}">
                <a16:creationId xmlns:a16="http://schemas.microsoft.com/office/drawing/2014/main" id="{AF0A5495-8C2A-42F5-8236-AF422F877D3A}"/>
              </a:ext>
            </a:extLst>
          </p:cNvPr>
          <p:cNvSpPr/>
          <p:nvPr/>
        </p:nvSpPr>
        <p:spPr>
          <a:xfrm>
            <a:off x="18918436" y="2746999"/>
            <a:ext cx="4060596" cy="5239595"/>
          </a:xfrm>
          <a:custGeom>
            <a:avLst/>
            <a:gdLst/>
            <a:ahLst/>
            <a:cxnLst/>
            <a:rect l="l" t="t" r="r" b="b"/>
            <a:pathLst>
              <a:path w="3570361" h="4288060">
                <a:moveTo>
                  <a:pt x="0" y="0"/>
                </a:moveTo>
                <a:lnTo>
                  <a:pt x="3570361" y="0"/>
                </a:lnTo>
                <a:lnTo>
                  <a:pt x="3570361" y="4288060"/>
                </a:lnTo>
                <a:lnTo>
                  <a:pt x="0" y="4288060"/>
                </a:lnTo>
                <a:lnTo>
                  <a:pt x="0" y="0"/>
                </a:lnTo>
                <a:close/>
              </a:path>
            </a:pathLst>
          </a:custGeom>
          <a:blipFill>
            <a:blip r:embed="rId9"/>
            <a:stretch>
              <a:fillRect l="-1087" r="-1087"/>
            </a:stretch>
          </a:blipFill>
        </p:spPr>
      </p:sp>
      <p:sp>
        <p:nvSpPr>
          <p:cNvPr id="26" name="TextBox 3">
            <a:extLst>
              <a:ext uri="{FF2B5EF4-FFF2-40B4-BE49-F238E27FC236}">
                <a16:creationId xmlns:a16="http://schemas.microsoft.com/office/drawing/2014/main" id="{5AEEFD0A-720D-4EB3-8B00-02F8D0B9B95D}"/>
              </a:ext>
            </a:extLst>
          </p:cNvPr>
          <p:cNvSpPr txBox="1"/>
          <p:nvPr/>
        </p:nvSpPr>
        <p:spPr>
          <a:xfrm>
            <a:off x="1250610" y="1797612"/>
            <a:ext cx="3468754"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2. Challenge</a:t>
            </a:r>
            <a:endParaRPr lang="en-US" sz="3999" b="1">
              <a:solidFill>
                <a:srgbClr val="000000"/>
              </a:solidFill>
              <a:latin typeface="Canva Sans Bold"/>
              <a:ea typeface="Canva Sans Bold"/>
              <a:cs typeface="Canva Sans Bold"/>
              <a:sym typeface="Canva Sans Bold"/>
            </a:endParaRPr>
          </a:p>
        </p:txBody>
      </p:sp>
      <p:sp>
        <p:nvSpPr>
          <p:cNvPr id="27" name="Freeform 4">
            <a:extLst>
              <a:ext uri="{FF2B5EF4-FFF2-40B4-BE49-F238E27FC236}">
                <a16:creationId xmlns:a16="http://schemas.microsoft.com/office/drawing/2014/main" id="{85F3FFA8-9BC7-4291-965F-54AAD26C856F}"/>
              </a:ext>
            </a:extLst>
          </p:cNvPr>
          <p:cNvSpPr/>
          <p:nvPr/>
        </p:nvSpPr>
        <p:spPr>
          <a:xfrm>
            <a:off x="11394073" y="2562511"/>
            <a:ext cx="5556965" cy="6160597"/>
          </a:xfrm>
          <a:custGeom>
            <a:avLst/>
            <a:gdLst/>
            <a:ahLst/>
            <a:cxnLst/>
            <a:rect l="l" t="t" r="r" b="b"/>
            <a:pathLst>
              <a:path w="5556965" h="6160597">
                <a:moveTo>
                  <a:pt x="0" y="0"/>
                </a:moveTo>
                <a:lnTo>
                  <a:pt x="5556965" y="0"/>
                </a:lnTo>
                <a:lnTo>
                  <a:pt x="5556965" y="6160596"/>
                </a:lnTo>
                <a:lnTo>
                  <a:pt x="0" y="6160596"/>
                </a:lnTo>
                <a:lnTo>
                  <a:pt x="0" y="0"/>
                </a:lnTo>
                <a:close/>
              </a:path>
            </a:pathLst>
          </a:custGeom>
          <a:blipFill>
            <a:blip r:embed="rId10"/>
            <a:stretch>
              <a:fillRect/>
            </a:stretch>
          </a:blipFill>
        </p:spPr>
      </p:sp>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6478177"/>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0" name="Freeform 5">
            <a:extLst>
              <a:ext uri="{FF2B5EF4-FFF2-40B4-BE49-F238E27FC236}">
                <a16:creationId xmlns:a16="http://schemas.microsoft.com/office/drawing/2014/main" id="{5CFE9106-943E-49A5-9CA7-E40DD773D27C}"/>
              </a:ext>
            </a:extLst>
          </p:cNvPr>
          <p:cNvSpPr/>
          <p:nvPr/>
        </p:nvSpPr>
        <p:spPr>
          <a:xfrm>
            <a:off x="6198107" y="7429500"/>
            <a:ext cx="4175446" cy="1879397"/>
          </a:xfrm>
          <a:custGeom>
            <a:avLst/>
            <a:gdLst/>
            <a:ahLst/>
            <a:cxnLst/>
            <a:rect l="l" t="t" r="r" b="b"/>
            <a:pathLst>
              <a:path w="6573672" h="3020487">
                <a:moveTo>
                  <a:pt x="0" y="0"/>
                </a:moveTo>
                <a:lnTo>
                  <a:pt x="6573671" y="0"/>
                </a:lnTo>
                <a:lnTo>
                  <a:pt x="6573671" y="3020487"/>
                </a:lnTo>
                <a:lnTo>
                  <a:pt x="0" y="3020487"/>
                </a:lnTo>
                <a:lnTo>
                  <a:pt x="0" y="0"/>
                </a:lnTo>
                <a:close/>
              </a:path>
            </a:pathLst>
          </a:custGeom>
          <a:blipFill>
            <a:blip r:embed="rId11"/>
            <a:stretch>
              <a:fillRect r="-278"/>
            </a:stretch>
          </a:blipFill>
          <a:ln>
            <a:solidFill>
              <a:schemeClr val="tx1"/>
            </a:solidFill>
          </a:ln>
        </p:spPr>
      </p:sp>
      <p:sp>
        <p:nvSpPr>
          <p:cNvPr id="31" name="TextBox 6">
            <a:extLst>
              <a:ext uri="{FF2B5EF4-FFF2-40B4-BE49-F238E27FC236}">
                <a16:creationId xmlns:a16="http://schemas.microsoft.com/office/drawing/2014/main" id="{D242AC9E-1DF3-44CF-A581-F6C8DE0420FA}"/>
              </a:ext>
            </a:extLst>
          </p:cNvPr>
          <p:cNvSpPr txBox="1"/>
          <p:nvPr/>
        </p:nvSpPr>
        <p:spPr>
          <a:xfrm>
            <a:off x="1275688" y="3412633"/>
            <a:ext cx="6057960" cy="4295600"/>
          </a:xfrm>
          <a:prstGeom prst="rect">
            <a:avLst/>
          </a:prstGeom>
        </p:spPr>
        <p:txBody>
          <a:bodyPr wrap="square" lIns="0" tIns="0" rIns="0" bIns="0" rtlCol="0" anchor="t">
            <a:spAutoFit/>
          </a:bodyPr>
          <a:lstStyle/>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Hiển thị danh sách người chơi online</a:t>
            </a:r>
          </a:p>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Gửi / nhận lời thách đấu</a:t>
            </a:r>
          </a:p>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Kết nối server qua ClientSocket</a:t>
            </a:r>
          </a:p>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Xử lý sự kiện bằng ClientListener</a:t>
            </a:r>
          </a:p>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Chấp nhận / từ chối thách đấu</a:t>
            </a:r>
          </a:p>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Chuyển sang màn chơi (BoardUI) khi game bắt đầu</a:t>
            </a:r>
          </a:p>
          <a:p>
            <a:pPr algn="just">
              <a:lnSpc>
                <a:spcPts val="3825"/>
              </a:lnSpc>
            </a:pPr>
            <a:endParaRPr lang="en-US" sz="2400" b="1">
              <a:solidFill>
                <a:srgbClr val="121212"/>
              </a:solidFill>
              <a:latin typeface="Public Sans Bold"/>
              <a:ea typeface="Public Sans Bold"/>
              <a:cs typeface="Public Sans Bold"/>
              <a:sym typeface="Public Sans Bold"/>
            </a:endParaRPr>
          </a:p>
        </p:txBody>
      </p:sp>
    </p:spTree>
    <p:extLst>
      <p:ext uri="{BB962C8B-B14F-4D97-AF65-F5344CB8AC3E}">
        <p14:creationId xmlns:p14="http://schemas.microsoft.com/office/powerpoint/2010/main" val="815817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11394073" y="890288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5928372" y="-146439"/>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TextBox 3">
            <a:extLst>
              <a:ext uri="{FF2B5EF4-FFF2-40B4-BE49-F238E27FC236}">
                <a16:creationId xmlns:a16="http://schemas.microsoft.com/office/drawing/2014/main" id="{5AEEFD0A-720D-4EB3-8B00-02F8D0B9B95D}"/>
              </a:ext>
            </a:extLst>
          </p:cNvPr>
          <p:cNvSpPr txBox="1"/>
          <p:nvPr/>
        </p:nvSpPr>
        <p:spPr>
          <a:xfrm>
            <a:off x="1030641" y="2163861"/>
            <a:ext cx="3468754"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3. History</a:t>
            </a:r>
            <a:endParaRPr lang="en-US" sz="3999" b="1">
              <a:solidFill>
                <a:srgbClr val="000000"/>
              </a:solidFill>
              <a:latin typeface="Canva Sans Bold"/>
              <a:ea typeface="Canva Sans Bold"/>
              <a:cs typeface="Canva Sans Bold"/>
              <a:sym typeface="Canva Sans Bold"/>
            </a:endParaRPr>
          </a:p>
        </p:txBody>
      </p:sp>
      <p:grpSp>
        <p:nvGrpSpPr>
          <p:cNvPr id="28" name="Group 2">
            <a:extLst>
              <a:ext uri="{FF2B5EF4-FFF2-40B4-BE49-F238E27FC236}">
                <a16:creationId xmlns:a16="http://schemas.microsoft.com/office/drawing/2014/main" id="{760EED60-B820-42CB-9F2F-99EE605AEC04}"/>
              </a:ext>
            </a:extLst>
          </p:cNvPr>
          <p:cNvGrpSpPr/>
          <p:nvPr/>
        </p:nvGrpSpPr>
        <p:grpSpPr>
          <a:xfrm>
            <a:off x="1189859" y="3311497"/>
            <a:ext cx="5363342" cy="1523216"/>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1" name="TextBox 6">
            <a:extLst>
              <a:ext uri="{FF2B5EF4-FFF2-40B4-BE49-F238E27FC236}">
                <a16:creationId xmlns:a16="http://schemas.microsoft.com/office/drawing/2014/main" id="{D242AC9E-1DF3-44CF-A581-F6C8DE0420FA}"/>
              </a:ext>
            </a:extLst>
          </p:cNvPr>
          <p:cNvSpPr txBox="1"/>
          <p:nvPr/>
        </p:nvSpPr>
        <p:spPr>
          <a:xfrm>
            <a:off x="1275688" y="3412633"/>
            <a:ext cx="6057960" cy="1035092"/>
          </a:xfrm>
          <a:prstGeom prst="rect">
            <a:avLst/>
          </a:prstGeom>
        </p:spPr>
        <p:txBody>
          <a:bodyPr wrap="square" lIns="0" tIns="0" rIns="0" bIns="0" rtlCol="0" anchor="t">
            <a:spAutoFit/>
          </a:bodyPr>
          <a:lstStyle/>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Hiển thị </a:t>
            </a:r>
            <a:r>
              <a:rPr lang="vi-VN" sz="2400" b="1">
                <a:solidFill>
                  <a:srgbClr val="121212"/>
                </a:solidFill>
                <a:latin typeface="Public Sans Bold"/>
                <a:ea typeface="Public Sans Bold"/>
                <a:cs typeface="Public Sans Bold"/>
                <a:sym typeface="Public Sans Bold"/>
              </a:rPr>
              <a:t>lịch sử đâu</a:t>
            </a:r>
          </a:p>
          <a:p>
            <a:pPr marL="615406" lvl="1" indent="-307703" algn="just">
              <a:lnSpc>
                <a:spcPts val="4275"/>
              </a:lnSpc>
              <a:buFont typeface="Arial"/>
              <a:buChar char="•"/>
            </a:pPr>
            <a:r>
              <a:rPr lang="vi-VN" sz="2400" b="1">
                <a:solidFill>
                  <a:srgbClr val="121212"/>
                </a:solidFill>
                <a:latin typeface="Public Sans Bold"/>
                <a:ea typeface="Public Sans Bold"/>
                <a:cs typeface="Public Sans Bold"/>
                <a:sym typeface="Public Sans Bold"/>
              </a:rPr>
              <a:t>Hiển thị số trận thắng, thua</a:t>
            </a:r>
          </a:p>
        </p:txBody>
      </p:sp>
      <p:sp>
        <p:nvSpPr>
          <p:cNvPr id="33" name="Freeform 4">
            <a:extLst>
              <a:ext uri="{FF2B5EF4-FFF2-40B4-BE49-F238E27FC236}">
                <a16:creationId xmlns:a16="http://schemas.microsoft.com/office/drawing/2014/main" id="{208D2ECC-FE5D-406B-9709-5E7C6DAEB857}"/>
              </a:ext>
            </a:extLst>
          </p:cNvPr>
          <p:cNvSpPr/>
          <p:nvPr/>
        </p:nvSpPr>
        <p:spPr>
          <a:xfrm>
            <a:off x="7914992" y="1866900"/>
            <a:ext cx="7079813" cy="7475439"/>
          </a:xfrm>
          <a:custGeom>
            <a:avLst/>
            <a:gdLst/>
            <a:ahLst/>
            <a:cxnLst/>
            <a:rect l="l" t="t" r="r" b="b"/>
            <a:pathLst>
              <a:path w="5290775" h="6234948">
                <a:moveTo>
                  <a:pt x="0" y="0"/>
                </a:moveTo>
                <a:lnTo>
                  <a:pt x="5290775" y="0"/>
                </a:lnTo>
                <a:lnTo>
                  <a:pt x="5290775" y="6234948"/>
                </a:lnTo>
                <a:lnTo>
                  <a:pt x="0" y="6234948"/>
                </a:lnTo>
                <a:lnTo>
                  <a:pt x="0" y="0"/>
                </a:lnTo>
                <a:close/>
              </a:path>
            </a:pathLst>
          </a:custGeom>
          <a:blipFill>
            <a:blip r:embed="rId6"/>
            <a:stretch>
              <a:fillRect/>
            </a:stretch>
          </a:blipFill>
        </p:spPr>
      </p:sp>
    </p:spTree>
    <p:extLst>
      <p:ext uri="{BB962C8B-B14F-4D97-AF65-F5344CB8AC3E}">
        <p14:creationId xmlns:p14="http://schemas.microsoft.com/office/powerpoint/2010/main" val="40331413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9725000" y="9172837"/>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4800508" y="-890528"/>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TextBox 3">
            <a:extLst>
              <a:ext uri="{FF2B5EF4-FFF2-40B4-BE49-F238E27FC236}">
                <a16:creationId xmlns:a16="http://schemas.microsoft.com/office/drawing/2014/main" id="{5AEEFD0A-720D-4EB3-8B00-02F8D0B9B95D}"/>
              </a:ext>
            </a:extLst>
          </p:cNvPr>
          <p:cNvSpPr txBox="1"/>
          <p:nvPr/>
        </p:nvSpPr>
        <p:spPr>
          <a:xfrm>
            <a:off x="1095728" y="1252999"/>
            <a:ext cx="5457471"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4. Network</a:t>
            </a:r>
            <a:endParaRPr lang="en-US" sz="3999" b="1">
              <a:solidFill>
                <a:srgbClr val="000000"/>
              </a:solidFill>
              <a:latin typeface="Canva Sans Bold"/>
              <a:ea typeface="Canva Sans Bold"/>
              <a:cs typeface="Canva Sans Bold"/>
              <a:sym typeface="Canva Sans Bold"/>
            </a:endParaRPr>
          </a:p>
        </p:txBody>
      </p:sp>
      <p:grpSp>
        <p:nvGrpSpPr>
          <p:cNvPr id="7" name="Group 6">
            <a:extLst>
              <a:ext uri="{FF2B5EF4-FFF2-40B4-BE49-F238E27FC236}">
                <a16:creationId xmlns:a16="http://schemas.microsoft.com/office/drawing/2014/main" id="{19FE25E9-11CC-4BA9-A765-B8F708E69DD3}"/>
              </a:ext>
            </a:extLst>
          </p:cNvPr>
          <p:cNvGrpSpPr/>
          <p:nvPr/>
        </p:nvGrpSpPr>
        <p:grpSpPr>
          <a:xfrm>
            <a:off x="882818" y="2496181"/>
            <a:ext cx="9906313" cy="3561719"/>
            <a:chOff x="1189858" y="3311496"/>
            <a:chExt cx="9906313" cy="6478177"/>
          </a:xfrm>
        </p:grpSpPr>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6478177"/>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3" name="TextBox 4">
              <a:extLst>
                <a:ext uri="{FF2B5EF4-FFF2-40B4-BE49-F238E27FC236}">
                  <a16:creationId xmlns:a16="http://schemas.microsoft.com/office/drawing/2014/main" id="{DF9C5601-CAAF-486B-8971-648DA54FFC02}"/>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1" name="TextBox 4">
            <a:extLst>
              <a:ext uri="{FF2B5EF4-FFF2-40B4-BE49-F238E27FC236}">
                <a16:creationId xmlns:a16="http://schemas.microsoft.com/office/drawing/2014/main" id="{1BF74AA2-843D-41C4-B9BF-328A69EF93B2}"/>
              </a:ext>
            </a:extLst>
          </p:cNvPr>
          <p:cNvSpPr txBox="1"/>
          <p:nvPr/>
        </p:nvSpPr>
        <p:spPr>
          <a:xfrm>
            <a:off x="1096596" y="2622455"/>
            <a:ext cx="9537435" cy="3255507"/>
          </a:xfrm>
          <a:prstGeom prst="rect">
            <a:avLst/>
          </a:prstGeom>
        </p:spPr>
        <p:txBody>
          <a:bodyPr lIns="0" tIns="0" rIns="0" bIns="0" rtlCol="0" anchor="t">
            <a:spAutoFit/>
          </a:bodyPr>
          <a:lstStyle/>
          <a:p>
            <a:pPr>
              <a:lnSpc>
                <a:spcPct val="150000"/>
              </a:lnSpc>
            </a:pPr>
            <a:r>
              <a:rPr lang="vi-VN" sz="2400" b="1">
                <a:latin typeface="Public Sans Bold" panose="020B0604020202020204" charset="0"/>
                <a:cs typeface="Public Sans Bold" panose="020B0604020202020204" charset="0"/>
              </a:rPr>
              <a:t>Vai trò tổng quát (Nhiệm vụ chung)</a:t>
            </a:r>
          </a:p>
          <a:p>
            <a:pPr>
              <a:lnSpc>
                <a:spcPct val="150000"/>
              </a:lnSpc>
            </a:pPr>
            <a:r>
              <a:rPr lang="vi-VN" sz="2400" b="1">
                <a:latin typeface="Public Sans Bold" panose="020B0604020202020204" charset="0"/>
                <a:cs typeface="Public Sans Bold" panose="020B0604020202020204" charset="0"/>
              </a:rPr>
              <a:t>Cổng giao tiếp:</a:t>
            </a:r>
            <a:r>
              <a:rPr lang="vi-VN" sz="2400">
                <a:latin typeface="Public Sans Bold" panose="020B0604020202020204" charset="0"/>
                <a:cs typeface="Public Sans Bold" panose="020B0604020202020204" charset="0"/>
              </a:rPr>
              <a:t> Đây là lớp xử lý toàn bộ việc kết nối TCP giữa Client và Server.</a:t>
            </a:r>
          </a:p>
          <a:p>
            <a:pPr>
              <a:lnSpc>
                <a:spcPct val="150000"/>
              </a:lnSpc>
            </a:pPr>
            <a:r>
              <a:rPr lang="vi-VN" sz="2400" b="1">
                <a:latin typeface="Public Sans Bold" panose="020B0604020202020204" charset="0"/>
                <a:cs typeface="Public Sans Bold" panose="020B0604020202020204" charset="0"/>
              </a:rPr>
              <a:t>Chuyển đổi dữ liệu:</a:t>
            </a:r>
            <a:r>
              <a:rPr lang="vi-VN" sz="2400">
                <a:latin typeface="Public Sans Bold" panose="020B0604020202020204" charset="0"/>
                <a:cs typeface="Public Sans Bold" panose="020B0604020202020204" charset="0"/>
              </a:rPr>
              <a:t> Nhiệm vụ chính là biến các hành động của người dùng (click chuột, đăng nhập) thành các dòng lệnh gửi đi và giải mã các dòng lệnh từ Server gửi về thành các sự kiện trong game.</a:t>
            </a:r>
          </a:p>
        </p:txBody>
      </p:sp>
      <p:grpSp>
        <p:nvGrpSpPr>
          <p:cNvPr id="19" name="Group 18">
            <a:extLst>
              <a:ext uri="{FF2B5EF4-FFF2-40B4-BE49-F238E27FC236}">
                <a16:creationId xmlns:a16="http://schemas.microsoft.com/office/drawing/2014/main" id="{4F1DB07D-D629-4037-9BC9-1CCBAABA2560}"/>
              </a:ext>
            </a:extLst>
          </p:cNvPr>
          <p:cNvGrpSpPr/>
          <p:nvPr/>
        </p:nvGrpSpPr>
        <p:grpSpPr>
          <a:xfrm>
            <a:off x="11277600" y="1724954"/>
            <a:ext cx="6127582" cy="7152345"/>
            <a:chOff x="11277600" y="1724954"/>
            <a:chExt cx="6127582" cy="7152345"/>
          </a:xfrm>
        </p:grpSpPr>
        <p:sp>
          <p:nvSpPr>
            <p:cNvPr id="35" name="Freeform 3">
              <a:extLst>
                <a:ext uri="{FF2B5EF4-FFF2-40B4-BE49-F238E27FC236}">
                  <a16:creationId xmlns:a16="http://schemas.microsoft.com/office/drawing/2014/main" id="{C5E75101-A343-48AC-8ED2-4A7D2053F21C}"/>
                </a:ext>
              </a:extLst>
            </p:cNvPr>
            <p:cNvSpPr/>
            <p:nvPr/>
          </p:nvSpPr>
          <p:spPr>
            <a:xfrm>
              <a:off x="11277600" y="1724954"/>
              <a:ext cx="6127582" cy="7152345"/>
            </a:xfrm>
            <a:custGeom>
              <a:avLst/>
              <a:gdLst/>
              <a:ahLst/>
              <a:cxnLst/>
              <a:rect l="l" t="t" r="r" b="b"/>
              <a:pathLst>
                <a:path w="5276275" h="6356958">
                  <a:moveTo>
                    <a:pt x="0" y="0"/>
                  </a:moveTo>
                  <a:lnTo>
                    <a:pt x="5276275" y="0"/>
                  </a:lnTo>
                  <a:lnTo>
                    <a:pt x="5276275" y="6356958"/>
                  </a:lnTo>
                  <a:lnTo>
                    <a:pt x="0" y="6356958"/>
                  </a:lnTo>
                  <a:lnTo>
                    <a:pt x="0" y="0"/>
                  </a:lnTo>
                  <a:close/>
                </a:path>
              </a:pathLst>
            </a:custGeom>
            <a:blipFill>
              <a:blip r:embed="rId6"/>
              <a:stretch>
                <a:fillRect/>
              </a:stretch>
            </a:blipFill>
          </p:spPr>
        </p:sp>
        <p:sp>
          <p:nvSpPr>
            <p:cNvPr id="36" name="Freeform 2">
              <a:extLst>
                <a:ext uri="{FF2B5EF4-FFF2-40B4-BE49-F238E27FC236}">
                  <a16:creationId xmlns:a16="http://schemas.microsoft.com/office/drawing/2014/main" id="{5E0FB2F2-5263-4A31-88C8-0E394FB72161}"/>
                </a:ext>
              </a:extLst>
            </p:cNvPr>
            <p:cNvSpPr/>
            <p:nvPr/>
          </p:nvSpPr>
          <p:spPr>
            <a:xfrm>
              <a:off x="12622968" y="4760510"/>
              <a:ext cx="3436845" cy="1416814"/>
            </a:xfrm>
            <a:custGeom>
              <a:avLst/>
              <a:gdLst/>
              <a:ahLst/>
              <a:cxnLst/>
              <a:rect l="l" t="t" r="r" b="b"/>
              <a:pathLst>
                <a:path w="9461296" h="4182585">
                  <a:moveTo>
                    <a:pt x="0" y="0"/>
                  </a:moveTo>
                  <a:lnTo>
                    <a:pt x="9461296" y="0"/>
                  </a:lnTo>
                  <a:lnTo>
                    <a:pt x="9461296" y="4182585"/>
                  </a:lnTo>
                  <a:lnTo>
                    <a:pt x="0" y="4182585"/>
                  </a:lnTo>
                  <a:lnTo>
                    <a:pt x="0" y="0"/>
                  </a:lnTo>
                  <a:close/>
                </a:path>
              </a:pathLst>
            </a:custGeom>
            <a:blipFill>
              <a:blip r:embed="rId7"/>
              <a:stretch>
                <a:fillRect/>
              </a:stretch>
            </a:blipFill>
          </p:spPr>
        </p:sp>
      </p:grpSp>
    </p:spTree>
    <p:extLst>
      <p:ext uri="{BB962C8B-B14F-4D97-AF65-F5344CB8AC3E}">
        <p14:creationId xmlns:p14="http://schemas.microsoft.com/office/powerpoint/2010/main" val="1403166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3824462" y="9634324"/>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4350" y="6279701"/>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9982200" y="-324438"/>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TextBox 3">
            <a:extLst>
              <a:ext uri="{FF2B5EF4-FFF2-40B4-BE49-F238E27FC236}">
                <a16:creationId xmlns:a16="http://schemas.microsoft.com/office/drawing/2014/main" id="{5AEEFD0A-720D-4EB3-8B00-02F8D0B9B95D}"/>
              </a:ext>
            </a:extLst>
          </p:cNvPr>
          <p:cNvSpPr txBox="1"/>
          <p:nvPr/>
        </p:nvSpPr>
        <p:spPr>
          <a:xfrm>
            <a:off x="1095728" y="1252999"/>
            <a:ext cx="5457471"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4. Network</a:t>
            </a:r>
            <a:endParaRPr lang="en-US" sz="3999" b="1">
              <a:solidFill>
                <a:srgbClr val="000000"/>
              </a:solidFill>
              <a:latin typeface="Canva Sans Bold"/>
              <a:ea typeface="Canva Sans Bold"/>
              <a:cs typeface="Canva Sans Bold"/>
              <a:sym typeface="Canva Sans Bold"/>
            </a:endParaRPr>
          </a:p>
        </p:txBody>
      </p:sp>
      <p:grpSp>
        <p:nvGrpSpPr>
          <p:cNvPr id="7" name="Group 6">
            <a:extLst>
              <a:ext uri="{FF2B5EF4-FFF2-40B4-BE49-F238E27FC236}">
                <a16:creationId xmlns:a16="http://schemas.microsoft.com/office/drawing/2014/main" id="{19FE25E9-11CC-4BA9-A765-B8F708E69DD3}"/>
              </a:ext>
            </a:extLst>
          </p:cNvPr>
          <p:cNvGrpSpPr/>
          <p:nvPr/>
        </p:nvGrpSpPr>
        <p:grpSpPr>
          <a:xfrm>
            <a:off x="4709896" y="3277488"/>
            <a:ext cx="9906313" cy="6285611"/>
            <a:chOff x="1189858" y="3311496"/>
            <a:chExt cx="9906313" cy="6478177"/>
          </a:xfrm>
        </p:grpSpPr>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6478177"/>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3" name="TextBox 4">
              <a:extLst>
                <a:ext uri="{FF2B5EF4-FFF2-40B4-BE49-F238E27FC236}">
                  <a16:creationId xmlns:a16="http://schemas.microsoft.com/office/drawing/2014/main" id="{DF9C5601-CAAF-486B-8971-648DA54FFC02}"/>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1" name="TextBox 4">
            <a:extLst>
              <a:ext uri="{FF2B5EF4-FFF2-40B4-BE49-F238E27FC236}">
                <a16:creationId xmlns:a16="http://schemas.microsoft.com/office/drawing/2014/main" id="{1BF74AA2-843D-41C4-B9BF-328A69EF93B2}"/>
              </a:ext>
            </a:extLst>
          </p:cNvPr>
          <p:cNvSpPr txBox="1"/>
          <p:nvPr/>
        </p:nvSpPr>
        <p:spPr>
          <a:xfrm>
            <a:off x="4923674" y="3403763"/>
            <a:ext cx="9537435" cy="6025496"/>
          </a:xfrm>
          <a:prstGeom prst="rect">
            <a:avLst/>
          </a:prstGeom>
        </p:spPr>
        <p:txBody>
          <a:bodyPr lIns="0" tIns="0" rIns="0" bIns="0" rtlCol="0" anchor="t">
            <a:spAutoFit/>
          </a:bodyPr>
          <a:lstStyle/>
          <a:p>
            <a:pPr>
              <a:lnSpc>
                <a:spcPct val="150000"/>
              </a:lnSpc>
            </a:pPr>
            <a:r>
              <a:rPr lang="vi-VN" sz="2400" b="1">
                <a:latin typeface="Public Sans Bold" panose="020B0604020202020204" charset="0"/>
                <a:cs typeface="Public Sans Bold" panose="020B0604020202020204" charset="0"/>
              </a:rPr>
              <a:t>Đa luồng (Multi-threading): Sử dụng một luồng riêng (listenerThread) để liên tục lắng nghe dữ liệu từ Server, giúp giao diện game không bị treo (giật lag) khi đang chờ phản hồi mạng.</a:t>
            </a:r>
          </a:p>
          <a:p>
            <a:pPr>
              <a:lnSpc>
                <a:spcPct val="150000"/>
              </a:lnSpc>
            </a:pPr>
            <a:endParaRPr lang="vi-VN" sz="2400" b="1">
              <a:latin typeface="Public Sans Bold" panose="020B0604020202020204" charset="0"/>
              <a:cs typeface="Public Sans Bold" panose="020B0604020202020204" charset="0"/>
            </a:endParaRPr>
          </a:p>
          <a:p>
            <a:pPr>
              <a:lnSpc>
                <a:spcPct val="150000"/>
              </a:lnSpc>
            </a:pPr>
            <a:r>
              <a:rPr lang="vi-VN" sz="2400" b="1">
                <a:latin typeface="Public Sans Bold" panose="020B0604020202020204" charset="0"/>
                <a:cs typeface="Public Sans Bold" panose="020B0604020202020204" charset="0"/>
              </a:rPr>
              <a:t>Xử lý giao thức (Protocol): Sử dụng giao thức văn bản </a:t>
            </a:r>
          </a:p>
          <a:p>
            <a:pPr>
              <a:lnSpc>
                <a:spcPct val="150000"/>
              </a:lnSpc>
            </a:pPr>
            <a:r>
              <a:rPr lang="vi-VN" sz="2400" b="1">
                <a:latin typeface="Public Sans Bold" panose="020B0604020202020204" charset="0"/>
                <a:cs typeface="Public Sans Bold" panose="020B0604020202020204" charset="0"/>
              </a:rPr>
              <a:t>(Text-based). Dữ liệu được đọc theo từng dòng, sau đó dùng lệnh split() để tách mã lệnh (ví dụ: MOVE, LOGIN_SUCCESS) và các tham số đi kèm.</a:t>
            </a:r>
          </a:p>
          <a:p>
            <a:pPr>
              <a:lnSpc>
                <a:spcPct val="150000"/>
              </a:lnSpc>
            </a:pPr>
            <a:endParaRPr lang="vi-VN" sz="2400" b="1">
              <a:latin typeface="Public Sans Bold" panose="020B0604020202020204" charset="0"/>
              <a:cs typeface="Public Sans Bold" panose="020B0604020202020204" charset="0"/>
            </a:endParaRPr>
          </a:p>
          <a:p>
            <a:pPr>
              <a:lnSpc>
                <a:spcPct val="150000"/>
              </a:lnSpc>
            </a:pPr>
            <a:r>
              <a:rPr lang="vi-VN" sz="2400" b="1">
                <a:latin typeface="Public Sans Bold" panose="020B0604020202020204" charset="0"/>
                <a:cs typeface="Public Sans Bold" panose="020B0604020202020204" charset="0"/>
              </a:rPr>
              <a:t>Gửi dữ liệu: Cung cấp các phương thức send() để đẩy dữ liệu lên Server thông qua OutputStream.</a:t>
            </a:r>
          </a:p>
        </p:txBody>
      </p:sp>
      <p:sp>
        <p:nvSpPr>
          <p:cNvPr id="21" name="TextBox 3">
            <a:extLst>
              <a:ext uri="{FF2B5EF4-FFF2-40B4-BE49-F238E27FC236}">
                <a16:creationId xmlns:a16="http://schemas.microsoft.com/office/drawing/2014/main" id="{84499F4F-79C2-484E-9BB8-489AC1387258}"/>
              </a:ext>
            </a:extLst>
          </p:cNvPr>
          <p:cNvSpPr txBox="1"/>
          <p:nvPr/>
        </p:nvSpPr>
        <p:spPr>
          <a:xfrm>
            <a:off x="1095728" y="2054838"/>
            <a:ext cx="8048272" cy="945452"/>
          </a:xfrm>
          <a:prstGeom prst="rect">
            <a:avLst/>
          </a:prstGeom>
        </p:spPr>
        <p:txBody>
          <a:bodyPr wrap="square" lIns="0" tIns="0" rIns="0" bIns="0" rtlCol="0" anchor="t">
            <a:spAutoFit/>
          </a:bodyPr>
          <a:lstStyle/>
          <a:p>
            <a:pPr>
              <a:lnSpc>
                <a:spcPts val="8599"/>
              </a:lnSpc>
            </a:pPr>
            <a:r>
              <a:rPr lang="vi-VN" sz="3600" b="1">
                <a:solidFill>
                  <a:srgbClr val="000000"/>
                </a:solidFill>
                <a:latin typeface="Canva Sans Bold"/>
                <a:ea typeface="Canva Sans Bold"/>
                <a:cs typeface="Canva Sans Bold"/>
                <a:sym typeface="Canva Sans Bold"/>
              </a:rPr>
              <a:t>1. SocketHandler.java </a:t>
            </a:r>
            <a:r>
              <a:rPr lang="en-US" sz="3600" b="1"/>
              <a:t>(Xử lý cấp thấp)</a:t>
            </a:r>
            <a:endParaRPr lang="en-US" sz="3600" b="1">
              <a:solidFill>
                <a:srgbClr val="000000"/>
              </a:solidFill>
              <a:latin typeface="Canva Sans Bold"/>
              <a:ea typeface="Canva Sans Bold"/>
              <a:cs typeface="Canva Sans Bold"/>
              <a:sym typeface="Canva Sans Bold"/>
            </a:endParaRPr>
          </a:p>
        </p:txBody>
      </p:sp>
    </p:spTree>
    <p:extLst>
      <p:ext uri="{BB962C8B-B14F-4D97-AF65-F5344CB8AC3E}">
        <p14:creationId xmlns:p14="http://schemas.microsoft.com/office/powerpoint/2010/main" val="34213581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7109457" y="10402399"/>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04350" y="6279701"/>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4921158" y="-605811"/>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TextBox 3">
            <a:extLst>
              <a:ext uri="{FF2B5EF4-FFF2-40B4-BE49-F238E27FC236}">
                <a16:creationId xmlns:a16="http://schemas.microsoft.com/office/drawing/2014/main" id="{5AEEFD0A-720D-4EB3-8B00-02F8D0B9B95D}"/>
              </a:ext>
            </a:extLst>
          </p:cNvPr>
          <p:cNvSpPr txBox="1"/>
          <p:nvPr/>
        </p:nvSpPr>
        <p:spPr>
          <a:xfrm>
            <a:off x="1095728" y="1252999"/>
            <a:ext cx="5457471"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4. Network</a:t>
            </a:r>
            <a:endParaRPr lang="en-US" sz="3999" b="1">
              <a:solidFill>
                <a:srgbClr val="000000"/>
              </a:solidFill>
              <a:latin typeface="Canva Sans Bold"/>
              <a:ea typeface="Canva Sans Bold"/>
              <a:cs typeface="Canva Sans Bold"/>
              <a:sym typeface="Canva Sans Bold"/>
            </a:endParaRPr>
          </a:p>
        </p:txBody>
      </p:sp>
      <p:grpSp>
        <p:nvGrpSpPr>
          <p:cNvPr id="7" name="Group 6">
            <a:extLst>
              <a:ext uri="{FF2B5EF4-FFF2-40B4-BE49-F238E27FC236}">
                <a16:creationId xmlns:a16="http://schemas.microsoft.com/office/drawing/2014/main" id="{19FE25E9-11CC-4BA9-A765-B8F708E69DD3}"/>
              </a:ext>
            </a:extLst>
          </p:cNvPr>
          <p:cNvGrpSpPr/>
          <p:nvPr/>
        </p:nvGrpSpPr>
        <p:grpSpPr>
          <a:xfrm>
            <a:off x="8111750" y="3170075"/>
            <a:ext cx="9906313" cy="4304412"/>
            <a:chOff x="1189858" y="3311496"/>
            <a:chExt cx="9906313" cy="6478177"/>
          </a:xfrm>
        </p:grpSpPr>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6478177"/>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3" name="TextBox 4">
              <a:extLst>
                <a:ext uri="{FF2B5EF4-FFF2-40B4-BE49-F238E27FC236}">
                  <a16:creationId xmlns:a16="http://schemas.microsoft.com/office/drawing/2014/main" id="{DF9C5601-CAAF-486B-8971-648DA54FFC02}"/>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1" name="TextBox 4">
            <a:extLst>
              <a:ext uri="{FF2B5EF4-FFF2-40B4-BE49-F238E27FC236}">
                <a16:creationId xmlns:a16="http://schemas.microsoft.com/office/drawing/2014/main" id="{1BF74AA2-843D-41C4-B9BF-328A69EF93B2}"/>
              </a:ext>
            </a:extLst>
          </p:cNvPr>
          <p:cNvSpPr txBox="1"/>
          <p:nvPr/>
        </p:nvSpPr>
        <p:spPr>
          <a:xfrm>
            <a:off x="8325528" y="3296349"/>
            <a:ext cx="9537435" cy="3809504"/>
          </a:xfrm>
          <a:prstGeom prst="rect">
            <a:avLst/>
          </a:prstGeom>
        </p:spPr>
        <p:txBody>
          <a:bodyPr lIns="0" tIns="0" rIns="0" bIns="0" rtlCol="0" anchor="t">
            <a:spAutoFit/>
          </a:bodyPr>
          <a:lstStyle/>
          <a:p>
            <a:pPr>
              <a:lnSpc>
                <a:spcPct val="150000"/>
              </a:lnSpc>
            </a:pPr>
            <a:r>
              <a:rPr lang="vi-VN" sz="2400" b="1">
                <a:latin typeface="Public Sans Bold" panose="020B0604020202020204" charset="0"/>
                <a:cs typeface="Public Sans Bold" panose="020B0604020202020204" charset="0"/>
              </a:rPr>
              <a:t>Tính đóng gói: Đóng vai trò là một vỏ bọc bên ngoài của SocketHandler, cung cấp các hàm API sạch sẽ cho UI sử dụng (như .login(), .challenge(), .sendMove()).</a:t>
            </a:r>
          </a:p>
          <a:p>
            <a:pPr>
              <a:lnSpc>
                <a:spcPct val="150000"/>
              </a:lnSpc>
            </a:pPr>
            <a:endParaRPr lang="vi-VN" sz="2400" b="1">
              <a:latin typeface="Public Sans Bold" panose="020B0604020202020204" charset="0"/>
              <a:cs typeface="Public Sans Bold" panose="020B0604020202020204" charset="0"/>
            </a:endParaRPr>
          </a:p>
          <a:p>
            <a:pPr>
              <a:lnSpc>
                <a:spcPct val="150000"/>
              </a:lnSpc>
            </a:pPr>
            <a:r>
              <a:rPr lang="vi-VN" sz="2400" b="1">
                <a:latin typeface="Public Sans Bold" panose="020B0604020202020204" charset="0"/>
                <a:cs typeface="Public Sans Bold" panose="020B0604020202020204" charset="0"/>
              </a:rPr>
              <a:t>Cơ chế Listener: Sử dụng Interface ClientListener để thông báo ngược lại cho UI khi có sự kiện mạng xảy ra (ví dụ: khi đối thủ đầu hàng hoặc khi trận đấu bắt đầu).</a:t>
            </a:r>
          </a:p>
        </p:txBody>
      </p:sp>
      <p:sp>
        <p:nvSpPr>
          <p:cNvPr id="21" name="TextBox 3">
            <a:extLst>
              <a:ext uri="{FF2B5EF4-FFF2-40B4-BE49-F238E27FC236}">
                <a16:creationId xmlns:a16="http://schemas.microsoft.com/office/drawing/2014/main" id="{84499F4F-79C2-484E-9BB8-489AC1387258}"/>
              </a:ext>
            </a:extLst>
          </p:cNvPr>
          <p:cNvSpPr txBox="1"/>
          <p:nvPr/>
        </p:nvSpPr>
        <p:spPr>
          <a:xfrm>
            <a:off x="1095728" y="2054838"/>
            <a:ext cx="7057672" cy="945452"/>
          </a:xfrm>
          <a:prstGeom prst="rect">
            <a:avLst/>
          </a:prstGeom>
        </p:spPr>
        <p:txBody>
          <a:bodyPr wrap="square" lIns="0" tIns="0" rIns="0" bIns="0" rtlCol="0" anchor="t">
            <a:spAutoFit/>
          </a:bodyPr>
          <a:lstStyle/>
          <a:p>
            <a:pPr>
              <a:lnSpc>
                <a:spcPts val="8599"/>
              </a:lnSpc>
            </a:pPr>
            <a:r>
              <a:rPr lang="vi-VN" sz="3600" b="1">
                <a:solidFill>
                  <a:srgbClr val="000000"/>
                </a:solidFill>
                <a:latin typeface="Canva Sans Bold"/>
                <a:ea typeface="Canva Sans Bold"/>
                <a:cs typeface="Canva Sans Bold"/>
                <a:sym typeface="Canva Sans Bold"/>
              </a:rPr>
              <a:t>2. ClientSocket.java </a:t>
            </a:r>
            <a:r>
              <a:rPr lang="en-US" sz="3600" b="1"/>
              <a:t>(Lớp bọc)</a:t>
            </a:r>
            <a:endParaRPr lang="en-US" sz="3600" b="1">
              <a:solidFill>
                <a:srgbClr val="000000"/>
              </a:solidFill>
              <a:latin typeface="Canva Sans Bold"/>
              <a:ea typeface="Canva Sans Bold"/>
              <a:cs typeface="Canva Sans Bold"/>
              <a:sym typeface="Canva Sans Bold"/>
            </a:endParaRPr>
          </a:p>
        </p:txBody>
      </p:sp>
      <p:grpSp>
        <p:nvGrpSpPr>
          <p:cNvPr id="22" name="Group 21">
            <a:extLst>
              <a:ext uri="{FF2B5EF4-FFF2-40B4-BE49-F238E27FC236}">
                <a16:creationId xmlns:a16="http://schemas.microsoft.com/office/drawing/2014/main" id="{3075C7DB-C073-44BB-A4C7-C765083DF486}"/>
              </a:ext>
            </a:extLst>
          </p:cNvPr>
          <p:cNvGrpSpPr/>
          <p:nvPr/>
        </p:nvGrpSpPr>
        <p:grpSpPr>
          <a:xfrm>
            <a:off x="1237791" y="3095941"/>
            <a:ext cx="6375470" cy="6367519"/>
            <a:chOff x="1189858" y="3311496"/>
            <a:chExt cx="9906313" cy="6478177"/>
          </a:xfrm>
        </p:grpSpPr>
        <p:grpSp>
          <p:nvGrpSpPr>
            <p:cNvPr id="23" name="Group 2">
              <a:extLst>
                <a:ext uri="{FF2B5EF4-FFF2-40B4-BE49-F238E27FC236}">
                  <a16:creationId xmlns:a16="http://schemas.microsoft.com/office/drawing/2014/main" id="{ED6DBDD7-FC06-41D6-9942-C0A9DA5A6EB5}"/>
                </a:ext>
              </a:extLst>
            </p:cNvPr>
            <p:cNvGrpSpPr/>
            <p:nvPr/>
          </p:nvGrpSpPr>
          <p:grpSpPr>
            <a:xfrm>
              <a:off x="1189858" y="3311496"/>
              <a:ext cx="9906313" cy="6478177"/>
              <a:chOff x="0" y="0"/>
              <a:chExt cx="3193467" cy="2725843"/>
            </a:xfrm>
          </p:grpSpPr>
          <p:sp>
            <p:nvSpPr>
              <p:cNvPr id="25" name="Freeform 3">
                <a:extLst>
                  <a:ext uri="{FF2B5EF4-FFF2-40B4-BE49-F238E27FC236}">
                    <a16:creationId xmlns:a16="http://schemas.microsoft.com/office/drawing/2014/main" id="{D95755AF-246F-4BF1-A97B-7C725EC98FCA}"/>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txBody>
              <a:bodyPr/>
              <a:lstStyle/>
              <a:p>
                <a:endParaRPr lang="en-US" sz="2400" b="1">
                  <a:latin typeface="Public Sans Bold" panose="020B0604020202020204" charset="0"/>
                  <a:cs typeface="Public Sans Bold" panose="020B0604020202020204" charset="0"/>
                </a:endParaRPr>
              </a:p>
            </p:txBody>
          </p:sp>
        </p:grpSp>
        <p:sp>
          <p:nvSpPr>
            <p:cNvPr id="24" name="TextBox 4">
              <a:extLst>
                <a:ext uri="{FF2B5EF4-FFF2-40B4-BE49-F238E27FC236}">
                  <a16:creationId xmlns:a16="http://schemas.microsoft.com/office/drawing/2014/main" id="{7F09A0BD-7926-4CF8-AE23-7A4A702DB631}"/>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6" name="TextBox 35">
            <a:extLst>
              <a:ext uri="{FF2B5EF4-FFF2-40B4-BE49-F238E27FC236}">
                <a16:creationId xmlns:a16="http://schemas.microsoft.com/office/drawing/2014/main" id="{88372D05-F5E2-456E-A8C2-5218AFDB8AAF}"/>
              </a:ext>
            </a:extLst>
          </p:cNvPr>
          <p:cNvSpPr txBox="1"/>
          <p:nvPr/>
        </p:nvSpPr>
        <p:spPr>
          <a:xfrm>
            <a:off x="1444727" y="3180836"/>
            <a:ext cx="6068715" cy="6117829"/>
          </a:xfrm>
          <a:prstGeom prst="rect">
            <a:avLst/>
          </a:prstGeom>
          <a:noFill/>
        </p:spPr>
        <p:txBody>
          <a:bodyPr wrap="square">
            <a:spAutoFit/>
          </a:bodyPr>
          <a:lstStyle/>
          <a:p>
            <a:pPr>
              <a:lnSpc>
                <a:spcPct val="150000"/>
              </a:lnSpc>
            </a:pPr>
            <a:r>
              <a:rPr lang="vi-VN" sz="2400" b="1">
                <a:solidFill>
                  <a:schemeClr val="accent3">
                    <a:lumMod val="50000"/>
                  </a:schemeClr>
                </a:solidFill>
                <a:latin typeface="Public Sans Bold" panose="020B0604020202020204" charset="0"/>
                <a:cs typeface="Public Sans Bold" panose="020B0604020202020204" charset="0"/>
              </a:rPr>
              <a:t>Luồng hoạt động tiêu biểu (Gửi nước đi)</a:t>
            </a:r>
          </a:p>
          <a:p>
            <a:pPr>
              <a:lnSpc>
                <a:spcPct val="150000"/>
              </a:lnSpc>
            </a:pPr>
            <a:endParaRPr lang="vi-VN" sz="2400" b="1">
              <a:solidFill>
                <a:schemeClr val="accent3">
                  <a:lumMod val="50000"/>
                </a:schemeClr>
              </a:solidFill>
              <a:latin typeface="Public Sans Bold" panose="020B0604020202020204" charset="0"/>
              <a:cs typeface="Public Sans Bold" panose="020B0604020202020204" charset="0"/>
            </a:endParaRPr>
          </a:p>
          <a:p>
            <a:pPr>
              <a:lnSpc>
                <a:spcPct val="150000"/>
              </a:lnSpc>
            </a:pPr>
            <a:r>
              <a:rPr lang="vi-VN" sz="2400" b="1">
                <a:solidFill>
                  <a:schemeClr val="accent3">
                    <a:lumMod val="50000"/>
                  </a:schemeClr>
                </a:solidFill>
                <a:latin typeface="Public Sans Bold" panose="020B0604020202020204" charset="0"/>
                <a:cs typeface="Public Sans Bold" panose="020B0604020202020204" charset="0"/>
              </a:rPr>
              <a:t>Gửi đi: Người chơi click -&gt; ClientSocket gọi sendMove -&gt; SocketHandler ghi dòng chữ "MOVE row col" vào luồng xuất (OutputStream).</a:t>
            </a:r>
          </a:p>
          <a:p>
            <a:pPr>
              <a:lnSpc>
                <a:spcPct val="150000"/>
              </a:lnSpc>
            </a:pPr>
            <a:endParaRPr lang="vi-VN" sz="2400" b="1">
              <a:solidFill>
                <a:schemeClr val="accent3">
                  <a:lumMod val="50000"/>
                </a:schemeClr>
              </a:solidFill>
              <a:latin typeface="Public Sans Bold" panose="020B0604020202020204" charset="0"/>
              <a:cs typeface="Public Sans Bold" panose="020B0604020202020204" charset="0"/>
            </a:endParaRPr>
          </a:p>
          <a:p>
            <a:pPr>
              <a:lnSpc>
                <a:spcPct val="150000"/>
              </a:lnSpc>
            </a:pPr>
            <a:r>
              <a:rPr lang="vi-VN" sz="2400" b="1">
                <a:solidFill>
                  <a:schemeClr val="accent3">
                    <a:lumMod val="50000"/>
                  </a:schemeClr>
                </a:solidFill>
                <a:latin typeface="Public Sans Bold" panose="020B0604020202020204" charset="0"/>
                <a:cs typeface="Public Sans Bold" panose="020B0604020202020204" charset="0"/>
              </a:rPr>
              <a:t>Nhận về: Server trả về lệnh MOVE -&gt; SocketHandler bắt được -&gt; Phân tích tọa độ -&gt; Gọi GameManager cập nhật bàn cờ và gọi UI vẽ lại quân cờ.</a:t>
            </a:r>
            <a:endParaRPr lang="en-US" sz="2400" b="1">
              <a:solidFill>
                <a:schemeClr val="accent3">
                  <a:lumMod val="50000"/>
                </a:schemeClr>
              </a:solidFill>
              <a:latin typeface="Public Sans Bold" panose="020B0604020202020204" charset="0"/>
              <a:cs typeface="Public Sans Bold" panose="020B0604020202020204" charset="0"/>
            </a:endParaRPr>
          </a:p>
        </p:txBody>
      </p:sp>
      <p:sp>
        <p:nvSpPr>
          <p:cNvPr id="38" name="Freeform 14">
            <a:extLst>
              <a:ext uri="{FF2B5EF4-FFF2-40B4-BE49-F238E27FC236}">
                <a16:creationId xmlns:a16="http://schemas.microsoft.com/office/drawing/2014/main" id="{8DD9370E-C84C-49BE-A3CE-0E68A037C951}"/>
              </a:ext>
            </a:extLst>
          </p:cNvPr>
          <p:cNvSpPr/>
          <p:nvPr/>
        </p:nvSpPr>
        <p:spPr>
          <a:xfrm rot="5400000">
            <a:off x="16801992" y="7804295"/>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4255704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9725000" y="9172837"/>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4800508" y="-890528"/>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TextBox 3">
            <a:extLst>
              <a:ext uri="{FF2B5EF4-FFF2-40B4-BE49-F238E27FC236}">
                <a16:creationId xmlns:a16="http://schemas.microsoft.com/office/drawing/2014/main" id="{5AEEFD0A-720D-4EB3-8B00-02F8D0B9B95D}"/>
              </a:ext>
            </a:extLst>
          </p:cNvPr>
          <p:cNvSpPr txBox="1"/>
          <p:nvPr/>
        </p:nvSpPr>
        <p:spPr>
          <a:xfrm>
            <a:off x="1077543" y="2203645"/>
            <a:ext cx="3468754"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1. Board.java</a:t>
            </a:r>
            <a:endParaRPr lang="en-US" sz="3999" b="1">
              <a:solidFill>
                <a:srgbClr val="000000"/>
              </a:solidFill>
              <a:latin typeface="Canva Sans Bold"/>
              <a:ea typeface="Canva Sans Bold"/>
              <a:cs typeface="Canva Sans Bold"/>
              <a:sym typeface="Canva Sans Bold"/>
            </a:endParaRPr>
          </a:p>
        </p:txBody>
      </p:sp>
      <p:grpSp>
        <p:nvGrpSpPr>
          <p:cNvPr id="7" name="Group 6">
            <a:extLst>
              <a:ext uri="{FF2B5EF4-FFF2-40B4-BE49-F238E27FC236}">
                <a16:creationId xmlns:a16="http://schemas.microsoft.com/office/drawing/2014/main" id="{19FE25E9-11CC-4BA9-A765-B8F708E69DD3}"/>
              </a:ext>
            </a:extLst>
          </p:cNvPr>
          <p:cNvGrpSpPr/>
          <p:nvPr/>
        </p:nvGrpSpPr>
        <p:grpSpPr>
          <a:xfrm>
            <a:off x="864632" y="3446827"/>
            <a:ext cx="9906313" cy="6608370"/>
            <a:chOff x="1189858" y="3311496"/>
            <a:chExt cx="9906313" cy="6608370"/>
          </a:xfrm>
        </p:grpSpPr>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6478177"/>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3" name="TextBox 4">
              <a:extLst>
                <a:ext uri="{FF2B5EF4-FFF2-40B4-BE49-F238E27FC236}">
                  <a16:creationId xmlns:a16="http://schemas.microsoft.com/office/drawing/2014/main" id="{DF9C5601-CAAF-486B-8971-648DA54FFC02}"/>
                </a:ext>
              </a:extLst>
            </p:cNvPr>
            <p:cNvSpPr txBox="1"/>
            <p:nvPr/>
          </p:nvSpPr>
          <p:spPr>
            <a:xfrm>
              <a:off x="1403636" y="3437770"/>
              <a:ext cx="9537435" cy="6482096"/>
            </a:xfrm>
            <a:prstGeom prst="rect">
              <a:avLst/>
            </a:prstGeom>
          </p:spPr>
          <p:txBody>
            <a:bodyPr lIns="0" tIns="0" rIns="0" bIns="0" rtlCol="0" anchor="t">
              <a:spAutoFit/>
            </a:bodyPr>
            <a:lstStyle/>
            <a:p>
              <a:pPr algn="just">
                <a:lnSpc>
                  <a:spcPts val="4275"/>
                </a:lnSpc>
              </a:pPr>
              <a:r>
                <a:rPr lang="en-US" sz="2400" b="1">
                  <a:solidFill>
                    <a:srgbClr val="121212"/>
                  </a:solidFill>
                  <a:latin typeface="Public Sans Bold"/>
                  <a:ea typeface="Public Sans Bold"/>
                  <a:cs typeface="Public Sans Bold"/>
                  <a:sym typeface="Public Sans Bold"/>
                </a:rPr>
                <a:t>Board (Bàn cờ)</a:t>
              </a:r>
            </a:p>
            <a:p>
              <a:pPr algn="just">
                <a:lnSpc>
                  <a:spcPts val="4275"/>
                </a:lnSpc>
              </a:pPr>
              <a:r>
                <a:rPr lang="en-US" sz="2400" b="1">
                  <a:solidFill>
                    <a:srgbClr val="121212"/>
                  </a:solidFill>
                  <a:latin typeface="Public Sans Bold"/>
                  <a:ea typeface="Public Sans Bold"/>
                  <a:cs typeface="Public Sans Bold"/>
                  <a:sym typeface="Public Sans Bold"/>
                </a:rPr>
                <a:t>Bàn cờ được thiết kế với kích thước 15 x 15.</a:t>
              </a:r>
            </a:p>
            <a:p>
              <a:pPr algn="just">
                <a:lnSpc>
                  <a:spcPts val="4275"/>
                </a:lnSpc>
              </a:pPr>
              <a:r>
                <a:rPr lang="en-US" sz="2400" b="1">
                  <a:solidFill>
                    <a:srgbClr val="121212"/>
                  </a:solidFill>
                  <a:latin typeface="Public Sans Bold"/>
                  <a:ea typeface="Public Sans Bold"/>
                  <a:cs typeface="Public Sans Bold"/>
                  <a:sym typeface="Public Sans Bold"/>
                </a:rPr>
                <a:t> Luật chơi: người chơi nào đạt được 5 quân liên tiếp theo hàng, cột hoặc đường chéo trước sẽ giành chiến thắng.</a:t>
              </a:r>
            </a:p>
            <a:p>
              <a:pPr algn="just">
                <a:lnSpc>
                  <a:spcPts val="4275"/>
                </a:lnSpc>
              </a:pPr>
              <a:r>
                <a:rPr lang="en-US" sz="2400" b="1">
                  <a:solidFill>
                    <a:srgbClr val="121212"/>
                  </a:solidFill>
                  <a:latin typeface="Public Sans Bold"/>
                  <a:ea typeface="Public Sans Bold"/>
                  <a:cs typeface="Public Sans Bold"/>
                  <a:sym typeface="Public Sans Bold"/>
                </a:rPr>
                <a:t>Cơ chế trong game</a:t>
              </a:r>
            </a:p>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Người chơi có thể đầu hàng (Surrender) và sẽ bị xử thua</a:t>
              </a:r>
            </a:p>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Nếu hết thời gian, hệ thống tự động xử thua</a:t>
              </a:r>
            </a:p>
            <a:p>
              <a:pPr marL="615406" lvl="1" indent="-307703" algn="just">
                <a:lnSpc>
                  <a:spcPts val="4275"/>
                </a:lnSpc>
                <a:buFont typeface="Arial"/>
                <a:buChar char="•"/>
              </a:pPr>
              <a:r>
                <a:rPr lang="en-US" sz="2400" b="1">
                  <a:solidFill>
                    <a:srgbClr val="121212"/>
                  </a:solidFill>
                  <a:latin typeface="Public Sans Bold"/>
                  <a:ea typeface="Public Sans Bold"/>
                  <a:cs typeface="Public Sans Bold"/>
                  <a:sym typeface="Public Sans Bold"/>
                </a:rPr>
                <a:t>Trong khi đang thi đấu:</a:t>
              </a:r>
            </a:p>
            <a:p>
              <a:pPr marL="1230811" lvl="2" indent="-410270" algn="just">
                <a:lnSpc>
                  <a:spcPts val="4275"/>
                </a:lnSpc>
                <a:buFont typeface="Arial"/>
                <a:buChar char="⚬"/>
              </a:pPr>
              <a:r>
                <a:rPr lang="en-US" sz="2400" b="1">
                  <a:solidFill>
                    <a:srgbClr val="121212"/>
                  </a:solidFill>
                  <a:latin typeface="Public Sans Bold"/>
                  <a:ea typeface="Public Sans Bold"/>
                  <a:cs typeface="Public Sans Bold"/>
                  <a:sym typeface="Public Sans Bold"/>
                </a:rPr>
                <a:t>Không nhận thêm lời thách đấu</a:t>
              </a:r>
            </a:p>
            <a:p>
              <a:pPr marL="1230811" lvl="2" indent="-410270" algn="just">
                <a:lnSpc>
                  <a:spcPts val="4275"/>
                </a:lnSpc>
                <a:buFont typeface="Arial"/>
                <a:buChar char="⚬"/>
              </a:pPr>
              <a:r>
                <a:rPr lang="en-US" sz="2400" b="1">
                  <a:solidFill>
                    <a:srgbClr val="121212"/>
                  </a:solidFill>
                  <a:latin typeface="Public Sans Bold"/>
                  <a:ea typeface="Public Sans Bold"/>
                  <a:cs typeface="Public Sans Bold"/>
                  <a:sym typeface="Public Sans Bold"/>
                </a:rPr>
                <a:t>Người thứ ba không thể gửi lời mời đến hai người đang chơi </a:t>
              </a:r>
            </a:p>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4" name="Freeform 5">
            <a:extLst>
              <a:ext uri="{FF2B5EF4-FFF2-40B4-BE49-F238E27FC236}">
                <a16:creationId xmlns:a16="http://schemas.microsoft.com/office/drawing/2014/main" id="{FF4BC6FF-00E7-46AF-8595-56A6CB4E8BE6}"/>
              </a:ext>
            </a:extLst>
          </p:cNvPr>
          <p:cNvSpPr/>
          <p:nvPr/>
        </p:nvSpPr>
        <p:spPr>
          <a:xfrm>
            <a:off x="11469057" y="1796634"/>
            <a:ext cx="5954311" cy="7177726"/>
          </a:xfrm>
          <a:custGeom>
            <a:avLst/>
            <a:gdLst/>
            <a:ahLst/>
            <a:cxnLst/>
            <a:rect l="l" t="t" r="r" b="b"/>
            <a:pathLst>
              <a:path w="4839234" h="6356958">
                <a:moveTo>
                  <a:pt x="0" y="0"/>
                </a:moveTo>
                <a:lnTo>
                  <a:pt x="4839234" y="0"/>
                </a:lnTo>
                <a:lnTo>
                  <a:pt x="4839234" y="6356958"/>
                </a:lnTo>
                <a:lnTo>
                  <a:pt x="0" y="6356958"/>
                </a:lnTo>
                <a:lnTo>
                  <a:pt x="0" y="0"/>
                </a:lnTo>
                <a:close/>
              </a:path>
            </a:pathLst>
          </a:custGeom>
          <a:blipFill>
            <a:blip r:embed="rId6"/>
            <a:stretch>
              <a:fillRect/>
            </a:stretch>
          </a:blipFill>
        </p:spPr>
      </p:sp>
      <p:sp>
        <p:nvSpPr>
          <p:cNvPr id="35" name="TextBox 3">
            <a:extLst>
              <a:ext uri="{FF2B5EF4-FFF2-40B4-BE49-F238E27FC236}">
                <a16:creationId xmlns:a16="http://schemas.microsoft.com/office/drawing/2014/main" id="{0F01CC7D-B61A-420C-ABB5-52036C629FBA}"/>
              </a:ext>
            </a:extLst>
          </p:cNvPr>
          <p:cNvSpPr txBox="1"/>
          <p:nvPr/>
        </p:nvSpPr>
        <p:spPr>
          <a:xfrm>
            <a:off x="1064039" y="1364502"/>
            <a:ext cx="3468754"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5. Game</a:t>
            </a:r>
            <a:endParaRPr lang="en-US" sz="3999" b="1">
              <a:solidFill>
                <a:srgbClr val="000000"/>
              </a:solidFill>
              <a:latin typeface="Canva Sans Bold"/>
              <a:ea typeface="Canva Sans Bold"/>
              <a:cs typeface="Canva Sans Bold"/>
              <a:sym typeface="Canva Sans Bold"/>
            </a:endParaRPr>
          </a:p>
        </p:txBody>
      </p:sp>
    </p:spTree>
    <p:extLst>
      <p:ext uri="{BB962C8B-B14F-4D97-AF65-F5344CB8AC3E}">
        <p14:creationId xmlns:p14="http://schemas.microsoft.com/office/powerpoint/2010/main" val="910862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9725000" y="9172837"/>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4800508" y="-890528"/>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TextBox 3">
            <a:extLst>
              <a:ext uri="{FF2B5EF4-FFF2-40B4-BE49-F238E27FC236}">
                <a16:creationId xmlns:a16="http://schemas.microsoft.com/office/drawing/2014/main" id="{5AEEFD0A-720D-4EB3-8B00-02F8D0B9B95D}"/>
              </a:ext>
            </a:extLst>
          </p:cNvPr>
          <p:cNvSpPr txBox="1"/>
          <p:nvPr/>
        </p:nvSpPr>
        <p:spPr>
          <a:xfrm>
            <a:off x="1095728" y="1252999"/>
            <a:ext cx="5457471"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2. GameManager.java</a:t>
            </a:r>
            <a:endParaRPr lang="en-US" sz="3999" b="1">
              <a:solidFill>
                <a:srgbClr val="000000"/>
              </a:solidFill>
              <a:latin typeface="Canva Sans Bold"/>
              <a:ea typeface="Canva Sans Bold"/>
              <a:cs typeface="Canva Sans Bold"/>
              <a:sym typeface="Canva Sans Bold"/>
            </a:endParaRPr>
          </a:p>
        </p:txBody>
      </p:sp>
      <p:grpSp>
        <p:nvGrpSpPr>
          <p:cNvPr id="7" name="Group 6">
            <a:extLst>
              <a:ext uri="{FF2B5EF4-FFF2-40B4-BE49-F238E27FC236}">
                <a16:creationId xmlns:a16="http://schemas.microsoft.com/office/drawing/2014/main" id="{19FE25E9-11CC-4BA9-A765-B8F708E69DD3}"/>
              </a:ext>
            </a:extLst>
          </p:cNvPr>
          <p:cNvGrpSpPr/>
          <p:nvPr/>
        </p:nvGrpSpPr>
        <p:grpSpPr>
          <a:xfrm>
            <a:off x="882818" y="2496181"/>
            <a:ext cx="9906313" cy="3104519"/>
            <a:chOff x="1189858" y="3311496"/>
            <a:chExt cx="9906313" cy="6478177"/>
          </a:xfrm>
        </p:grpSpPr>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6478177"/>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3" name="TextBox 4">
              <a:extLst>
                <a:ext uri="{FF2B5EF4-FFF2-40B4-BE49-F238E27FC236}">
                  <a16:creationId xmlns:a16="http://schemas.microsoft.com/office/drawing/2014/main" id="{DF9C5601-CAAF-486B-8971-648DA54FFC02}"/>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1" name="TextBox 4">
            <a:extLst>
              <a:ext uri="{FF2B5EF4-FFF2-40B4-BE49-F238E27FC236}">
                <a16:creationId xmlns:a16="http://schemas.microsoft.com/office/drawing/2014/main" id="{1BF74AA2-843D-41C4-B9BF-328A69EF93B2}"/>
              </a:ext>
            </a:extLst>
          </p:cNvPr>
          <p:cNvSpPr txBox="1"/>
          <p:nvPr/>
        </p:nvSpPr>
        <p:spPr>
          <a:xfrm>
            <a:off x="1096596" y="2622455"/>
            <a:ext cx="9537435" cy="2689326"/>
          </a:xfrm>
          <a:prstGeom prst="rect">
            <a:avLst/>
          </a:prstGeom>
        </p:spPr>
        <p:txBody>
          <a:bodyPr lIns="0" tIns="0" rIns="0" bIns="0" rtlCol="0" anchor="t">
            <a:spAutoFit/>
          </a:bodyPr>
          <a:lstStyle/>
          <a:p>
            <a:pPr algn="just">
              <a:lnSpc>
                <a:spcPts val="4275"/>
              </a:lnSpc>
            </a:pPr>
            <a:r>
              <a:rPr lang="vi-VN" sz="2400" b="1">
                <a:solidFill>
                  <a:srgbClr val="121212"/>
                </a:solidFill>
                <a:latin typeface="Public Sans Bold"/>
                <a:ea typeface="Public Sans Bold"/>
                <a:cs typeface="Public Sans Bold"/>
                <a:sym typeface="Public Sans Bold"/>
              </a:rPr>
              <a:t>Vai trò của GameManager</a:t>
            </a:r>
          </a:p>
          <a:p>
            <a:pPr algn="just">
              <a:lnSpc>
                <a:spcPts val="4275"/>
              </a:lnSpc>
            </a:pPr>
            <a:r>
              <a:rPr lang="vi-VN" sz="2400" b="1">
                <a:solidFill>
                  <a:srgbClr val="121212"/>
                </a:solidFill>
                <a:latin typeface="Public Sans Bold"/>
                <a:ea typeface="Public Sans Bold"/>
                <a:cs typeface="Public Sans Bold"/>
                <a:sym typeface="Public Sans Bold"/>
              </a:rPr>
              <a:t>Bộ não điều phối: Là lớp trung gian quản lý logic trận đấu, tách biệt hoàn toàn giữa Giao diện (UI) và Mạng (Socket).</a:t>
            </a:r>
          </a:p>
          <a:p>
            <a:pPr algn="just">
              <a:lnSpc>
                <a:spcPts val="4275"/>
              </a:lnSpc>
            </a:pPr>
            <a:r>
              <a:rPr lang="vi-VN" sz="2400" b="1">
                <a:solidFill>
                  <a:srgbClr val="121212"/>
                </a:solidFill>
                <a:latin typeface="Public Sans Bold"/>
                <a:ea typeface="Public Sans Bold"/>
                <a:cs typeface="Public Sans Bold"/>
                <a:sym typeface="Public Sans Bold"/>
              </a:rPr>
              <a:t>Cơ chế Listener: Sử dụng Interface GameListener để đẩy sự kiện lên UI (như vẽ quân cờ, báo thắng/thua)</a:t>
            </a:r>
            <a:endParaRPr lang="en-US" sz="2400" b="1">
              <a:solidFill>
                <a:srgbClr val="121212"/>
              </a:solidFill>
              <a:latin typeface="Public Sans Bold"/>
              <a:ea typeface="Public Sans Bold"/>
              <a:cs typeface="Public Sans Bold"/>
              <a:sym typeface="Public Sans Bold"/>
            </a:endParaRPr>
          </a:p>
        </p:txBody>
      </p:sp>
      <p:grpSp>
        <p:nvGrpSpPr>
          <p:cNvPr id="19" name="Group 18">
            <a:extLst>
              <a:ext uri="{FF2B5EF4-FFF2-40B4-BE49-F238E27FC236}">
                <a16:creationId xmlns:a16="http://schemas.microsoft.com/office/drawing/2014/main" id="{4F1DB07D-D629-4037-9BC9-1CCBAABA2560}"/>
              </a:ext>
            </a:extLst>
          </p:cNvPr>
          <p:cNvGrpSpPr/>
          <p:nvPr/>
        </p:nvGrpSpPr>
        <p:grpSpPr>
          <a:xfrm>
            <a:off x="11277600" y="1724954"/>
            <a:ext cx="6127582" cy="7152345"/>
            <a:chOff x="11277600" y="1724954"/>
            <a:chExt cx="6127582" cy="7152345"/>
          </a:xfrm>
        </p:grpSpPr>
        <p:sp>
          <p:nvSpPr>
            <p:cNvPr id="35" name="Freeform 3">
              <a:extLst>
                <a:ext uri="{FF2B5EF4-FFF2-40B4-BE49-F238E27FC236}">
                  <a16:creationId xmlns:a16="http://schemas.microsoft.com/office/drawing/2014/main" id="{C5E75101-A343-48AC-8ED2-4A7D2053F21C}"/>
                </a:ext>
              </a:extLst>
            </p:cNvPr>
            <p:cNvSpPr/>
            <p:nvPr/>
          </p:nvSpPr>
          <p:spPr>
            <a:xfrm>
              <a:off x="11277600" y="1724954"/>
              <a:ext cx="6127582" cy="7152345"/>
            </a:xfrm>
            <a:custGeom>
              <a:avLst/>
              <a:gdLst/>
              <a:ahLst/>
              <a:cxnLst/>
              <a:rect l="l" t="t" r="r" b="b"/>
              <a:pathLst>
                <a:path w="5276275" h="6356958">
                  <a:moveTo>
                    <a:pt x="0" y="0"/>
                  </a:moveTo>
                  <a:lnTo>
                    <a:pt x="5276275" y="0"/>
                  </a:lnTo>
                  <a:lnTo>
                    <a:pt x="5276275" y="6356958"/>
                  </a:lnTo>
                  <a:lnTo>
                    <a:pt x="0" y="6356958"/>
                  </a:lnTo>
                  <a:lnTo>
                    <a:pt x="0" y="0"/>
                  </a:lnTo>
                  <a:close/>
                </a:path>
              </a:pathLst>
            </a:custGeom>
            <a:blipFill>
              <a:blip r:embed="rId6"/>
              <a:stretch>
                <a:fillRect/>
              </a:stretch>
            </a:blipFill>
          </p:spPr>
        </p:sp>
        <p:sp>
          <p:nvSpPr>
            <p:cNvPr id="36" name="Freeform 2">
              <a:extLst>
                <a:ext uri="{FF2B5EF4-FFF2-40B4-BE49-F238E27FC236}">
                  <a16:creationId xmlns:a16="http://schemas.microsoft.com/office/drawing/2014/main" id="{5E0FB2F2-5263-4A31-88C8-0E394FB72161}"/>
                </a:ext>
              </a:extLst>
            </p:cNvPr>
            <p:cNvSpPr/>
            <p:nvPr/>
          </p:nvSpPr>
          <p:spPr>
            <a:xfrm>
              <a:off x="12622968" y="4760510"/>
              <a:ext cx="3436845" cy="1416814"/>
            </a:xfrm>
            <a:custGeom>
              <a:avLst/>
              <a:gdLst/>
              <a:ahLst/>
              <a:cxnLst/>
              <a:rect l="l" t="t" r="r" b="b"/>
              <a:pathLst>
                <a:path w="9461296" h="4182585">
                  <a:moveTo>
                    <a:pt x="0" y="0"/>
                  </a:moveTo>
                  <a:lnTo>
                    <a:pt x="9461296" y="0"/>
                  </a:lnTo>
                  <a:lnTo>
                    <a:pt x="9461296" y="4182585"/>
                  </a:lnTo>
                  <a:lnTo>
                    <a:pt x="0" y="4182585"/>
                  </a:lnTo>
                  <a:lnTo>
                    <a:pt x="0" y="0"/>
                  </a:lnTo>
                  <a:close/>
                </a:path>
              </a:pathLst>
            </a:custGeom>
            <a:blipFill>
              <a:blip r:embed="rId7"/>
              <a:stretch>
                <a:fillRect/>
              </a:stretch>
            </a:blipFill>
          </p:spPr>
        </p:sp>
      </p:grpSp>
    </p:spTree>
    <p:extLst>
      <p:ext uri="{BB962C8B-B14F-4D97-AF65-F5344CB8AC3E}">
        <p14:creationId xmlns:p14="http://schemas.microsoft.com/office/powerpoint/2010/main" val="2115136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5105201" y="8712052"/>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4800508" y="-890528"/>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TextBox 3">
            <a:extLst>
              <a:ext uri="{FF2B5EF4-FFF2-40B4-BE49-F238E27FC236}">
                <a16:creationId xmlns:a16="http://schemas.microsoft.com/office/drawing/2014/main" id="{5AEEFD0A-720D-4EB3-8B00-02F8D0B9B95D}"/>
              </a:ext>
            </a:extLst>
          </p:cNvPr>
          <p:cNvSpPr txBox="1"/>
          <p:nvPr/>
        </p:nvSpPr>
        <p:spPr>
          <a:xfrm>
            <a:off x="1095728" y="1252999"/>
            <a:ext cx="5457471"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2. GameManager.java</a:t>
            </a:r>
            <a:endParaRPr lang="en-US" sz="3999" b="1">
              <a:solidFill>
                <a:srgbClr val="000000"/>
              </a:solidFill>
              <a:latin typeface="Canva Sans Bold"/>
              <a:ea typeface="Canva Sans Bold"/>
              <a:cs typeface="Canva Sans Bold"/>
              <a:sym typeface="Canva Sans Bold"/>
            </a:endParaRPr>
          </a:p>
        </p:txBody>
      </p:sp>
      <p:grpSp>
        <p:nvGrpSpPr>
          <p:cNvPr id="11" name="Group 10">
            <a:extLst>
              <a:ext uri="{FF2B5EF4-FFF2-40B4-BE49-F238E27FC236}">
                <a16:creationId xmlns:a16="http://schemas.microsoft.com/office/drawing/2014/main" id="{B38FCD63-A5CA-4112-B715-5466147B51A0}"/>
              </a:ext>
            </a:extLst>
          </p:cNvPr>
          <p:cNvGrpSpPr/>
          <p:nvPr/>
        </p:nvGrpSpPr>
        <p:grpSpPr>
          <a:xfrm>
            <a:off x="882819" y="2496180"/>
            <a:ext cx="7270582" cy="4628519"/>
            <a:chOff x="882819" y="2496180"/>
            <a:chExt cx="7270582" cy="4628519"/>
          </a:xfrm>
        </p:grpSpPr>
        <p:grpSp>
          <p:nvGrpSpPr>
            <p:cNvPr id="7" name="Group 6">
              <a:extLst>
                <a:ext uri="{FF2B5EF4-FFF2-40B4-BE49-F238E27FC236}">
                  <a16:creationId xmlns:a16="http://schemas.microsoft.com/office/drawing/2014/main" id="{19FE25E9-11CC-4BA9-A765-B8F708E69DD3}"/>
                </a:ext>
              </a:extLst>
            </p:cNvPr>
            <p:cNvGrpSpPr/>
            <p:nvPr/>
          </p:nvGrpSpPr>
          <p:grpSpPr>
            <a:xfrm>
              <a:off x="882819" y="2496180"/>
              <a:ext cx="7270582" cy="4628519"/>
              <a:chOff x="1189858" y="3311496"/>
              <a:chExt cx="9906313" cy="6478177"/>
            </a:xfrm>
          </p:grpSpPr>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6478177"/>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3" name="TextBox 4">
                <a:extLst>
                  <a:ext uri="{FF2B5EF4-FFF2-40B4-BE49-F238E27FC236}">
                    <a16:creationId xmlns:a16="http://schemas.microsoft.com/office/drawing/2014/main" id="{DF9C5601-CAAF-486B-8971-648DA54FFC02}"/>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1" name="TextBox 4">
              <a:extLst>
                <a:ext uri="{FF2B5EF4-FFF2-40B4-BE49-F238E27FC236}">
                  <a16:creationId xmlns:a16="http://schemas.microsoft.com/office/drawing/2014/main" id="{1BF74AA2-843D-41C4-B9BF-328A69EF93B2}"/>
                </a:ext>
              </a:extLst>
            </p:cNvPr>
            <p:cNvSpPr txBox="1"/>
            <p:nvPr/>
          </p:nvSpPr>
          <p:spPr>
            <a:xfrm>
              <a:off x="1096597" y="2622455"/>
              <a:ext cx="7056803" cy="4363502"/>
            </a:xfrm>
            <a:prstGeom prst="rect">
              <a:avLst/>
            </a:prstGeom>
          </p:spPr>
          <p:txBody>
            <a:bodyPr wrap="square" lIns="0" tIns="0" rIns="0" bIns="0" rtlCol="0" anchor="t">
              <a:spAutoFit/>
            </a:bodyPr>
            <a:lstStyle/>
            <a:p>
              <a:pPr>
                <a:lnSpc>
                  <a:spcPct val="150000"/>
                </a:lnSpc>
              </a:pPr>
              <a:r>
                <a:rPr lang="vi-VN" sz="2400" b="1"/>
                <a:t>1. Quản lý trạng thái </a:t>
              </a:r>
            </a:p>
            <a:p>
              <a:pPr>
                <a:lnSpc>
                  <a:spcPct val="150000"/>
                </a:lnSpc>
              </a:pPr>
              <a:r>
                <a:rPr lang="vi-VN" sz="2400"/>
                <a:t>Đây là nơi lưu trữ và kiểm soát toàn bộ vòng đời của một ván đấu tại máy khách. Nó nắm giữ các thông tin cốt lõi:</a:t>
              </a:r>
            </a:p>
            <a:p>
              <a:pPr>
                <a:lnSpc>
                  <a:spcPct val="150000"/>
                </a:lnSpc>
                <a:buFont typeface="Arial" panose="020B0604020202020204" pitchFamily="34" charset="0"/>
                <a:buChar char="•"/>
              </a:pPr>
              <a:r>
                <a:rPr lang="vi-VN" sz="2400"/>
                <a:t> Ai đang đến lượt?</a:t>
              </a:r>
            </a:p>
            <a:p>
              <a:pPr>
                <a:lnSpc>
                  <a:spcPct val="150000"/>
                </a:lnSpc>
                <a:buFont typeface="Arial" panose="020B0604020202020204" pitchFamily="34" charset="0"/>
                <a:buChar char="•"/>
              </a:pPr>
              <a:r>
                <a:rPr lang="vi-VN" sz="2400"/>
                <a:t> Bàn cờ hiện tại trông như thế nào?</a:t>
              </a:r>
            </a:p>
            <a:p>
              <a:pPr>
                <a:lnSpc>
                  <a:spcPct val="150000"/>
                </a:lnSpc>
                <a:buFont typeface="Arial" panose="020B0604020202020204" pitchFamily="34" charset="0"/>
                <a:buChar char="•"/>
              </a:pPr>
              <a:r>
                <a:rPr lang="vi-VN" sz="2400"/>
                <a:t> Trận đấu đang tiếp tục hay đã kết thúc (Thắng/Thua/Hòa)?</a:t>
              </a:r>
            </a:p>
          </p:txBody>
        </p:sp>
      </p:grpSp>
      <p:grpSp>
        <p:nvGrpSpPr>
          <p:cNvPr id="19" name="Group 18">
            <a:extLst>
              <a:ext uri="{FF2B5EF4-FFF2-40B4-BE49-F238E27FC236}">
                <a16:creationId xmlns:a16="http://schemas.microsoft.com/office/drawing/2014/main" id="{4F1DB07D-D629-4037-9BC9-1CCBAABA2560}"/>
              </a:ext>
            </a:extLst>
          </p:cNvPr>
          <p:cNvGrpSpPr/>
          <p:nvPr/>
        </p:nvGrpSpPr>
        <p:grpSpPr>
          <a:xfrm>
            <a:off x="18589136" y="1567327"/>
            <a:ext cx="6127582" cy="7152345"/>
            <a:chOff x="11277600" y="1724954"/>
            <a:chExt cx="6127582" cy="7152345"/>
          </a:xfrm>
        </p:grpSpPr>
        <p:sp>
          <p:nvSpPr>
            <p:cNvPr id="35" name="Freeform 3">
              <a:extLst>
                <a:ext uri="{FF2B5EF4-FFF2-40B4-BE49-F238E27FC236}">
                  <a16:creationId xmlns:a16="http://schemas.microsoft.com/office/drawing/2014/main" id="{C5E75101-A343-48AC-8ED2-4A7D2053F21C}"/>
                </a:ext>
              </a:extLst>
            </p:cNvPr>
            <p:cNvSpPr/>
            <p:nvPr/>
          </p:nvSpPr>
          <p:spPr>
            <a:xfrm>
              <a:off x="11277600" y="1724954"/>
              <a:ext cx="6127582" cy="7152345"/>
            </a:xfrm>
            <a:custGeom>
              <a:avLst/>
              <a:gdLst/>
              <a:ahLst/>
              <a:cxnLst/>
              <a:rect l="l" t="t" r="r" b="b"/>
              <a:pathLst>
                <a:path w="5276275" h="6356958">
                  <a:moveTo>
                    <a:pt x="0" y="0"/>
                  </a:moveTo>
                  <a:lnTo>
                    <a:pt x="5276275" y="0"/>
                  </a:lnTo>
                  <a:lnTo>
                    <a:pt x="5276275" y="6356958"/>
                  </a:lnTo>
                  <a:lnTo>
                    <a:pt x="0" y="6356958"/>
                  </a:lnTo>
                  <a:lnTo>
                    <a:pt x="0" y="0"/>
                  </a:lnTo>
                  <a:close/>
                </a:path>
              </a:pathLst>
            </a:custGeom>
            <a:blipFill>
              <a:blip r:embed="rId6"/>
              <a:stretch>
                <a:fillRect/>
              </a:stretch>
            </a:blipFill>
          </p:spPr>
        </p:sp>
        <p:sp>
          <p:nvSpPr>
            <p:cNvPr id="36" name="Freeform 2">
              <a:extLst>
                <a:ext uri="{FF2B5EF4-FFF2-40B4-BE49-F238E27FC236}">
                  <a16:creationId xmlns:a16="http://schemas.microsoft.com/office/drawing/2014/main" id="{5E0FB2F2-5263-4A31-88C8-0E394FB72161}"/>
                </a:ext>
              </a:extLst>
            </p:cNvPr>
            <p:cNvSpPr/>
            <p:nvPr/>
          </p:nvSpPr>
          <p:spPr>
            <a:xfrm>
              <a:off x="12622968" y="4760510"/>
              <a:ext cx="3436845" cy="1416814"/>
            </a:xfrm>
            <a:custGeom>
              <a:avLst/>
              <a:gdLst/>
              <a:ahLst/>
              <a:cxnLst/>
              <a:rect l="l" t="t" r="r" b="b"/>
              <a:pathLst>
                <a:path w="9461296" h="4182585">
                  <a:moveTo>
                    <a:pt x="0" y="0"/>
                  </a:moveTo>
                  <a:lnTo>
                    <a:pt x="9461296" y="0"/>
                  </a:lnTo>
                  <a:lnTo>
                    <a:pt x="9461296" y="4182585"/>
                  </a:lnTo>
                  <a:lnTo>
                    <a:pt x="0" y="4182585"/>
                  </a:lnTo>
                  <a:lnTo>
                    <a:pt x="0" y="0"/>
                  </a:lnTo>
                  <a:close/>
                </a:path>
              </a:pathLst>
            </a:custGeom>
            <a:blipFill>
              <a:blip r:embed="rId7"/>
              <a:stretch>
                <a:fillRect/>
              </a:stretch>
            </a:blipFill>
          </p:spPr>
        </p:sp>
      </p:grpSp>
      <p:grpSp>
        <p:nvGrpSpPr>
          <p:cNvPr id="27" name="Group 26">
            <a:extLst>
              <a:ext uri="{FF2B5EF4-FFF2-40B4-BE49-F238E27FC236}">
                <a16:creationId xmlns:a16="http://schemas.microsoft.com/office/drawing/2014/main" id="{DC462043-FCC3-492B-A4F7-D2AB4001C708}"/>
              </a:ext>
            </a:extLst>
          </p:cNvPr>
          <p:cNvGrpSpPr/>
          <p:nvPr/>
        </p:nvGrpSpPr>
        <p:grpSpPr>
          <a:xfrm>
            <a:off x="-10739885" y="2485836"/>
            <a:ext cx="9906313" cy="3104519"/>
            <a:chOff x="1189858" y="3311496"/>
            <a:chExt cx="9906313" cy="6478177"/>
          </a:xfrm>
        </p:grpSpPr>
        <p:grpSp>
          <p:nvGrpSpPr>
            <p:cNvPr id="30" name="Group 2">
              <a:extLst>
                <a:ext uri="{FF2B5EF4-FFF2-40B4-BE49-F238E27FC236}">
                  <a16:creationId xmlns:a16="http://schemas.microsoft.com/office/drawing/2014/main" id="{5A7E4EC6-15A3-4CDF-B837-F900A441807A}"/>
                </a:ext>
              </a:extLst>
            </p:cNvPr>
            <p:cNvGrpSpPr/>
            <p:nvPr/>
          </p:nvGrpSpPr>
          <p:grpSpPr>
            <a:xfrm>
              <a:off x="1189858" y="3311496"/>
              <a:ext cx="9906313" cy="6478177"/>
              <a:chOff x="0" y="0"/>
              <a:chExt cx="3193467" cy="2725843"/>
            </a:xfrm>
          </p:grpSpPr>
          <p:sp>
            <p:nvSpPr>
              <p:cNvPr id="37" name="Freeform 3">
                <a:extLst>
                  <a:ext uri="{FF2B5EF4-FFF2-40B4-BE49-F238E27FC236}">
                    <a16:creationId xmlns:a16="http://schemas.microsoft.com/office/drawing/2014/main" id="{569A3637-48E3-496A-A7F1-CC26A909EE82}"/>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4" name="TextBox 4">
              <a:extLst>
                <a:ext uri="{FF2B5EF4-FFF2-40B4-BE49-F238E27FC236}">
                  <a16:creationId xmlns:a16="http://schemas.microsoft.com/office/drawing/2014/main" id="{8DB1E7C8-2B11-4937-B720-DA6EF68D1DB8}"/>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8" name="TextBox 4">
            <a:extLst>
              <a:ext uri="{FF2B5EF4-FFF2-40B4-BE49-F238E27FC236}">
                <a16:creationId xmlns:a16="http://schemas.microsoft.com/office/drawing/2014/main" id="{306AB720-F4C0-4B01-B61C-8FCA7F47362B}"/>
              </a:ext>
            </a:extLst>
          </p:cNvPr>
          <p:cNvSpPr txBox="1"/>
          <p:nvPr/>
        </p:nvSpPr>
        <p:spPr>
          <a:xfrm>
            <a:off x="-10526107" y="2612110"/>
            <a:ext cx="9537435" cy="2689326"/>
          </a:xfrm>
          <a:prstGeom prst="rect">
            <a:avLst/>
          </a:prstGeom>
        </p:spPr>
        <p:txBody>
          <a:bodyPr lIns="0" tIns="0" rIns="0" bIns="0" rtlCol="0" anchor="t">
            <a:spAutoFit/>
          </a:bodyPr>
          <a:lstStyle/>
          <a:p>
            <a:pPr algn="just">
              <a:lnSpc>
                <a:spcPts val="4275"/>
              </a:lnSpc>
            </a:pPr>
            <a:r>
              <a:rPr lang="vi-VN" sz="2400" b="1">
                <a:solidFill>
                  <a:srgbClr val="121212"/>
                </a:solidFill>
                <a:latin typeface="Public Sans Bold"/>
                <a:ea typeface="Public Sans Bold"/>
                <a:cs typeface="Public Sans Bold"/>
                <a:sym typeface="Public Sans Bold"/>
              </a:rPr>
              <a:t>Vai trò của GameManager</a:t>
            </a:r>
          </a:p>
          <a:p>
            <a:pPr algn="just">
              <a:lnSpc>
                <a:spcPts val="4275"/>
              </a:lnSpc>
            </a:pPr>
            <a:r>
              <a:rPr lang="vi-VN" sz="2400" b="1">
                <a:solidFill>
                  <a:srgbClr val="121212"/>
                </a:solidFill>
                <a:latin typeface="Public Sans Bold"/>
                <a:ea typeface="Public Sans Bold"/>
                <a:cs typeface="Public Sans Bold"/>
                <a:sym typeface="Public Sans Bold"/>
              </a:rPr>
              <a:t>Bộ não điều phối: Là lớp trung gian quản lý logic trận đấu, tách biệt hoàn toàn giữa Giao diện (UI) và Mạng (Socket).</a:t>
            </a:r>
          </a:p>
          <a:p>
            <a:pPr algn="just">
              <a:lnSpc>
                <a:spcPts val="4275"/>
              </a:lnSpc>
            </a:pPr>
            <a:r>
              <a:rPr lang="vi-VN" sz="2400" b="1">
                <a:solidFill>
                  <a:srgbClr val="121212"/>
                </a:solidFill>
                <a:latin typeface="Public Sans Bold"/>
                <a:ea typeface="Public Sans Bold"/>
                <a:cs typeface="Public Sans Bold"/>
                <a:sym typeface="Public Sans Bold"/>
              </a:rPr>
              <a:t>Cơ chế Listener: Sử dụng Interface GameListener để đẩy sự kiện lên UI (như vẽ quân cờ, báo thắng/thua)</a:t>
            </a:r>
            <a:endParaRPr lang="en-US" sz="2400" b="1">
              <a:solidFill>
                <a:srgbClr val="121212"/>
              </a:solidFill>
              <a:latin typeface="Public Sans Bold"/>
              <a:ea typeface="Public Sans Bold"/>
              <a:cs typeface="Public Sans Bold"/>
              <a:sym typeface="Public Sans Bold"/>
            </a:endParaRPr>
          </a:p>
        </p:txBody>
      </p:sp>
      <p:grpSp>
        <p:nvGrpSpPr>
          <p:cNvPr id="12" name="Group 11">
            <a:extLst>
              <a:ext uri="{FF2B5EF4-FFF2-40B4-BE49-F238E27FC236}">
                <a16:creationId xmlns:a16="http://schemas.microsoft.com/office/drawing/2014/main" id="{14D9CB5A-D056-4589-BA92-3A5985429633}"/>
              </a:ext>
            </a:extLst>
          </p:cNvPr>
          <p:cNvGrpSpPr/>
          <p:nvPr/>
        </p:nvGrpSpPr>
        <p:grpSpPr>
          <a:xfrm>
            <a:off x="8510437" y="308195"/>
            <a:ext cx="7270582" cy="4628520"/>
            <a:chOff x="8568991" y="2485835"/>
            <a:chExt cx="7270582" cy="4628520"/>
          </a:xfrm>
        </p:grpSpPr>
        <p:grpSp>
          <p:nvGrpSpPr>
            <p:cNvPr id="39" name="Group 38">
              <a:extLst>
                <a:ext uri="{FF2B5EF4-FFF2-40B4-BE49-F238E27FC236}">
                  <a16:creationId xmlns:a16="http://schemas.microsoft.com/office/drawing/2014/main" id="{91FDBE0F-0248-4995-92BD-F323846B5C41}"/>
                </a:ext>
              </a:extLst>
            </p:cNvPr>
            <p:cNvGrpSpPr/>
            <p:nvPr/>
          </p:nvGrpSpPr>
          <p:grpSpPr>
            <a:xfrm>
              <a:off x="8568991" y="2485835"/>
              <a:ext cx="7270582" cy="4628520"/>
              <a:chOff x="1189858" y="3311496"/>
              <a:chExt cx="9906313" cy="6478179"/>
            </a:xfrm>
          </p:grpSpPr>
          <p:grpSp>
            <p:nvGrpSpPr>
              <p:cNvPr id="40" name="Group 2">
                <a:extLst>
                  <a:ext uri="{FF2B5EF4-FFF2-40B4-BE49-F238E27FC236}">
                    <a16:creationId xmlns:a16="http://schemas.microsoft.com/office/drawing/2014/main" id="{B4C79FA1-60E4-49FC-8CBA-2871FEC3B8DE}"/>
                  </a:ext>
                </a:extLst>
              </p:cNvPr>
              <p:cNvGrpSpPr/>
              <p:nvPr/>
            </p:nvGrpSpPr>
            <p:grpSpPr>
              <a:xfrm>
                <a:off x="1189858" y="3311496"/>
                <a:ext cx="9906313" cy="6478179"/>
                <a:chOff x="0" y="0"/>
                <a:chExt cx="3193467" cy="2725844"/>
              </a:xfrm>
            </p:grpSpPr>
            <p:sp>
              <p:nvSpPr>
                <p:cNvPr id="42" name="Freeform 3">
                  <a:extLst>
                    <a:ext uri="{FF2B5EF4-FFF2-40B4-BE49-F238E27FC236}">
                      <a16:creationId xmlns:a16="http://schemas.microsoft.com/office/drawing/2014/main" id="{E6B388A2-8CDE-4AE0-AB51-9F689D35C135}"/>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41" name="TextBox 4">
                <a:extLst>
                  <a:ext uri="{FF2B5EF4-FFF2-40B4-BE49-F238E27FC236}">
                    <a16:creationId xmlns:a16="http://schemas.microsoft.com/office/drawing/2014/main" id="{3E5D904B-1AB5-48A6-89D8-94484EB579F9}"/>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43" name="TextBox 4">
              <a:extLst>
                <a:ext uri="{FF2B5EF4-FFF2-40B4-BE49-F238E27FC236}">
                  <a16:creationId xmlns:a16="http://schemas.microsoft.com/office/drawing/2014/main" id="{C0E09A82-0D42-40CF-B5F7-8C03F1141C79}"/>
                </a:ext>
              </a:extLst>
            </p:cNvPr>
            <p:cNvSpPr txBox="1"/>
            <p:nvPr/>
          </p:nvSpPr>
          <p:spPr>
            <a:xfrm>
              <a:off x="8782769" y="2612111"/>
              <a:ext cx="7056803" cy="4062651"/>
            </a:xfrm>
            <a:prstGeom prst="rect">
              <a:avLst/>
            </a:prstGeom>
          </p:spPr>
          <p:txBody>
            <a:bodyPr wrap="square" lIns="0" tIns="0" rIns="0" bIns="0" rtlCol="0" anchor="t">
              <a:spAutoFit/>
            </a:bodyPr>
            <a:lstStyle/>
            <a:p>
              <a:r>
                <a:rPr lang="vi-VN" sz="2400" b="1"/>
                <a:t>2. Trung tâm xử lý Logic </a:t>
              </a:r>
            </a:p>
            <a:p>
              <a:r>
                <a:rPr lang="vi-VN" sz="2400"/>
                <a:t>Đóng vai trò là "trọng tài" để đảm bảo cuộc chơi đúng luật:</a:t>
              </a:r>
            </a:p>
            <a:p>
              <a:pPr>
                <a:buFont typeface="Arial" panose="020B0604020202020204" pitchFamily="34" charset="0"/>
                <a:buChar char="•"/>
              </a:pPr>
              <a:r>
                <a:rPr lang="vi-VN" sz="2400" b="1"/>
                <a:t> Kiểm tra tính hợp lệ:</a:t>
              </a:r>
              <a:r>
                <a:rPr lang="vi-VN" sz="2400"/>
                <a:t> Không cho phép đánh đè lên ô đã có quân hoặc đánh khi không phải lượt của mình.</a:t>
              </a:r>
            </a:p>
            <a:p>
              <a:pPr>
                <a:buFont typeface="Arial" panose="020B0604020202020204" pitchFamily="34" charset="0"/>
                <a:buChar char="•"/>
              </a:pPr>
              <a:r>
                <a:rPr lang="vi-VN" sz="2400" b="1"/>
                <a:t> Xác định kết quả:</a:t>
              </a:r>
              <a:r>
                <a:rPr lang="vi-VN" sz="2400"/>
                <a:t> Tự động tính toán chuỗi 5 quân liên tiếp để tìm ra người chiến thắng hoặc xác định hòa cờ khi hết chỗ trống.</a:t>
              </a:r>
            </a:p>
            <a:p>
              <a:pPr>
                <a:buFont typeface="Arial" panose="020B0604020202020204" pitchFamily="34" charset="0"/>
                <a:buChar char="•"/>
              </a:pPr>
              <a:r>
                <a:rPr lang="vi-VN" sz="2400" b="1"/>
                <a:t> Xử lý tình huống biên:</a:t>
              </a:r>
              <a:r>
                <a:rPr lang="vi-VN" sz="2400"/>
                <a:t> Giải quyết các sự kiện như đối thủ bỏ cuộc hoặc hết thời gian.</a:t>
              </a:r>
            </a:p>
          </p:txBody>
        </p:sp>
      </p:grpSp>
      <p:grpSp>
        <p:nvGrpSpPr>
          <p:cNvPr id="13" name="Group 12">
            <a:extLst>
              <a:ext uri="{FF2B5EF4-FFF2-40B4-BE49-F238E27FC236}">
                <a16:creationId xmlns:a16="http://schemas.microsoft.com/office/drawing/2014/main" id="{93A91817-D4CF-4B8F-BCC5-3BEEE965DF18}"/>
              </a:ext>
            </a:extLst>
          </p:cNvPr>
          <p:cNvGrpSpPr/>
          <p:nvPr/>
        </p:nvGrpSpPr>
        <p:grpSpPr>
          <a:xfrm>
            <a:off x="8521850" y="5101936"/>
            <a:ext cx="7270582" cy="4927589"/>
            <a:chOff x="5104671" y="6254972"/>
            <a:chExt cx="7270582" cy="4927589"/>
          </a:xfrm>
        </p:grpSpPr>
        <p:grpSp>
          <p:nvGrpSpPr>
            <p:cNvPr id="44" name="Group 43">
              <a:extLst>
                <a:ext uri="{FF2B5EF4-FFF2-40B4-BE49-F238E27FC236}">
                  <a16:creationId xmlns:a16="http://schemas.microsoft.com/office/drawing/2014/main" id="{BA99FEB2-9617-40F2-92BF-92CC92C3A35A}"/>
                </a:ext>
              </a:extLst>
            </p:cNvPr>
            <p:cNvGrpSpPr/>
            <p:nvPr/>
          </p:nvGrpSpPr>
          <p:grpSpPr>
            <a:xfrm>
              <a:off x="5104671" y="6254972"/>
              <a:ext cx="7270582" cy="4927589"/>
              <a:chOff x="1189858" y="3311496"/>
              <a:chExt cx="9906313" cy="6896761"/>
            </a:xfrm>
          </p:grpSpPr>
          <p:grpSp>
            <p:nvGrpSpPr>
              <p:cNvPr id="45" name="Group 2">
                <a:extLst>
                  <a:ext uri="{FF2B5EF4-FFF2-40B4-BE49-F238E27FC236}">
                    <a16:creationId xmlns:a16="http://schemas.microsoft.com/office/drawing/2014/main" id="{BDBF1C5F-9E4D-4D33-9AB2-15E286B63FAD}"/>
                  </a:ext>
                </a:extLst>
              </p:cNvPr>
              <p:cNvGrpSpPr/>
              <p:nvPr/>
            </p:nvGrpSpPr>
            <p:grpSpPr>
              <a:xfrm>
                <a:off x="1189858" y="3311496"/>
                <a:ext cx="9906313" cy="6896761"/>
                <a:chOff x="0" y="0"/>
                <a:chExt cx="3193467" cy="2901972"/>
              </a:xfrm>
            </p:grpSpPr>
            <p:sp>
              <p:nvSpPr>
                <p:cNvPr id="47" name="Freeform 3">
                  <a:extLst>
                    <a:ext uri="{FF2B5EF4-FFF2-40B4-BE49-F238E27FC236}">
                      <a16:creationId xmlns:a16="http://schemas.microsoft.com/office/drawing/2014/main" id="{5904379D-0B56-4099-8C74-18BC5C0E0215}"/>
                    </a:ext>
                  </a:extLst>
                </p:cNvPr>
                <p:cNvSpPr/>
                <p:nvPr/>
              </p:nvSpPr>
              <p:spPr>
                <a:xfrm>
                  <a:off x="0" y="0"/>
                  <a:ext cx="3193467" cy="2901972"/>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46" name="TextBox 4">
                <a:extLst>
                  <a:ext uri="{FF2B5EF4-FFF2-40B4-BE49-F238E27FC236}">
                    <a16:creationId xmlns:a16="http://schemas.microsoft.com/office/drawing/2014/main" id="{27C6BBA0-13F3-424A-938E-E5965A19BB84}"/>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48" name="TextBox 4">
              <a:extLst>
                <a:ext uri="{FF2B5EF4-FFF2-40B4-BE49-F238E27FC236}">
                  <a16:creationId xmlns:a16="http://schemas.microsoft.com/office/drawing/2014/main" id="{DFE2EDC0-AB35-44AB-8760-EB7791A47898}"/>
                </a:ext>
              </a:extLst>
            </p:cNvPr>
            <p:cNvSpPr txBox="1"/>
            <p:nvPr/>
          </p:nvSpPr>
          <p:spPr>
            <a:xfrm>
              <a:off x="5318449" y="6381247"/>
              <a:ext cx="7056803" cy="4801314"/>
            </a:xfrm>
            <a:prstGeom prst="rect">
              <a:avLst/>
            </a:prstGeom>
          </p:spPr>
          <p:txBody>
            <a:bodyPr wrap="square" lIns="0" tIns="0" rIns="0" bIns="0" rtlCol="0" anchor="t">
              <a:spAutoFit/>
            </a:bodyPr>
            <a:lstStyle/>
            <a:p>
              <a:r>
                <a:rPr lang="vi-VN" sz="2400" b="1"/>
                <a:t>3. Cầu nối điều phối (Coordinator)</a:t>
              </a:r>
            </a:p>
            <a:p>
              <a:r>
                <a:rPr lang="vi-VN" sz="2400"/>
                <a:t>GameManager đóng vai trò trung chuyển thông tin giữa 3 lớp:</a:t>
              </a:r>
            </a:p>
            <a:p>
              <a:endParaRPr lang="vi-VN" sz="2400"/>
            </a:p>
            <a:p>
              <a:r>
                <a:rPr lang="vi-VN" sz="2400"/>
                <a:t>Giao diện (UI): Nhận lệnh click chuột từ người dùng và ra lệnh cho giao diện vẽ lại quân cờ.</a:t>
              </a:r>
            </a:p>
            <a:p>
              <a:endParaRPr lang="vi-VN" sz="2400"/>
            </a:p>
            <a:p>
              <a:r>
                <a:rPr lang="vi-VN" sz="2400"/>
                <a:t>Mạng (Network/Socket): Đóng gói nước đi để gửi lên Server và tiếp nhận phản hồi từ Server để cập nhật vào máy mình.</a:t>
              </a:r>
            </a:p>
            <a:p>
              <a:endParaRPr lang="vi-VN" sz="2400"/>
            </a:p>
            <a:p>
              <a:r>
                <a:rPr lang="vi-VN" sz="2400"/>
                <a:t>Dữ liệu (Board): Cập nhật và truy xuất dữ liệu từ ma trận bàn cờ.</a:t>
              </a:r>
            </a:p>
          </p:txBody>
        </p:sp>
      </p:grpSp>
    </p:spTree>
    <p:extLst>
      <p:ext uri="{BB962C8B-B14F-4D97-AF65-F5344CB8AC3E}">
        <p14:creationId xmlns:p14="http://schemas.microsoft.com/office/powerpoint/2010/main" val="3641457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15773400" y="9091259"/>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4800508" y="-890528"/>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TextBox 3">
            <a:extLst>
              <a:ext uri="{FF2B5EF4-FFF2-40B4-BE49-F238E27FC236}">
                <a16:creationId xmlns:a16="http://schemas.microsoft.com/office/drawing/2014/main" id="{5AEEFD0A-720D-4EB3-8B00-02F8D0B9B95D}"/>
              </a:ext>
            </a:extLst>
          </p:cNvPr>
          <p:cNvSpPr txBox="1"/>
          <p:nvPr/>
        </p:nvSpPr>
        <p:spPr>
          <a:xfrm>
            <a:off x="1095728" y="1252999"/>
            <a:ext cx="5457471"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2. GameManager.java</a:t>
            </a:r>
            <a:endParaRPr lang="en-US" sz="3999" b="1">
              <a:solidFill>
                <a:srgbClr val="000000"/>
              </a:solidFill>
              <a:latin typeface="Canva Sans Bold"/>
              <a:ea typeface="Canva Sans Bold"/>
              <a:cs typeface="Canva Sans Bold"/>
              <a:sym typeface="Canva Sans Bold"/>
            </a:endParaRPr>
          </a:p>
        </p:txBody>
      </p:sp>
      <p:grpSp>
        <p:nvGrpSpPr>
          <p:cNvPr id="7" name="Group 6">
            <a:extLst>
              <a:ext uri="{FF2B5EF4-FFF2-40B4-BE49-F238E27FC236}">
                <a16:creationId xmlns:a16="http://schemas.microsoft.com/office/drawing/2014/main" id="{19FE25E9-11CC-4BA9-A765-B8F708E69DD3}"/>
              </a:ext>
            </a:extLst>
          </p:cNvPr>
          <p:cNvGrpSpPr/>
          <p:nvPr/>
        </p:nvGrpSpPr>
        <p:grpSpPr>
          <a:xfrm>
            <a:off x="-10210800" y="2382739"/>
            <a:ext cx="9906313" cy="3104519"/>
            <a:chOff x="1189858" y="3311496"/>
            <a:chExt cx="9906313" cy="6478177"/>
          </a:xfrm>
        </p:grpSpPr>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6478177"/>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3" name="TextBox 4">
              <a:extLst>
                <a:ext uri="{FF2B5EF4-FFF2-40B4-BE49-F238E27FC236}">
                  <a16:creationId xmlns:a16="http://schemas.microsoft.com/office/drawing/2014/main" id="{DF9C5601-CAAF-486B-8971-648DA54FFC02}"/>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1" name="TextBox 4">
            <a:extLst>
              <a:ext uri="{FF2B5EF4-FFF2-40B4-BE49-F238E27FC236}">
                <a16:creationId xmlns:a16="http://schemas.microsoft.com/office/drawing/2014/main" id="{1BF74AA2-843D-41C4-B9BF-328A69EF93B2}"/>
              </a:ext>
            </a:extLst>
          </p:cNvPr>
          <p:cNvSpPr txBox="1"/>
          <p:nvPr/>
        </p:nvSpPr>
        <p:spPr>
          <a:xfrm>
            <a:off x="-9997022" y="2509013"/>
            <a:ext cx="9537435" cy="2689326"/>
          </a:xfrm>
          <a:prstGeom prst="rect">
            <a:avLst/>
          </a:prstGeom>
        </p:spPr>
        <p:txBody>
          <a:bodyPr lIns="0" tIns="0" rIns="0" bIns="0" rtlCol="0" anchor="t">
            <a:spAutoFit/>
          </a:bodyPr>
          <a:lstStyle/>
          <a:p>
            <a:pPr algn="just">
              <a:lnSpc>
                <a:spcPts val="4275"/>
              </a:lnSpc>
            </a:pPr>
            <a:r>
              <a:rPr lang="vi-VN" sz="2400" b="1">
                <a:solidFill>
                  <a:srgbClr val="121212"/>
                </a:solidFill>
                <a:latin typeface="Public Sans Bold"/>
                <a:ea typeface="Public Sans Bold"/>
                <a:cs typeface="Public Sans Bold"/>
                <a:sym typeface="Public Sans Bold"/>
              </a:rPr>
              <a:t>Vai trò của GameManager</a:t>
            </a:r>
          </a:p>
          <a:p>
            <a:pPr algn="just">
              <a:lnSpc>
                <a:spcPts val="4275"/>
              </a:lnSpc>
            </a:pPr>
            <a:r>
              <a:rPr lang="vi-VN" sz="2400" b="1">
                <a:solidFill>
                  <a:srgbClr val="121212"/>
                </a:solidFill>
                <a:latin typeface="Public Sans Bold"/>
                <a:ea typeface="Public Sans Bold"/>
                <a:cs typeface="Public Sans Bold"/>
                <a:sym typeface="Public Sans Bold"/>
              </a:rPr>
              <a:t>Bộ não điều phối: Là lớp trung gian quản lý logic trận đấu, tách biệt hoàn toàn giữa Giao diện (UI) và Mạng (Socket).</a:t>
            </a:r>
          </a:p>
          <a:p>
            <a:pPr algn="just">
              <a:lnSpc>
                <a:spcPts val="4275"/>
              </a:lnSpc>
            </a:pPr>
            <a:r>
              <a:rPr lang="vi-VN" sz="2400" b="1">
                <a:solidFill>
                  <a:srgbClr val="121212"/>
                </a:solidFill>
                <a:latin typeface="Public Sans Bold"/>
                <a:ea typeface="Public Sans Bold"/>
                <a:cs typeface="Public Sans Bold"/>
                <a:sym typeface="Public Sans Bold"/>
              </a:rPr>
              <a:t>Cơ chế Listener: Sử dụng Interface GameListener để đẩy sự kiện lên UI (như vẽ quân cờ, báo thắng/thua)</a:t>
            </a:r>
            <a:endParaRPr lang="en-US" sz="2400" b="1">
              <a:solidFill>
                <a:srgbClr val="121212"/>
              </a:solidFill>
              <a:latin typeface="Public Sans Bold"/>
              <a:ea typeface="Public Sans Bold"/>
              <a:cs typeface="Public Sans Bold"/>
              <a:sym typeface="Public Sans Bold"/>
            </a:endParaRPr>
          </a:p>
        </p:txBody>
      </p:sp>
      <p:grpSp>
        <p:nvGrpSpPr>
          <p:cNvPr id="8" name="Group 7">
            <a:extLst>
              <a:ext uri="{FF2B5EF4-FFF2-40B4-BE49-F238E27FC236}">
                <a16:creationId xmlns:a16="http://schemas.microsoft.com/office/drawing/2014/main" id="{46AD5795-9202-49E1-95F3-F37131F0BD15}"/>
              </a:ext>
            </a:extLst>
          </p:cNvPr>
          <p:cNvGrpSpPr/>
          <p:nvPr/>
        </p:nvGrpSpPr>
        <p:grpSpPr>
          <a:xfrm>
            <a:off x="3429000" y="2523711"/>
            <a:ext cx="6127582" cy="7152345"/>
            <a:chOff x="688486" y="2547113"/>
            <a:chExt cx="6127582" cy="7152345"/>
          </a:xfrm>
        </p:grpSpPr>
        <p:sp>
          <p:nvSpPr>
            <p:cNvPr id="35" name="Freeform 3">
              <a:extLst>
                <a:ext uri="{FF2B5EF4-FFF2-40B4-BE49-F238E27FC236}">
                  <a16:creationId xmlns:a16="http://schemas.microsoft.com/office/drawing/2014/main" id="{C5E75101-A343-48AC-8ED2-4A7D2053F21C}"/>
                </a:ext>
              </a:extLst>
            </p:cNvPr>
            <p:cNvSpPr/>
            <p:nvPr/>
          </p:nvSpPr>
          <p:spPr>
            <a:xfrm>
              <a:off x="688486" y="2547113"/>
              <a:ext cx="6127582" cy="7152345"/>
            </a:xfrm>
            <a:custGeom>
              <a:avLst/>
              <a:gdLst/>
              <a:ahLst/>
              <a:cxnLst/>
              <a:rect l="l" t="t" r="r" b="b"/>
              <a:pathLst>
                <a:path w="5276275" h="6356958">
                  <a:moveTo>
                    <a:pt x="0" y="0"/>
                  </a:moveTo>
                  <a:lnTo>
                    <a:pt x="5276275" y="0"/>
                  </a:lnTo>
                  <a:lnTo>
                    <a:pt x="5276275" y="6356958"/>
                  </a:lnTo>
                  <a:lnTo>
                    <a:pt x="0" y="6356958"/>
                  </a:lnTo>
                  <a:lnTo>
                    <a:pt x="0" y="0"/>
                  </a:lnTo>
                  <a:close/>
                </a:path>
              </a:pathLst>
            </a:custGeom>
            <a:blipFill>
              <a:blip r:embed="rId6"/>
              <a:stretch>
                <a:fillRect/>
              </a:stretch>
            </a:blipFill>
          </p:spPr>
        </p:sp>
        <p:sp>
          <p:nvSpPr>
            <p:cNvPr id="36" name="Freeform 2">
              <a:extLst>
                <a:ext uri="{FF2B5EF4-FFF2-40B4-BE49-F238E27FC236}">
                  <a16:creationId xmlns:a16="http://schemas.microsoft.com/office/drawing/2014/main" id="{5E0FB2F2-5263-4A31-88C8-0E394FB72161}"/>
                </a:ext>
              </a:extLst>
            </p:cNvPr>
            <p:cNvSpPr/>
            <p:nvPr/>
          </p:nvSpPr>
          <p:spPr>
            <a:xfrm>
              <a:off x="2033854" y="5582669"/>
              <a:ext cx="3436845" cy="1416814"/>
            </a:xfrm>
            <a:custGeom>
              <a:avLst/>
              <a:gdLst/>
              <a:ahLst/>
              <a:cxnLst/>
              <a:rect l="l" t="t" r="r" b="b"/>
              <a:pathLst>
                <a:path w="9461296" h="4182585">
                  <a:moveTo>
                    <a:pt x="0" y="0"/>
                  </a:moveTo>
                  <a:lnTo>
                    <a:pt x="9461296" y="0"/>
                  </a:lnTo>
                  <a:lnTo>
                    <a:pt x="9461296" y="4182585"/>
                  </a:lnTo>
                  <a:lnTo>
                    <a:pt x="0" y="4182585"/>
                  </a:lnTo>
                  <a:lnTo>
                    <a:pt x="0" y="0"/>
                  </a:lnTo>
                  <a:close/>
                </a:path>
              </a:pathLst>
            </a:custGeom>
            <a:blipFill>
              <a:blip r:embed="rId7"/>
              <a:stretch>
                <a:fillRect/>
              </a:stretch>
            </a:blipFill>
          </p:spPr>
        </p:sp>
      </p:grpSp>
      <p:grpSp>
        <p:nvGrpSpPr>
          <p:cNvPr id="9" name="Group 8">
            <a:extLst>
              <a:ext uri="{FF2B5EF4-FFF2-40B4-BE49-F238E27FC236}">
                <a16:creationId xmlns:a16="http://schemas.microsoft.com/office/drawing/2014/main" id="{D71767E8-B884-4F26-9959-722F2CAB167E}"/>
              </a:ext>
            </a:extLst>
          </p:cNvPr>
          <p:cNvGrpSpPr/>
          <p:nvPr/>
        </p:nvGrpSpPr>
        <p:grpSpPr>
          <a:xfrm>
            <a:off x="10004725" y="2532416"/>
            <a:ext cx="5992960" cy="7134477"/>
            <a:chOff x="7264211" y="2555818"/>
            <a:chExt cx="5992960" cy="7134477"/>
          </a:xfrm>
        </p:grpSpPr>
        <p:sp>
          <p:nvSpPr>
            <p:cNvPr id="21" name="Freeform 2">
              <a:extLst>
                <a:ext uri="{FF2B5EF4-FFF2-40B4-BE49-F238E27FC236}">
                  <a16:creationId xmlns:a16="http://schemas.microsoft.com/office/drawing/2014/main" id="{0B630A6E-B3C3-475F-A119-4EE75A56C729}"/>
                </a:ext>
              </a:extLst>
            </p:cNvPr>
            <p:cNvSpPr/>
            <p:nvPr/>
          </p:nvSpPr>
          <p:spPr>
            <a:xfrm>
              <a:off x="7264211" y="2555818"/>
              <a:ext cx="5992960" cy="7134477"/>
            </a:xfrm>
            <a:custGeom>
              <a:avLst/>
              <a:gdLst/>
              <a:ahLst/>
              <a:cxnLst/>
              <a:rect l="l" t="t" r="r" b="b"/>
              <a:pathLst>
                <a:path w="5992960" h="7134477">
                  <a:moveTo>
                    <a:pt x="0" y="0"/>
                  </a:moveTo>
                  <a:lnTo>
                    <a:pt x="5992960" y="0"/>
                  </a:lnTo>
                  <a:lnTo>
                    <a:pt x="5992960" y="7134477"/>
                  </a:lnTo>
                  <a:lnTo>
                    <a:pt x="0" y="7134477"/>
                  </a:lnTo>
                  <a:lnTo>
                    <a:pt x="0" y="0"/>
                  </a:lnTo>
                  <a:close/>
                </a:path>
              </a:pathLst>
            </a:custGeom>
            <a:blipFill>
              <a:blip r:embed="rId8"/>
              <a:stretch>
                <a:fillRect/>
              </a:stretch>
            </a:blipFill>
          </p:spPr>
        </p:sp>
        <p:sp>
          <p:nvSpPr>
            <p:cNvPr id="22" name="Freeform 3">
              <a:extLst>
                <a:ext uri="{FF2B5EF4-FFF2-40B4-BE49-F238E27FC236}">
                  <a16:creationId xmlns:a16="http://schemas.microsoft.com/office/drawing/2014/main" id="{711A52E4-A737-437A-AF8B-887A1FF8D5C3}"/>
                </a:ext>
              </a:extLst>
            </p:cNvPr>
            <p:cNvSpPr/>
            <p:nvPr/>
          </p:nvSpPr>
          <p:spPr>
            <a:xfrm>
              <a:off x="8698591" y="7010351"/>
              <a:ext cx="3124200" cy="1447800"/>
            </a:xfrm>
            <a:custGeom>
              <a:avLst/>
              <a:gdLst/>
              <a:ahLst/>
              <a:cxnLst/>
              <a:rect l="l" t="t" r="r" b="b"/>
              <a:pathLst>
                <a:path w="9499538" h="4353955">
                  <a:moveTo>
                    <a:pt x="0" y="0"/>
                  </a:moveTo>
                  <a:lnTo>
                    <a:pt x="9499538" y="0"/>
                  </a:lnTo>
                  <a:lnTo>
                    <a:pt x="9499538" y="4353954"/>
                  </a:lnTo>
                  <a:lnTo>
                    <a:pt x="0" y="4353954"/>
                  </a:lnTo>
                  <a:lnTo>
                    <a:pt x="0" y="0"/>
                  </a:lnTo>
                  <a:close/>
                </a:path>
              </a:pathLst>
            </a:custGeom>
            <a:blipFill>
              <a:blip r:embed="rId9"/>
              <a:stretch>
                <a:fillRect/>
              </a:stretch>
            </a:blipFill>
          </p:spPr>
        </p:sp>
      </p:grpSp>
    </p:spTree>
    <p:extLst>
      <p:ext uri="{BB962C8B-B14F-4D97-AF65-F5344CB8AC3E}">
        <p14:creationId xmlns:p14="http://schemas.microsoft.com/office/powerpoint/2010/main" val="10757639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15773400" y="9091259"/>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Client</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4800508" y="-890528"/>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26" name="TextBox 3">
            <a:extLst>
              <a:ext uri="{FF2B5EF4-FFF2-40B4-BE49-F238E27FC236}">
                <a16:creationId xmlns:a16="http://schemas.microsoft.com/office/drawing/2014/main" id="{5AEEFD0A-720D-4EB3-8B00-02F8D0B9B95D}"/>
              </a:ext>
            </a:extLst>
          </p:cNvPr>
          <p:cNvSpPr txBox="1"/>
          <p:nvPr/>
        </p:nvSpPr>
        <p:spPr>
          <a:xfrm>
            <a:off x="1095728" y="1252999"/>
            <a:ext cx="5457471" cy="943913"/>
          </a:xfrm>
          <a:prstGeom prst="rect">
            <a:avLst/>
          </a:prstGeom>
        </p:spPr>
        <p:txBody>
          <a:bodyPr wrap="square" lIns="0" tIns="0" rIns="0" bIns="0" rtlCol="0" anchor="t">
            <a:spAutoFit/>
          </a:bodyPr>
          <a:lstStyle/>
          <a:p>
            <a:pPr>
              <a:lnSpc>
                <a:spcPts val="8599"/>
              </a:lnSpc>
            </a:pPr>
            <a:r>
              <a:rPr lang="vi-VN" sz="3999" b="1">
                <a:solidFill>
                  <a:srgbClr val="000000"/>
                </a:solidFill>
                <a:latin typeface="Canva Sans Bold"/>
                <a:ea typeface="Canva Sans Bold"/>
                <a:cs typeface="Canva Sans Bold"/>
                <a:sym typeface="Canva Sans Bold"/>
              </a:rPr>
              <a:t>2. GameManager.java</a:t>
            </a:r>
            <a:endParaRPr lang="en-US" sz="3999" b="1">
              <a:solidFill>
                <a:srgbClr val="000000"/>
              </a:solidFill>
              <a:latin typeface="Canva Sans Bold"/>
              <a:ea typeface="Canva Sans Bold"/>
              <a:cs typeface="Canva Sans Bold"/>
              <a:sym typeface="Canva Sans Bold"/>
            </a:endParaRPr>
          </a:p>
        </p:txBody>
      </p:sp>
      <p:grpSp>
        <p:nvGrpSpPr>
          <p:cNvPr id="7" name="Group 6">
            <a:extLst>
              <a:ext uri="{FF2B5EF4-FFF2-40B4-BE49-F238E27FC236}">
                <a16:creationId xmlns:a16="http://schemas.microsoft.com/office/drawing/2014/main" id="{19FE25E9-11CC-4BA9-A765-B8F708E69DD3}"/>
              </a:ext>
            </a:extLst>
          </p:cNvPr>
          <p:cNvGrpSpPr/>
          <p:nvPr/>
        </p:nvGrpSpPr>
        <p:grpSpPr>
          <a:xfrm>
            <a:off x="-10210800" y="2382739"/>
            <a:ext cx="9906313" cy="3104519"/>
            <a:chOff x="1189858" y="3311496"/>
            <a:chExt cx="9906313" cy="6478177"/>
          </a:xfrm>
        </p:grpSpPr>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6478177"/>
              <a:chOff x="0" y="0"/>
              <a:chExt cx="3193467" cy="272584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2725844"/>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3" name="TextBox 4">
              <a:extLst>
                <a:ext uri="{FF2B5EF4-FFF2-40B4-BE49-F238E27FC236}">
                  <a16:creationId xmlns:a16="http://schemas.microsoft.com/office/drawing/2014/main" id="{DF9C5601-CAAF-486B-8971-648DA54FFC02}"/>
                </a:ext>
              </a:extLst>
            </p:cNvPr>
            <p:cNvSpPr txBox="1"/>
            <p:nvPr/>
          </p:nvSpPr>
          <p:spPr>
            <a:xfrm>
              <a:off x="1403636" y="3437770"/>
              <a:ext cx="9537435" cy="416332"/>
            </a:xfrm>
            <a:prstGeom prst="rect">
              <a:avLst/>
            </a:prstGeom>
          </p:spPr>
          <p:txBody>
            <a:bodyPr lIns="0" tIns="0" rIns="0" bIns="0" rtlCol="0" anchor="t">
              <a:spAutoFit/>
            </a:bodyPr>
            <a:lstStyle/>
            <a:p>
              <a:pPr algn="just">
                <a:lnSpc>
                  <a:spcPts val="3570"/>
                </a:lnSpc>
              </a:pPr>
              <a:endParaRPr lang="en-US" sz="2400" b="1">
                <a:solidFill>
                  <a:srgbClr val="121212"/>
                </a:solidFill>
                <a:latin typeface="Public Sans Bold"/>
                <a:ea typeface="Public Sans Bold"/>
                <a:cs typeface="Public Sans Bold"/>
                <a:sym typeface="Public Sans Bold"/>
              </a:endParaRPr>
            </a:p>
          </p:txBody>
        </p:sp>
      </p:grpSp>
      <p:sp>
        <p:nvSpPr>
          <p:cNvPr id="31" name="TextBox 4">
            <a:extLst>
              <a:ext uri="{FF2B5EF4-FFF2-40B4-BE49-F238E27FC236}">
                <a16:creationId xmlns:a16="http://schemas.microsoft.com/office/drawing/2014/main" id="{1BF74AA2-843D-41C4-B9BF-328A69EF93B2}"/>
              </a:ext>
            </a:extLst>
          </p:cNvPr>
          <p:cNvSpPr txBox="1"/>
          <p:nvPr/>
        </p:nvSpPr>
        <p:spPr>
          <a:xfrm>
            <a:off x="-9997022" y="2509013"/>
            <a:ext cx="9537435" cy="2689326"/>
          </a:xfrm>
          <a:prstGeom prst="rect">
            <a:avLst/>
          </a:prstGeom>
        </p:spPr>
        <p:txBody>
          <a:bodyPr lIns="0" tIns="0" rIns="0" bIns="0" rtlCol="0" anchor="t">
            <a:spAutoFit/>
          </a:bodyPr>
          <a:lstStyle/>
          <a:p>
            <a:pPr algn="just">
              <a:lnSpc>
                <a:spcPts val="4275"/>
              </a:lnSpc>
            </a:pPr>
            <a:r>
              <a:rPr lang="vi-VN" sz="2400" b="1">
                <a:solidFill>
                  <a:srgbClr val="121212"/>
                </a:solidFill>
                <a:latin typeface="Public Sans Bold"/>
                <a:ea typeface="Public Sans Bold"/>
                <a:cs typeface="Public Sans Bold"/>
                <a:sym typeface="Public Sans Bold"/>
              </a:rPr>
              <a:t>Vai trò của GameManager</a:t>
            </a:r>
          </a:p>
          <a:p>
            <a:pPr algn="just">
              <a:lnSpc>
                <a:spcPts val="4275"/>
              </a:lnSpc>
            </a:pPr>
            <a:r>
              <a:rPr lang="vi-VN" sz="2400" b="1">
                <a:solidFill>
                  <a:srgbClr val="121212"/>
                </a:solidFill>
                <a:latin typeface="Public Sans Bold"/>
                <a:ea typeface="Public Sans Bold"/>
                <a:cs typeface="Public Sans Bold"/>
                <a:sym typeface="Public Sans Bold"/>
              </a:rPr>
              <a:t>Bộ não điều phối: Là lớp trung gian quản lý logic trận đấu, tách biệt hoàn toàn giữa Giao diện (UI) và Mạng (Socket).</a:t>
            </a:r>
          </a:p>
          <a:p>
            <a:pPr algn="just">
              <a:lnSpc>
                <a:spcPts val="4275"/>
              </a:lnSpc>
            </a:pPr>
            <a:r>
              <a:rPr lang="vi-VN" sz="2400" b="1">
                <a:solidFill>
                  <a:srgbClr val="121212"/>
                </a:solidFill>
                <a:latin typeface="Public Sans Bold"/>
                <a:ea typeface="Public Sans Bold"/>
                <a:cs typeface="Public Sans Bold"/>
                <a:sym typeface="Public Sans Bold"/>
              </a:rPr>
              <a:t>Cơ chế Listener: Sử dụng Interface GameListener để đẩy sự kiện lên UI (như vẽ quân cờ, báo thắng/thua)</a:t>
            </a:r>
            <a:endParaRPr lang="en-US" sz="2400" b="1">
              <a:solidFill>
                <a:srgbClr val="121212"/>
              </a:solidFill>
              <a:latin typeface="Public Sans Bold"/>
              <a:ea typeface="Public Sans Bold"/>
              <a:cs typeface="Public Sans Bold"/>
              <a:sym typeface="Public Sans Bold"/>
            </a:endParaRPr>
          </a:p>
        </p:txBody>
      </p:sp>
      <p:grpSp>
        <p:nvGrpSpPr>
          <p:cNvPr id="8" name="Group 7">
            <a:extLst>
              <a:ext uri="{FF2B5EF4-FFF2-40B4-BE49-F238E27FC236}">
                <a16:creationId xmlns:a16="http://schemas.microsoft.com/office/drawing/2014/main" id="{46AD5795-9202-49E1-95F3-F37131F0BD15}"/>
              </a:ext>
            </a:extLst>
          </p:cNvPr>
          <p:cNvGrpSpPr/>
          <p:nvPr/>
        </p:nvGrpSpPr>
        <p:grpSpPr>
          <a:xfrm>
            <a:off x="2937282" y="10691239"/>
            <a:ext cx="6127582" cy="7152345"/>
            <a:chOff x="688486" y="2547113"/>
            <a:chExt cx="6127582" cy="7152345"/>
          </a:xfrm>
        </p:grpSpPr>
        <p:sp>
          <p:nvSpPr>
            <p:cNvPr id="35" name="Freeform 3">
              <a:extLst>
                <a:ext uri="{FF2B5EF4-FFF2-40B4-BE49-F238E27FC236}">
                  <a16:creationId xmlns:a16="http://schemas.microsoft.com/office/drawing/2014/main" id="{C5E75101-A343-48AC-8ED2-4A7D2053F21C}"/>
                </a:ext>
              </a:extLst>
            </p:cNvPr>
            <p:cNvSpPr/>
            <p:nvPr/>
          </p:nvSpPr>
          <p:spPr>
            <a:xfrm>
              <a:off x="688486" y="2547113"/>
              <a:ext cx="6127582" cy="7152345"/>
            </a:xfrm>
            <a:custGeom>
              <a:avLst/>
              <a:gdLst/>
              <a:ahLst/>
              <a:cxnLst/>
              <a:rect l="l" t="t" r="r" b="b"/>
              <a:pathLst>
                <a:path w="5276275" h="6356958">
                  <a:moveTo>
                    <a:pt x="0" y="0"/>
                  </a:moveTo>
                  <a:lnTo>
                    <a:pt x="5276275" y="0"/>
                  </a:lnTo>
                  <a:lnTo>
                    <a:pt x="5276275" y="6356958"/>
                  </a:lnTo>
                  <a:lnTo>
                    <a:pt x="0" y="6356958"/>
                  </a:lnTo>
                  <a:lnTo>
                    <a:pt x="0" y="0"/>
                  </a:lnTo>
                  <a:close/>
                </a:path>
              </a:pathLst>
            </a:custGeom>
            <a:blipFill>
              <a:blip r:embed="rId6"/>
              <a:stretch>
                <a:fillRect/>
              </a:stretch>
            </a:blipFill>
          </p:spPr>
        </p:sp>
        <p:sp>
          <p:nvSpPr>
            <p:cNvPr id="36" name="Freeform 2">
              <a:extLst>
                <a:ext uri="{FF2B5EF4-FFF2-40B4-BE49-F238E27FC236}">
                  <a16:creationId xmlns:a16="http://schemas.microsoft.com/office/drawing/2014/main" id="{5E0FB2F2-5263-4A31-88C8-0E394FB72161}"/>
                </a:ext>
              </a:extLst>
            </p:cNvPr>
            <p:cNvSpPr/>
            <p:nvPr/>
          </p:nvSpPr>
          <p:spPr>
            <a:xfrm>
              <a:off x="2033854" y="5582669"/>
              <a:ext cx="3436845" cy="1416814"/>
            </a:xfrm>
            <a:custGeom>
              <a:avLst/>
              <a:gdLst/>
              <a:ahLst/>
              <a:cxnLst/>
              <a:rect l="l" t="t" r="r" b="b"/>
              <a:pathLst>
                <a:path w="9461296" h="4182585">
                  <a:moveTo>
                    <a:pt x="0" y="0"/>
                  </a:moveTo>
                  <a:lnTo>
                    <a:pt x="9461296" y="0"/>
                  </a:lnTo>
                  <a:lnTo>
                    <a:pt x="9461296" y="4182585"/>
                  </a:lnTo>
                  <a:lnTo>
                    <a:pt x="0" y="4182585"/>
                  </a:lnTo>
                  <a:lnTo>
                    <a:pt x="0" y="0"/>
                  </a:lnTo>
                  <a:close/>
                </a:path>
              </a:pathLst>
            </a:custGeom>
            <a:blipFill>
              <a:blip r:embed="rId7"/>
              <a:stretch>
                <a:fillRect/>
              </a:stretch>
            </a:blipFill>
          </p:spPr>
        </p:sp>
      </p:grpSp>
      <p:grpSp>
        <p:nvGrpSpPr>
          <p:cNvPr id="9" name="Group 8">
            <a:extLst>
              <a:ext uri="{FF2B5EF4-FFF2-40B4-BE49-F238E27FC236}">
                <a16:creationId xmlns:a16="http://schemas.microsoft.com/office/drawing/2014/main" id="{D71767E8-B884-4F26-9959-722F2CAB167E}"/>
              </a:ext>
            </a:extLst>
          </p:cNvPr>
          <p:cNvGrpSpPr/>
          <p:nvPr/>
        </p:nvGrpSpPr>
        <p:grpSpPr>
          <a:xfrm>
            <a:off x="9513007" y="10699944"/>
            <a:ext cx="5992960" cy="7134477"/>
            <a:chOff x="7264211" y="2555818"/>
            <a:chExt cx="5992960" cy="7134477"/>
          </a:xfrm>
        </p:grpSpPr>
        <p:sp>
          <p:nvSpPr>
            <p:cNvPr id="21" name="Freeform 2">
              <a:extLst>
                <a:ext uri="{FF2B5EF4-FFF2-40B4-BE49-F238E27FC236}">
                  <a16:creationId xmlns:a16="http://schemas.microsoft.com/office/drawing/2014/main" id="{0B630A6E-B3C3-475F-A119-4EE75A56C729}"/>
                </a:ext>
              </a:extLst>
            </p:cNvPr>
            <p:cNvSpPr/>
            <p:nvPr/>
          </p:nvSpPr>
          <p:spPr>
            <a:xfrm>
              <a:off x="7264211" y="2555818"/>
              <a:ext cx="5992960" cy="7134477"/>
            </a:xfrm>
            <a:custGeom>
              <a:avLst/>
              <a:gdLst/>
              <a:ahLst/>
              <a:cxnLst/>
              <a:rect l="l" t="t" r="r" b="b"/>
              <a:pathLst>
                <a:path w="5992960" h="7134477">
                  <a:moveTo>
                    <a:pt x="0" y="0"/>
                  </a:moveTo>
                  <a:lnTo>
                    <a:pt x="5992960" y="0"/>
                  </a:lnTo>
                  <a:lnTo>
                    <a:pt x="5992960" y="7134477"/>
                  </a:lnTo>
                  <a:lnTo>
                    <a:pt x="0" y="7134477"/>
                  </a:lnTo>
                  <a:lnTo>
                    <a:pt x="0" y="0"/>
                  </a:lnTo>
                  <a:close/>
                </a:path>
              </a:pathLst>
            </a:custGeom>
            <a:blipFill>
              <a:blip r:embed="rId8"/>
              <a:stretch>
                <a:fillRect/>
              </a:stretch>
            </a:blipFill>
          </p:spPr>
        </p:sp>
        <p:sp>
          <p:nvSpPr>
            <p:cNvPr id="22" name="Freeform 3">
              <a:extLst>
                <a:ext uri="{FF2B5EF4-FFF2-40B4-BE49-F238E27FC236}">
                  <a16:creationId xmlns:a16="http://schemas.microsoft.com/office/drawing/2014/main" id="{711A52E4-A737-437A-AF8B-887A1FF8D5C3}"/>
                </a:ext>
              </a:extLst>
            </p:cNvPr>
            <p:cNvSpPr/>
            <p:nvPr/>
          </p:nvSpPr>
          <p:spPr>
            <a:xfrm>
              <a:off x="8698591" y="7010351"/>
              <a:ext cx="3124200" cy="1447800"/>
            </a:xfrm>
            <a:custGeom>
              <a:avLst/>
              <a:gdLst/>
              <a:ahLst/>
              <a:cxnLst/>
              <a:rect l="l" t="t" r="r" b="b"/>
              <a:pathLst>
                <a:path w="9499538" h="4353955">
                  <a:moveTo>
                    <a:pt x="0" y="0"/>
                  </a:moveTo>
                  <a:lnTo>
                    <a:pt x="9499538" y="0"/>
                  </a:lnTo>
                  <a:lnTo>
                    <a:pt x="9499538" y="4353954"/>
                  </a:lnTo>
                  <a:lnTo>
                    <a:pt x="0" y="4353954"/>
                  </a:lnTo>
                  <a:lnTo>
                    <a:pt x="0" y="0"/>
                  </a:lnTo>
                  <a:close/>
                </a:path>
              </a:pathLst>
            </a:custGeom>
            <a:blipFill>
              <a:blip r:embed="rId9"/>
              <a:stretch>
                <a:fillRect/>
              </a:stretch>
            </a:blipFill>
          </p:spPr>
        </p:sp>
      </p:grpSp>
      <p:sp>
        <p:nvSpPr>
          <p:cNvPr id="24" name="Freeform 2">
            <a:extLst>
              <a:ext uri="{FF2B5EF4-FFF2-40B4-BE49-F238E27FC236}">
                <a16:creationId xmlns:a16="http://schemas.microsoft.com/office/drawing/2014/main" id="{3C856468-E5C8-4A9A-B1CB-1C388365AA94}"/>
              </a:ext>
            </a:extLst>
          </p:cNvPr>
          <p:cNvSpPr/>
          <p:nvPr/>
        </p:nvSpPr>
        <p:spPr>
          <a:xfrm>
            <a:off x="2706215" y="2366342"/>
            <a:ext cx="6025456" cy="7134477"/>
          </a:xfrm>
          <a:custGeom>
            <a:avLst/>
            <a:gdLst/>
            <a:ahLst/>
            <a:cxnLst/>
            <a:rect l="l" t="t" r="r" b="b"/>
            <a:pathLst>
              <a:path w="5157082" h="6356958">
                <a:moveTo>
                  <a:pt x="0" y="0"/>
                </a:moveTo>
                <a:lnTo>
                  <a:pt x="5157082" y="0"/>
                </a:lnTo>
                <a:lnTo>
                  <a:pt x="5157082" y="6356958"/>
                </a:lnTo>
                <a:lnTo>
                  <a:pt x="0" y="6356958"/>
                </a:lnTo>
                <a:lnTo>
                  <a:pt x="0" y="0"/>
                </a:lnTo>
                <a:close/>
              </a:path>
            </a:pathLst>
          </a:custGeom>
          <a:blipFill>
            <a:blip r:embed="rId10"/>
            <a:stretch>
              <a:fillRect/>
            </a:stretch>
          </a:blipFill>
        </p:spPr>
      </p:sp>
      <p:sp>
        <p:nvSpPr>
          <p:cNvPr id="25" name="Freeform 3">
            <a:extLst>
              <a:ext uri="{FF2B5EF4-FFF2-40B4-BE49-F238E27FC236}">
                <a16:creationId xmlns:a16="http://schemas.microsoft.com/office/drawing/2014/main" id="{268BB4F3-1669-4326-93D1-024326F03F44}"/>
              </a:ext>
            </a:extLst>
          </p:cNvPr>
          <p:cNvSpPr/>
          <p:nvPr/>
        </p:nvSpPr>
        <p:spPr>
          <a:xfrm>
            <a:off x="9144000" y="2366343"/>
            <a:ext cx="6127582" cy="7134477"/>
          </a:xfrm>
          <a:custGeom>
            <a:avLst/>
            <a:gdLst/>
            <a:ahLst/>
            <a:cxnLst/>
            <a:rect l="l" t="t" r="r" b="b"/>
            <a:pathLst>
              <a:path w="5244490" h="6356958">
                <a:moveTo>
                  <a:pt x="0" y="0"/>
                </a:moveTo>
                <a:lnTo>
                  <a:pt x="5244490" y="0"/>
                </a:lnTo>
                <a:lnTo>
                  <a:pt x="5244490" y="6356958"/>
                </a:lnTo>
                <a:lnTo>
                  <a:pt x="0" y="6356958"/>
                </a:lnTo>
                <a:lnTo>
                  <a:pt x="0" y="0"/>
                </a:lnTo>
                <a:close/>
              </a:path>
            </a:pathLst>
          </a:custGeom>
          <a:blipFill>
            <a:blip r:embed="rId11"/>
            <a:stretch>
              <a:fillRect/>
            </a:stretch>
          </a:blipFill>
        </p:spPr>
      </p:sp>
    </p:spTree>
    <p:extLst>
      <p:ext uri="{BB962C8B-B14F-4D97-AF65-F5344CB8AC3E}">
        <p14:creationId xmlns:p14="http://schemas.microsoft.com/office/powerpoint/2010/main" val="14079818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19">
            <a:extLst>
              <a:ext uri="{FF2B5EF4-FFF2-40B4-BE49-F238E27FC236}">
                <a16:creationId xmlns:a16="http://schemas.microsoft.com/office/drawing/2014/main" id="{F51EF8AF-0707-4A0D-9EC7-6909691B7964}"/>
              </a:ext>
            </a:extLst>
          </p:cNvPr>
          <p:cNvSpPr/>
          <p:nvPr/>
        </p:nvSpPr>
        <p:spPr>
          <a:xfrm rot="10800000">
            <a:off x="15544800" y="9091259"/>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 name="TextBox 2"/>
          <p:cNvSpPr txBox="1"/>
          <p:nvPr/>
        </p:nvSpPr>
        <p:spPr>
          <a:xfrm>
            <a:off x="533400" y="471667"/>
            <a:ext cx="3515782" cy="872034"/>
          </a:xfrm>
          <a:prstGeom prst="rect">
            <a:avLst/>
          </a:prstGeom>
        </p:spPr>
        <p:txBody>
          <a:bodyPr wrap="square"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Data</a:t>
            </a:r>
            <a:endParaRPr lang="en-US" sz="6800" spc="-374">
              <a:solidFill>
                <a:srgbClr val="231F20"/>
              </a:solidFill>
              <a:latin typeface="Heading Now 71-78"/>
              <a:ea typeface="Heading Now 71-78"/>
              <a:cs typeface="Heading Now 71-78"/>
              <a:sym typeface="Heading Now 71-78"/>
            </a:endParaRPr>
          </a:p>
        </p:txBody>
      </p:sp>
      <p:sp>
        <p:nvSpPr>
          <p:cNvPr id="3" name="Freeform 3"/>
          <p:cNvSpPr/>
          <p:nvPr/>
        </p:nvSpPr>
        <p:spPr>
          <a:xfrm rot="-2700000">
            <a:off x="3100116" y="394637"/>
            <a:ext cx="786231" cy="786231"/>
          </a:xfrm>
          <a:custGeom>
            <a:avLst/>
            <a:gdLst/>
            <a:ahLst/>
            <a:cxnLst/>
            <a:rect l="l" t="t" r="r" b="b"/>
            <a:pathLst>
              <a:path w="786231" h="786231">
                <a:moveTo>
                  <a:pt x="0" y="0"/>
                </a:moveTo>
                <a:lnTo>
                  <a:pt x="786232" y="0"/>
                </a:lnTo>
                <a:lnTo>
                  <a:pt x="786232" y="786232"/>
                </a:lnTo>
                <a:lnTo>
                  <a:pt x="0" y="7862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27881" y="6177324"/>
            <a:ext cx="3934796" cy="4109676"/>
            <a:chOff x="0" y="0"/>
            <a:chExt cx="571500" cy="596900"/>
          </a:xfrm>
        </p:grpSpPr>
        <p:sp>
          <p:nvSpPr>
            <p:cNvPr id="5" name="Freeform 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6" name="TextBox 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
        <p:nvSpPr>
          <p:cNvPr id="14" name="Freeform 14"/>
          <p:cNvSpPr/>
          <p:nvPr/>
        </p:nvSpPr>
        <p:spPr>
          <a:xfrm>
            <a:off x="4800508" y="-890528"/>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10800000">
            <a:off x="14353204" y="0"/>
            <a:ext cx="3934796" cy="4109676"/>
            <a:chOff x="0" y="0"/>
            <a:chExt cx="571500" cy="596900"/>
          </a:xfrm>
        </p:grpSpPr>
        <p:sp>
          <p:nvSpPr>
            <p:cNvPr id="16" name="Freeform 16"/>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7" name="TextBox 17"/>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7" name="Group 6">
            <a:extLst>
              <a:ext uri="{FF2B5EF4-FFF2-40B4-BE49-F238E27FC236}">
                <a16:creationId xmlns:a16="http://schemas.microsoft.com/office/drawing/2014/main" id="{19FE25E9-11CC-4BA9-A765-B8F708E69DD3}"/>
              </a:ext>
            </a:extLst>
          </p:cNvPr>
          <p:cNvGrpSpPr/>
          <p:nvPr/>
        </p:nvGrpSpPr>
        <p:grpSpPr>
          <a:xfrm>
            <a:off x="685800" y="2092937"/>
            <a:ext cx="7086600" cy="4185065"/>
            <a:chOff x="1189858" y="3311496"/>
            <a:chExt cx="9906313" cy="4185065"/>
          </a:xfrm>
        </p:grpSpPr>
        <p:grpSp>
          <p:nvGrpSpPr>
            <p:cNvPr id="28" name="Group 2">
              <a:extLst>
                <a:ext uri="{FF2B5EF4-FFF2-40B4-BE49-F238E27FC236}">
                  <a16:creationId xmlns:a16="http://schemas.microsoft.com/office/drawing/2014/main" id="{760EED60-B820-42CB-9F2F-99EE605AEC04}"/>
                </a:ext>
              </a:extLst>
            </p:cNvPr>
            <p:cNvGrpSpPr/>
            <p:nvPr/>
          </p:nvGrpSpPr>
          <p:grpSpPr>
            <a:xfrm>
              <a:off x="1189858" y="3311496"/>
              <a:ext cx="9906313" cy="4185065"/>
              <a:chOff x="0" y="0"/>
              <a:chExt cx="3193467" cy="1760963"/>
            </a:xfrm>
          </p:grpSpPr>
          <p:sp>
            <p:nvSpPr>
              <p:cNvPr id="29" name="Freeform 3">
                <a:extLst>
                  <a:ext uri="{FF2B5EF4-FFF2-40B4-BE49-F238E27FC236}">
                    <a16:creationId xmlns:a16="http://schemas.microsoft.com/office/drawing/2014/main" id="{EDEBDE4A-64E5-4B21-A0B9-65ACA723BF3B}"/>
                  </a:ext>
                </a:extLst>
              </p:cNvPr>
              <p:cNvSpPr/>
              <p:nvPr/>
            </p:nvSpPr>
            <p:spPr>
              <a:xfrm>
                <a:off x="0" y="0"/>
                <a:ext cx="3193467" cy="1760963"/>
              </a:xfrm>
              <a:custGeom>
                <a:avLst/>
                <a:gdLst/>
                <a:ahLst/>
                <a:cxnLst/>
                <a:rect l="l" t="t" r="r" b="b"/>
                <a:pathLst>
                  <a:path w="3193467" h="2725844">
                    <a:moveTo>
                      <a:pt x="3069007" y="2725843"/>
                    </a:moveTo>
                    <a:lnTo>
                      <a:pt x="124460" y="2725843"/>
                    </a:lnTo>
                    <a:cubicBezTo>
                      <a:pt x="55880" y="2725843"/>
                      <a:pt x="0" y="2669963"/>
                      <a:pt x="0" y="2601383"/>
                    </a:cubicBezTo>
                    <a:lnTo>
                      <a:pt x="0" y="124460"/>
                    </a:lnTo>
                    <a:cubicBezTo>
                      <a:pt x="0" y="55880"/>
                      <a:pt x="55880" y="0"/>
                      <a:pt x="124460" y="0"/>
                    </a:cubicBezTo>
                    <a:lnTo>
                      <a:pt x="3069007" y="0"/>
                    </a:lnTo>
                    <a:cubicBezTo>
                      <a:pt x="3137587" y="0"/>
                      <a:pt x="3193467" y="55880"/>
                      <a:pt x="3193467" y="124460"/>
                    </a:cubicBezTo>
                    <a:lnTo>
                      <a:pt x="3193467" y="2601383"/>
                    </a:lnTo>
                    <a:cubicBezTo>
                      <a:pt x="3193467" y="2669963"/>
                      <a:pt x="3137587" y="2725844"/>
                      <a:pt x="3069007" y="2725844"/>
                    </a:cubicBezTo>
                    <a:close/>
                  </a:path>
                </a:pathLst>
              </a:custGeom>
              <a:solidFill>
                <a:srgbClr val="FFFFFF"/>
              </a:solidFill>
              <a:ln>
                <a:solidFill>
                  <a:schemeClr val="tx1"/>
                </a:solidFill>
              </a:ln>
            </p:spPr>
          </p:sp>
        </p:grpSp>
        <p:sp>
          <p:nvSpPr>
            <p:cNvPr id="33" name="TextBox 4">
              <a:extLst>
                <a:ext uri="{FF2B5EF4-FFF2-40B4-BE49-F238E27FC236}">
                  <a16:creationId xmlns:a16="http://schemas.microsoft.com/office/drawing/2014/main" id="{DF9C5601-CAAF-486B-8971-648DA54FFC02}"/>
                </a:ext>
              </a:extLst>
            </p:cNvPr>
            <p:cNvSpPr txBox="1"/>
            <p:nvPr/>
          </p:nvSpPr>
          <p:spPr>
            <a:xfrm>
              <a:off x="1403636" y="3437770"/>
              <a:ext cx="9537435" cy="2702535"/>
            </a:xfrm>
            <a:prstGeom prst="rect">
              <a:avLst/>
            </a:prstGeom>
          </p:spPr>
          <p:txBody>
            <a:bodyPr lIns="0" tIns="0" rIns="0" bIns="0" rtlCol="0" anchor="t">
              <a:spAutoFit/>
            </a:bodyPr>
            <a:lstStyle/>
            <a:p>
              <a:pPr algn="just">
                <a:lnSpc>
                  <a:spcPts val="4275"/>
                </a:lnSpc>
              </a:pPr>
              <a:r>
                <a:rPr lang="en-US" sz="2400">
                  <a:solidFill>
                    <a:srgbClr val="121212"/>
                  </a:solidFill>
                  <a:latin typeface="Public Sans Bold" panose="020B0604020202020204" charset="0"/>
                  <a:ea typeface="Public Sans"/>
                  <a:cs typeface="Public Sans Bold" panose="020B0604020202020204" charset="0"/>
                  <a:sym typeface="Public Sans"/>
                </a:rPr>
                <a:t>Data được sử dụng để lưu trữ thông tin người dùng và lịch sử trận đấu.</a:t>
              </a:r>
            </a:p>
            <a:p>
              <a:pPr marL="615406" lvl="1" indent="-307703" algn="just">
                <a:lnSpc>
                  <a:spcPts val="4275"/>
                </a:lnSpc>
                <a:buFont typeface="Arial"/>
                <a:buChar char="•"/>
              </a:pPr>
              <a:r>
                <a:rPr lang="en-US" sz="2400">
                  <a:solidFill>
                    <a:srgbClr val="121212"/>
                  </a:solidFill>
                  <a:latin typeface="Public Sans Bold" panose="020B0604020202020204" charset="0"/>
                  <a:ea typeface="Public Sans"/>
                  <a:cs typeface="Public Sans Bold" panose="020B0604020202020204" charset="0"/>
                  <a:sym typeface="Public Sans"/>
                </a:rPr>
                <a:t>Lưu tài khoản đã đăng ký (username, password)</a:t>
              </a:r>
            </a:p>
            <a:p>
              <a:pPr marL="615406" lvl="1" indent="-307703" algn="just">
                <a:lnSpc>
                  <a:spcPts val="4275"/>
                </a:lnSpc>
                <a:buFont typeface="Arial"/>
                <a:buChar char="•"/>
              </a:pPr>
              <a:r>
                <a:rPr lang="en-US" sz="2400">
                  <a:solidFill>
                    <a:srgbClr val="121212"/>
                  </a:solidFill>
                  <a:latin typeface="Public Sans Bold" panose="020B0604020202020204" charset="0"/>
                  <a:ea typeface="Public Sans"/>
                  <a:cs typeface="Public Sans Bold" panose="020B0604020202020204" charset="0"/>
                  <a:sym typeface="Public Sans"/>
                </a:rPr>
                <a:t>Lưu kết quả các trận đấu của người chơi</a:t>
              </a:r>
            </a:p>
            <a:p>
              <a:pPr marL="615406" lvl="1" indent="-307703" algn="just">
                <a:lnSpc>
                  <a:spcPts val="4275"/>
                </a:lnSpc>
                <a:buFont typeface="Arial"/>
                <a:buChar char="•"/>
              </a:pPr>
              <a:r>
                <a:rPr lang="en-US" sz="2400">
                  <a:solidFill>
                    <a:srgbClr val="121212"/>
                  </a:solidFill>
                  <a:latin typeface="Public Sans Bold" panose="020B0604020202020204" charset="0"/>
                  <a:ea typeface="Public Sans"/>
                  <a:cs typeface="Public Sans Bold" panose="020B0604020202020204" charset="0"/>
                  <a:sym typeface="Public Sans"/>
                </a:rPr>
                <a:t>Đảm bảo dữ liệu được giữ lại để sử dụng lâu dài</a:t>
              </a:r>
            </a:p>
          </p:txBody>
        </p:sp>
      </p:grpSp>
      <p:pic>
        <p:nvPicPr>
          <p:cNvPr id="9" name="Picture 8">
            <a:extLst>
              <a:ext uri="{FF2B5EF4-FFF2-40B4-BE49-F238E27FC236}">
                <a16:creationId xmlns:a16="http://schemas.microsoft.com/office/drawing/2014/main" id="{3B2F88D0-74D5-4703-89DF-617596063D56}"/>
              </a:ext>
            </a:extLst>
          </p:cNvPr>
          <p:cNvPicPr>
            <a:picLocks noChangeAspect="1"/>
          </p:cNvPicPr>
          <p:nvPr/>
        </p:nvPicPr>
        <p:blipFill>
          <a:blip r:embed="rId6"/>
          <a:stretch>
            <a:fillRect/>
          </a:stretch>
        </p:blipFill>
        <p:spPr>
          <a:xfrm>
            <a:off x="8839673" y="173751"/>
            <a:ext cx="7480929" cy="5807948"/>
          </a:xfrm>
          <a:prstGeom prst="rect">
            <a:avLst/>
          </a:prstGeom>
        </p:spPr>
      </p:pic>
      <p:pic>
        <p:nvPicPr>
          <p:cNvPr id="11" name="Picture 10">
            <a:extLst>
              <a:ext uri="{FF2B5EF4-FFF2-40B4-BE49-F238E27FC236}">
                <a16:creationId xmlns:a16="http://schemas.microsoft.com/office/drawing/2014/main" id="{4103129A-450C-4C07-83A3-0A60C4DB0540}"/>
              </a:ext>
            </a:extLst>
          </p:cNvPr>
          <p:cNvPicPr>
            <a:picLocks noChangeAspect="1"/>
          </p:cNvPicPr>
          <p:nvPr/>
        </p:nvPicPr>
        <p:blipFill>
          <a:blip r:embed="rId7"/>
          <a:stretch>
            <a:fillRect/>
          </a:stretch>
        </p:blipFill>
        <p:spPr>
          <a:xfrm>
            <a:off x="8839673" y="6233583"/>
            <a:ext cx="7480929" cy="3455142"/>
          </a:xfrm>
          <a:prstGeom prst="rect">
            <a:avLst/>
          </a:prstGeom>
        </p:spPr>
      </p:pic>
    </p:spTree>
    <p:extLst>
      <p:ext uri="{BB962C8B-B14F-4D97-AF65-F5344CB8AC3E}">
        <p14:creationId xmlns:p14="http://schemas.microsoft.com/office/powerpoint/2010/main" val="568828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14353204" y="0"/>
            <a:ext cx="3934796" cy="4109676"/>
            <a:chOff x="0" y="0"/>
            <a:chExt cx="571500" cy="596900"/>
          </a:xfrm>
        </p:grpSpPr>
        <p:sp>
          <p:nvSpPr>
            <p:cNvPr id="3" name="Freeform 3"/>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4" name="TextBox 4"/>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7" name="Group 7"/>
          <p:cNvGrpSpPr/>
          <p:nvPr/>
        </p:nvGrpSpPr>
        <p:grpSpPr>
          <a:xfrm>
            <a:off x="91301" y="6129860"/>
            <a:ext cx="3934796" cy="4109676"/>
            <a:chOff x="0" y="0"/>
            <a:chExt cx="571500" cy="596900"/>
          </a:xfrm>
        </p:grpSpPr>
        <p:sp>
          <p:nvSpPr>
            <p:cNvPr id="8" name="Freeform 8"/>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9" name="TextBox 9"/>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10" name="Group 10"/>
          <p:cNvGrpSpPr/>
          <p:nvPr/>
        </p:nvGrpSpPr>
        <p:grpSpPr>
          <a:xfrm>
            <a:off x="810960" y="3936601"/>
            <a:ext cx="4809848" cy="3214278"/>
            <a:chOff x="0" y="0"/>
            <a:chExt cx="745171" cy="497976"/>
          </a:xfrm>
          <a:blipFill>
            <a:blip r:embed="rId2"/>
            <a:stretch>
              <a:fillRect r="-278"/>
            </a:stretch>
          </a:blipFill>
        </p:grpSpPr>
        <p:sp>
          <p:nvSpPr>
            <p:cNvPr id="11" name="Freeform 11"/>
            <p:cNvSpPr/>
            <p:nvPr/>
          </p:nvSpPr>
          <p:spPr>
            <a:xfrm>
              <a:off x="0" y="0"/>
              <a:ext cx="745171" cy="497976"/>
            </a:xfrm>
            <a:custGeom>
              <a:avLst/>
              <a:gdLst/>
              <a:ahLst/>
              <a:cxnLst/>
              <a:rect l="l" t="t" r="r" b="b"/>
              <a:pathLst>
                <a:path w="745171" h="497976">
                  <a:moveTo>
                    <a:pt x="56336" y="0"/>
                  </a:moveTo>
                  <a:lnTo>
                    <a:pt x="688835" y="0"/>
                  </a:lnTo>
                  <a:cubicBezTo>
                    <a:pt x="703777" y="0"/>
                    <a:pt x="718106" y="5935"/>
                    <a:pt x="728671" y="16500"/>
                  </a:cubicBezTo>
                  <a:cubicBezTo>
                    <a:pt x="739236" y="27065"/>
                    <a:pt x="745171" y="41395"/>
                    <a:pt x="745171" y="56336"/>
                  </a:cubicBezTo>
                  <a:lnTo>
                    <a:pt x="745171" y="441640"/>
                  </a:lnTo>
                  <a:cubicBezTo>
                    <a:pt x="745171" y="456581"/>
                    <a:pt x="739236" y="470910"/>
                    <a:pt x="728671" y="481475"/>
                  </a:cubicBezTo>
                  <a:cubicBezTo>
                    <a:pt x="718106" y="492040"/>
                    <a:pt x="703777" y="497976"/>
                    <a:pt x="688835" y="497976"/>
                  </a:cubicBezTo>
                  <a:lnTo>
                    <a:pt x="56336" y="497976"/>
                  </a:lnTo>
                  <a:cubicBezTo>
                    <a:pt x="41395" y="497976"/>
                    <a:pt x="27065" y="492040"/>
                    <a:pt x="16500" y="481475"/>
                  </a:cubicBezTo>
                  <a:cubicBezTo>
                    <a:pt x="5935" y="470910"/>
                    <a:pt x="0" y="456581"/>
                    <a:pt x="0" y="441640"/>
                  </a:cubicBezTo>
                  <a:lnTo>
                    <a:pt x="0" y="56336"/>
                  </a:lnTo>
                  <a:cubicBezTo>
                    <a:pt x="0" y="41395"/>
                    <a:pt x="5935" y="27065"/>
                    <a:pt x="16500" y="16500"/>
                  </a:cubicBezTo>
                  <a:cubicBezTo>
                    <a:pt x="27065" y="5935"/>
                    <a:pt x="41395" y="0"/>
                    <a:pt x="56336" y="0"/>
                  </a:cubicBezTo>
                  <a:close/>
                </a:path>
              </a:pathLst>
            </a:custGeom>
            <a:grpFill/>
            <a:ln>
              <a:solidFill>
                <a:schemeClr val="accent3">
                  <a:lumMod val="50000"/>
                </a:schemeClr>
              </a:solidFill>
            </a:ln>
          </p:spPr>
        </p:sp>
      </p:grpSp>
      <p:sp>
        <p:nvSpPr>
          <p:cNvPr id="15" name="TextBox 15"/>
          <p:cNvSpPr txBox="1"/>
          <p:nvPr/>
        </p:nvSpPr>
        <p:spPr>
          <a:xfrm>
            <a:off x="736586" y="2403955"/>
            <a:ext cx="4958595"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Khó khăn</a:t>
            </a:r>
            <a:endParaRPr lang="en-US" sz="6800" spc="-374">
              <a:solidFill>
                <a:srgbClr val="231F20"/>
              </a:solidFill>
              <a:latin typeface="Heading Now 71-78"/>
              <a:ea typeface="Heading Now 71-78"/>
              <a:cs typeface="Heading Now 71-78"/>
              <a:sym typeface="Heading Now 71-78"/>
            </a:endParaRPr>
          </a:p>
        </p:txBody>
      </p:sp>
      <p:sp>
        <p:nvSpPr>
          <p:cNvPr id="19" name="Freeform 19"/>
          <p:cNvSpPr/>
          <p:nvPr/>
        </p:nvSpPr>
        <p:spPr>
          <a:xfrm rot="-10800000">
            <a:off x="13205201" y="8429729"/>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a:off x="4026097" y="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TextBox 21">
            <a:extLst>
              <a:ext uri="{FF2B5EF4-FFF2-40B4-BE49-F238E27FC236}">
                <a16:creationId xmlns:a16="http://schemas.microsoft.com/office/drawing/2014/main" id="{BB17B4C8-7403-4CA5-A3F3-E4FD876C7142}"/>
              </a:ext>
            </a:extLst>
          </p:cNvPr>
          <p:cNvSpPr txBox="1"/>
          <p:nvPr/>
        </p:nvSpPr>
        <p:spPr>
          <a:xfrm>
            <a:off x="6493343" y="2476500"/>
            <a:ext cx="9144000" cy="5575309"/>
          </a:xfrm>
          <a:prstGeom prst="rect">
            <a:avLst/>
          </a:prstGeom>
          <a:noFill/>
        </p:spPr>
        <p:txBody>
          <a:bodyPr wrap="square">
            <a:spAutoFit/>
          </a:bodyPr>
          <a:lstStyle/>
          <a:p>
            <a:pPr algn="l">
              <a:lnSpc>
                <a:spcPts val="3600"/>
              </a:lnSpc>
              <a:spcBef>
                <a:spcPct val="0"/>
              </a:spcBef>
            </a:pPr>
            <a:r>
              <a:rPr lang="en-US" sz="2000" b="1">
                <a:latin typeface="Public Sans Bold" panose="020B0604020202020204" charset="0"/>
                <a:ea typeface="Public Sans Bold"/>
                <a:cs typeface="Public Sans Bold" panose="020B0604020202020204" charset="0"/>
                <a:sym typeface="Public Sans Bold"/>
              </a:rPr>
              <a:t>- </a:t>
            </a:r>
            <a:r>
              <a:rPr lang="en-US" sz="2000" b="1">
                <a:latin typeface="Public Sans Bold" panose="020B0604020202020204" charset="0"/>
                <a:cs typeface="Public Sans Bold" panose="020B0604020202020204" charset="0"/>
              </a:rPr>
              <a:t>Xung đột quan điểm</a:t>
            </a:r>
            <a:endParaRPr lang="vi-VN" sz="2000" b="1">
              <a:latin typeface="Public Sans Bold" panose="020B0604020202020204" charset="0"/>
              <a:ea typeface="Public Sans Bold"/>
              <a:cs typeface="Public Sans Bold" panose="020B0604020202020204" charset="0"/>
              <a:sym typeface="Public Sans Bold"/>
            </a:endParaRPr>
          </a:p>
          <a:p>
            <a:pPr algn="l">
              <a:lnSpc>
                <a:spcPts val="3600"/>
              </a:lnSpc>
              <a:spcBef>
                <a:spcPct val="0"/>
              </a:spcBef>
            </a:pPr>
            <a:r>
              <a:rPr lang="vi-VN" sz="2000" b="1">
                <a:latin typeface="Public Sans Bold" panose="020B0604020202020204" charset="0"/>
                <a:ea typeface="Public Sans Bold"/>
                <a:cs typeface="Public Sans Bold" panose="020B0604020202020204" charset="0"/>
                <a:sym typeface="Public Sans Bold"/>
              </a:rPr>
              <a:t>- Thiếu s</a:t>
            </a:r>
            <a:r>
              <a:rPr lang="en-US" sz="2000" b="1">
                <a:latin typeface="Public Sans Bold" panose="020B0604020202020204" charset="0"/>
                <a:cs typeface="Public Sans Bold" panose="020B0604020202020204" charset="0"/>
              </a:rPr>
              <a:t>ự thiếu minh bạch trong giao tiếp</a:t>
            </a:r>
            <a:endParaRPr lang="vi-VN" sz="2000" b="1">
              <a:latin typeface="Public Sans Bold" panose="020B0604020202020204" charset="0"/>
              <a:ea typeface="Public Sans Bold"/>
              <a:cs typeface="Public Sans Bold" panose="020B0604020202020204" charset="0"/>
              <a:sym typeface="Public Sans Bold"/>
            </a:endParaRPr>
          </a:p>
          <a:p>
            <a:pPr algn="l">
              <a:lnSpc>
                <a:spcPts val="3600"/>
              </a:lnSpc>
              <a:spcBef>
                <a:spcPct val="0"/>
              </a:spcBef>
            </a:pPr>
            <a:r>
              <a:rPr lang="vi-VN" sz="2000" b="1">
                <a:latin typeface="Public Sans Bold" panose="020B0604020202020204" charset="0"/>
                <a:ea typeface="Public Sans Bold"/>
                <a:cs typeface="Public Sans Bold" panose="020B0604020202020204" charset="0"/>
                <a:sym typeface="Public Sans Bold"/>
              </a:rPr>
              <a:t>- Những thành viên chưa biết phải h</a:t>
            </a:r>
            <a:r>
              <a:rPr lang="en-US" sz="2000" b="1">
                <a:latin typeface="Public Sans Bold" panose="020B0604020202020204" charset="0"/>
                <a:ea typeface="Public Sans Bold"/>
                <a:cs typeface="Public Sans Bold" panose="020B0604020202020204" charset="0"/>
                <a:sym typeface="Public Sans Bold"/>
              </a:rPr>
              <a:t>ọc</a:t>
            </a:r>
            <a:r>
              <a:rPr lang="vi-VN" sz="2000" b="1">
                <a:latin typeface="Public Sans Bold" panose="020B0604020202020204" charset="0"/>
                <a:ea typeface="Public Sans Bold"/>
                <a:cs typeface="Public Sans Bold" panose="020B0604020202020204" charset="0"/>
                <a:sym typeface="Public Sans Bold"/>
              </a:rPr>
              <a:t> và</a:t>
            </a:r>
            <a:r>
              <a:rPr lang="en-US" sz="2000" b="1">
                <a:latin typeface="Public Sans Bold" panose="020B0604020202020204" charset="0"/>
                <a:ea typeface="Public Sans Bold"/>
                <a:cs typeface="Public Sans Bold" panose="020B0604020202020204" charset="0"/>
                <a:sym typeface="Public Sans Bold"/>
              </a:rPr>
              <a:t> làm quen với </a:t>
            </a:r>
            <a:r>
              <a:rPr lang="vi-VN" sz="2000" b="1">
                <a:latin typeface="Public Sans Bold" panose="020B0604020202020204" charset="0"/>
                <a:ea typeface="Public Sans Bold"/>
                <a:cs typeface="Public Sans Bold" panose="020B0604020202020204" charset="0"/>
                <a:sym typeface="Public Sans Bold"/>
              </a:rPr>
              <a:t>G</a:t>
            </a:r>
            <a:r>
              <a:rPr lang="en-US" sz="2000" b="1">
                <a:latin typeface="Public Sans Bold" panose="020B0604020202020204" charset="0"/>
                <a:ea typeface="Public Sans Bold"/>
                <a:cs typeface="Public Sans Bold" panose="020B0604020202020204" charset="0"/>
                <a:sym typeface="Public Sans Bold"/>
              </a:rPr>
              <a:t>it, </a:t>
            </a:r>
            <a:r>
              <a:rPr lang="vi-VN" sz="2000" b="1">
                <a:latin typeface="Public Sans Bold" panose="020B0604020202020204" charset="0"/>
                <a:ea typeface="Public Sans Bold"/>
                <a:cs typeface="Public Sans Bold" panose="020B0604020202020204" charset="0"/>
                <a:sym typeface="Public Sans Bold"/>
              </a:rPr>
              <a:t>G</a:t>
            </a:r>
            <a:r>
              <a:rPr lang="en-US" sz="2000" b="1">
                <a:latin typeface="Public Sans Bold" panose="020B0604020202020204" charset="0"/>
                <a:ea typeface="Public Sans Bold"/>
                <a:cs typeface="Public Sans Bold" panose="020B0604020202020204" charset="0"/>
                <a:sym typeface="Public Sans Bold"/>
              </a:rPr>
              <a:t>ithub trong thời gian ngắn.</a:t>
            </a:r>
          </a:p>
          <a:p>
            <a:pPr algn="l">
              <a:lnSpc>
                <a:spcPts val="3600"/>
              </a:lnSpc>
              <a:spcBef>
                <a:spcPct val="0"/>
              </a:spcBef>
            </a:pPr>
            <a:r>
              <a:rPr lang="en-US" sz="2000" b="1">
                <a:latin typeface="Public Sans Bold" panose="020B0604020202020204" charset="0"/>
                <a:ea typeface="Public Sans Bold"/>
                <a:cs typeface="Public Sans Bold" panose="020B0604020202020204" charset="0"/>
                <a:sym typeface="Public Sans Bold"/>
              </a:rPr>
              <a:t>- Truyền dữ liệu giữa client và server không ổn định, do sai cấu hình port dẫn đến mất kết nối và đồng bộ dữ liệu </a:t>
            </a:r>
          </a:p>
          <a:p>
            <a:pPr algn="l">
              <a:lnSpc>
                <a:spcPts val="3600"/>
              </a:lnSpc>
              <a:spcBef>
                <a:spcPct val="0"/>
              </a:spcBef>
            </a:pPr>
            <a:r>
              <a:rPr lang="en-US" sz="2000" b="1">
                <a:latin typeface="Public Sans Bold" panose="020B0604020202020204" charset="0"/>
                <a:ea typeface="Public Sans Bold"/>
                <a:cs typeface="Public Sans Bold" panose="020B0604020202020204" charset="0"/>
                <a:sym typeface="Public Sans Bold"/>
              </a:rPr>
              <a:t>- Debug lỗi liên tục do sự không đồng điệu ở code mỗi thành viên </a:t>
            </a:r>
          </a:p>
          <a:p>
            <a:pPr algn="l">
              <a:lnSpc>
                <a:spcPts val="3600"/>
              </a:lnSpc>
              <a:spcBef>
                <a:spcPct val="0"/>
              </a:spcBef>
            </a:pPr>
            <a:r>
              <a:rPr lang="en-US" sz="2000" b="1">
                <a:latin typeface="Public Sans Bold" panose="020B0604020202020204" charset="0"/>
                <a:ea typeface="Public Sans Bold"/>
                <a:cs typeface="Public Sans Bold" panose="020B0604020202020204" charset="0"/>
                <a:sym typeface="Public Sans Bold"/>
              </a:rPr>
              <a:t>- </a:t>
            </a:r>
            <a:r>
              <a:rPr lang="vi-VN" sz="2000" b="1">
                <a:latin typeface="Public Sans Bold" panose="020B0604020202020204" charset="0"/>
                <a:ea typeface="Public Sans Bold"/>
                <a:cs typeface="Public Sans Bold" panose="020B0604020202020204" charset="0"/>
                <a:sym typeface="Public Sans Bold"/>
              </a:rPr>
              <a:t>Những thành viên chưa biết  phải l</a:t>
            </a:r>
            <a:r>
              <a:rPr lang="en-US" sz="2000" b="1">
                <a:latin typeface="Public Sans Bold" panose="020B0604020202020204" charset="0"/>
                <a:ea typeface="Public Sans Bold"/>
                <a:cs typeface="Public Sans Bold" panose="020B0604020202020204" charset="0"/>
                <a:sym typeface="Public Sans Bold"/>
              </a:rPr>
              <a:t>àm quen với ngôn ngữ mới trong thời gian ngắn</a:t>
            </a:r>
          </a:p>
          <a:p>
            <a:pPr algn="l">
              <a:lnSpc>
                <a:spcPts val="3600"/>
              </a:lnSpc>
              <a:spcBef>
                <a:spcPct val="0"/>
              </a:spcBef>
            </a:pPr>
            <a:r>
              <a:rPr lang="en-US" sz="2000" b="1">
                <a:latin typeface="Public Sans Bold" panose="020B0604020202020204" charset="0"/>
                <a:ea typeface="Public Sans Bold"/>
                <a:cs typeface="Public Sans Bold" panose="020B0604020202020204" charset="0"/>
                <a:sym typeface="Public Sans Bold"/>
              </a:rPr>
              <a:t>- Học cách làm quen tạo giao diện với NetBeans</a:t>
            </a:r>
          </a:p>
          <a:p>
            <a:pPr algn="l">
              <a:lnSpc>
                <a:spcPts val="3600"/>
              </a:lnSpc>
              <a:spcBef>
                <a:spcPct val="0"/>
              </a:spcBef>
            </a:pPr>
            <a:r>
              <a:rPr lang="en-US" sz="2000" b="1">
                <a:latin typeface="Public Sans Bold" panose="020B0604020202020204" charset="0"/>
                <a:ea typeface="Public Sans Bold"/>
                <a:cs typeface="Public Sans Bold" panose="020B0604020202020204" charset="0"/>
                <a:sym typeface="Public Sans Bold"/>
              </a:rPr>
              <a:t>- Fix liên tục những lỗi nhỏ do tester trải nghiệm </a:t>
            </a:r>
          </a:p>
          <a:p>
            <a:pPr algn="l">
              <a:lnSpc>
                <a:spcPts val="3600"/>
              </a:lnSpc>
              <a:spcBef>
                <a:spcPct val="0"/>
              </a:spcBef>
            </a:pPr>
            <a:endParaRPr lang="en-US" sz="2000" b="1" dirty="0">
              <a:latin typeface="Public Sans Bold" panose="020B0604020202020204" charset="0"/>
              <a:ea typeface="Public Sans Bold"/>
              <a:cs typeface="Public Sans Bold" panose="020B0604020202020204" charset="0"/>
              <a:sym typeface="Public Sans Bold"/>
            </a:endParaRPr>
          </a:p>
        </p:txBody>
      </p:sp>
    </p:spTree>
    <p:extLst>
      <p:ext uri="{BB962C8B-B14F-4D97-AF65-F5344CB8AC3E}">
        <p14:creationId xmlns:p14="http://schemas.microsoft.com/office/powerpoint/2010/main" val="2013410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9"/>
          <p:cNvSpPr txBox="1"/>
          <p:nvPr/>
        </p:nvSpPr>
        <p:spPr>
          <a:xfrm>
            <a:off x="1642166" y="1585797"/>
            <a:ext cx="6900281" cy="872034"/>
          </a:xfrm>
          <a:prstGeom prst="rect">
            <a:avLst/>
          </a:prstGeom>
        </p:spPr>
        <p:txBody>
          <a:bodyPr lIns="0" tIns="0" rIns="0" bIns="0" rtlCol="0" anchor="t">
            <a:spAutoFit/>
          </a:bodyPr>
          <a:lstStyle/>
          <a:p>
            <a:pPr algn="l">
              <a:lnSpc>
                <a:spcPts val="6800"/>
              </a:lnSpc>
            </a:pPr>
            <a:r>
              <a:rPr lang="vi-VN" sz="6800" spc="-374">
                <a:solidFill>
                  <a:srgbClr val="231F20"/>
                </a:solidFill>
                <a:latin typeface="Heading Now 71-78"/>
                <a:ea typeface="Heading Now 71-78"/>
                <a:cs typeface="Heading Now 71-78"/>
                <a:sym typeface="Heading Now 71-78"/>
              </a:rPr>
              <a:t>Thành tựu</a:t>
            </a:r>
            <a:endParaRPr lang="en-US" sz="6800" spc="-374">
              <a:solidFill>
                <a:srgbClr val="231F20"/>
              </a:solidFill>
              <a:latin typeface="Heading Now 71-78"/>
              <a:ea typeface="Heading Now 71-78"/>
              <a:cs typeface="Heading Now 71-78"/>
              <a:sym typeface="Heading Now 71-78"/>
            </a:endParaRPr>
          </a:p>
        </p:txBody>
      </p:sp>
      <p:sp>
        <p:nvSpPr>
          <p:cNvPr id="13" name="Freeform 13"/>
          <p:cNvSpPr/>
          <p:nvPr/>
        </p:nvSpPr>
        <p:spPr>
          <a:xfrm>
            <a:off x="11321628" y="-54541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0" y="6177324"/>
            <a:ext cx="3934796" cy="4109676"/>
            <a:chOff x="0" y="0"/>
            <a:chExt cx="571500" cy="596900"/>
          </a:xfrm>
        </p:grpSpPr>
        <p:sp>
          <p:nvSpPr>
            <p:cNvPr id="15" name="Freeform 15"/>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6" name="TextBox 16"/>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5" name="Group 5"/>
          <p:cNvGrpSpPr/>
          <p:nvPr/>
        </p:nvGrpSpPr>
        <p:grpSpPr>
          <a:xfrm>
            <a:off x="1667566" y="2933700"/>
            <a:ext cx="4585260" cy="5115183"/>
            <a:chOff x="0" y="0"/>
            <a:chExt cx="787132" cy="772834"/>
          </a:xfrm>
          <a:blipFill dpi="0" rotWithShape="1">
            <a:blip r:embed="rId4"/>
            <a:srcRect/>
            <a:stretch>
              <a:fillRect/>
            </a:stretch>
          </a:blipFill>
        </p:grpSpPr>
        <p:sp>
          <p:nvSpPr>
            <p:cNvPr id="6" name="Freeform 6"/>
            <p:cNvSpPr/>
            <p:nvPr/>
          </p:nvSpPr>
          <p:spPr>
            <a:xfrm>
              <a:off x="0" y="0"/>
              <a:ext cx="787132" cy="772834"/>
            </a:xfrm>
            <a:custGeom>
              <a:avLst/>
              <a:gdLst/>
              <a:ahLst/>
              <a:cxnLst/>
              <a:rect l="l" t="t" r="r" b="b"/>
              <a:pathLst>
                <a:path w="787132" h="772834">
                  <a:moveTo>
                    <a:pt x="59095" y="0"/>
                  </a:moveTo>
                  <a:lnTo>
                    <a:pt x="728037" y="0"/>
                  </a:lnTo>
                  <a:cubicBezTo>
                    <a:pt x="743710" y="0"/>
                    <a:pt x="758741" y="6226"/>
                    <a:pt x="769823" y="17309"/>
                  </a:cubicBezTo>
                  <a:cubicBezTo>
                    <a:pt x="780906" y="28391"/>
                    <a:pt x="787132" y="43422"/>
                    <a:pt x="787132" y="59095"/>
                  </a:cubicBezTo>
                  <a:lnTo>
                    <a:pt x="787132" y="713738"/>
                  </a:lnTo>
                  <a:cubicBezTo>
                    <a:pt x="787132" y="746376"/>
                    <a:pt x="760674" y="772834"/>
                    <a:pt x="728037" y="772834"/>
                  </a:cubicBezTo>
                  <a:lnTo>
                    <a:pt x="59095" y="772834"/>
                  </a:lnTo>
                  <a:cubicBezTo>
                    <a:pt x="43422" y="772834"/>
                    <a:pt x="28391" y="766607"/>
                    <a:pt x="17309" y="755525"/>
                  </a:cubicBezTo>
                  <a:cubicBezTo>
                    <a:pt x="6226" y="744442"/>
                    <a:pt x="0" y="729411"/>
                    <a:pt x="0" y="713738"/>
                  </a:cubicBezTo>
                  <a:lnTo>
                    <a:pt x="0" y="59095"/>
                  </a:lnTo>
                  <a:cubicBezTo>
                    <a:pt x="0" y="43422"/>
                    <a:pt x="6226" y="28391"/>
                    <a:pt x="17309" y="17309"/>
                  </a:cubicBezTo>
                  <a:cubicBezTo>
                    <a:pt x="28391" y="6226"/>
                    <a:pt x="43422" y="0"/>
                    <a:pt x="59095" y="0"/>
                  </a:cubicBezTo>
                  <a:close/>
                </a:path>
              </a:pathLst>
            </a:custGeom>
            <a:grpFill/>
          </p:spPr>
        </p:sp>
      </p:grpSp>
      <p:sp>
        <p:nvSpPr>
          <p:cNvPr id="18" name="TextBox 17">
            <a:extLst>
              <a:ext uri="{FF2B5EF4-FFF2-40B4-BE49-F238E27FC236}">
                <a16:creationId xmlns:a16="http://schemas.microsoft.com/office/drawing/2014/main" id="{4F49F24F-060D-448A-B3E5-2E485192F69B}"/>
              </a:ext>
            </a:extLst>
          </p:cNvPr>
          <p:cNvSpPr txBox="1"/>
          <p:nvPr/>
        </p:nvSpPr>
        <p:spPr>
          <a:xfrm>
            <a:off x="7491308" y="2476500"/>
            <a:ext cx="7620000" cy="649863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a:latin typeface="Public Sans Bold" panose="020B0604020202020204" charset="0"/>
                <a:ea typeface="Public Sans Bold"/>
                <a:cs typeface="Public Sans Bold" panose="020B0604020202020204" charset="0"/>
                <a:sym typeface="Public Sans Bold"/>
              </a:rPr>
              <a:t>Đồng bộ code giữa các thành viên, nâng cao kỹ năng debug</a:t>
            </a:r>
          </a:p>
          <a:p>
            <a:pPr marL="342900" indent="-342900">
              <a:lnSpc>
                <a:spcPct val="150000"/>
              </a:lnSpc>
              <a:buFont typeface="Arial" panose="020B0604020202020204" pitchFamily="34" charset="0"/>
              <a:buChar char="•"/>
            </a:pPr>
            <a:r>
              <a:rPr lang="vi-VN" sz="2000" b="1">
                <a:latin typeface="Public Sans Bold" panose="020B0604020202020204" charset="0"/>
                <a:cs typeface="Public Sans Bold" panose="020B0604020202020204" charset="0"/>
              </a:rPr>
              <a:t>Biết sử dụng </a:t>
            </a:r>
            <a:r>
              <a:rPr lang="en-US" sz="2000" b="1">
                <a:latin typeface="Public Sans Bold" panose="020B0604020202020204" charset="0"/>
                <a:ea typeface="Public Sans Bold"/>
                <a:cs typeface="Public Sans Bold" panose="020B0604020202020204" charset="0"/>
                <a:sym typeface="Public Sans Bold"/>
              </a:rPr>
              <a:t>Git/GitHub, biết quản lý </a:t>
            </a:r>
            <a:r>
              <a:rPr lang="vi-VN" sz="2000" b="1">
                <a:latin typeface="Public Sans Bold" panose="020B0604020202020204" charset="0"/>
                <a:ea typeface="Public Sans Bold"/>
                <a:cs typeface="Public Sans Bold" panose="020B0604020202020204" charset="0"/>
                <a:sym typeface="Public Sans Bold"/>
              </a:rPr>
              <a:t>project </a:t>
            </a:r>
            <a:r>
              <a:rPr lang="en-US" sz="2000" b="1">
                <a:latin typeface="Public Sans Bold" panose="020B0604020202020204" charset="0"/>
                <a:ea typeface="Public Sans Bold"/>
                <a:cs typeface="Public Sans Bold" panose="020B0604020202020204" charset="0"/>
                <a:sym typeface="Public Sans Bold"/>
              </a:rPr>
              <a:t>code và làm việc nhóm</a:t>
            </a:r>
            <a:endParaRPr lang="vi-VN" sz="2000" b="1">
              <a:latin typeface="Public Sans Bold" panose="020B0604020202020204" charset="0"/>
              <a:cs typeface="Public Sans Bold" panose="020B0604020202020204" charset="0"/>
            </a:endParaRPr>
          </a:p>
          <a:p>
            <a:pPr marL="342900" indent="-342900">
              <a:lnSpc>
                <a:spcPct val="150000"/>
              </a:lnSpc>
              <a:buFont typeface="Arial" panose="020B0604020202020204" pitchFamily="34" charset="0"/>
              <a:buChar char="•"/>
            </a:pPr>
            <a:r>
              <a:rPr lang="vi-VN" sz="2000" b="1">
                <a:latin typeface="Public Sans Bold" panose="020B0604020202020204" charset="0"/>
                <a:cs typeface="Public Sans Bold" panose="020B0604020202020204" charset="0"/>
              </a:rPr>
              <a:t>Biết cách xây dựng hệ thống Real-time: đã thiết kế thành công cơ chế giao tiếp hai chiều giữa Client và Server qua giao thức TCP, đảm bảo dữ liệu được truyền tải tin cậy và theo đúng thứ tự.</a:t>
            </a:r>
          </a:p>
          <a:p>
            <a:pPr marL="342900" indent="-342900">
              <a:lnSpc>
                <a:spcPct val="150000"/>
              </a:lnSpc>
              <a:buFont typeface="Arial" panose="020B0604020202020204" pitchFamily="34" charset="0"/>
              <a:buChar char="•"/>
            </a:pPr>
            <a:r>
              <a:rPr lang="vi-VN" sz="2000" b="1">
                <a:latin typeface="Public Sans Bold" panose="020B0604020202020204" charset="0"/>
                <a:ea typeface="Public Sans Bold"/>
                <a:cs typeface="Public Sans Bold" panose="020B0604020202020204" charset="0"/>
                <a:sym typeface="Public Sans Bold"/>
              </a:rPr>
              <a:t>T</a:t>
            </a:r>
            <a:r>
              <a:rPr lang="en-US" sz="2000" b="1">
                <a:latin typeface="Public Sans Bold" panose="020B0604020202020204" charset="0"/>
                <a:ea typeface="Public Sans Bold"/>
                <a:cs typeface="Public Sans Bold" panose="020B0604020202020204" charset="0"/>
                <a:sym typeface="Public Sans Bold"/>
              </a:rPr>
              <a:t>hiết kế được giao diện GUI bằng NetBeans</a:t>
            </a:r>
            <a:endParaRPr lang="vi-VN" sz="2000" b="1">
              <a:latin typeface="Public Sans Bold" panose="020B0604020202020204" charset="0"/>
              <a:cs typeface="Public Sans Bold" panose="020B0604020202020204" charset="0"/>
            </a:endParaRPr>
          </a:p>
          <a:p>
            <a:pPr marL="342900" indent="-342900">
              <a:lnSpc>
                <a:spcPct val="150000"/>
              </a:lnSpc>
              <a:buFont typeface="Arial" panose="020B0604020202020204" pitchFamily="34" charset="0"/>
              <a:buChar char="•"/>
            </a:pPr>
            <a:r>
              <a:rPr lang="en-US" sz="2000" b="1">
                <a:latin typeface="Public Sans Bold" panose="020B0604020202020204" charset="0"/>
                <a:cs typeface="Public Sans Bold" panose="020B0604020202020204" charset="0"/>
              </a:rPr>
              <a:t>Xử lý đa luồng (Multi-threading): Thành tựu trong việc sử dụng Thread để lắng nghe dữ liệu từ Server liên tục mà không gây treo giao </a:t>
            </a:r>
            <a:r>
              <a:rPr lang="vi-VN" sz="2000" b="1">
                <a:latin typeface="Public Sans Bold" panose="020B0604020202020204" charset="0"/>
                <a:cs typeface="Public Sans Bold" panose="020B0604020202020204" charset="0"/>
              </a:rPr>
              <a:t>diện.</a:t>
            </a:r>
          </a:p>
          <a:p>
            <a:pPr marL="342900" indent="-342900">
              <a:lnSpc>
                <a:spcPct val="150000"/>
              </a:lnSpc>
              <a:buFont typeface="Arial" panose="020B0604020202020204" pitchFamily="34" charset="0"/>
              <a:buChar char="•"/>
            </a:pPr>
            <a:r>
              <a:rPr lang="en-US" sz="2000" b="1">
                <a:latin typeface="Public Sans Bold" panose="020B0604020202020204" charset="0"/>
                <a:ea typeface="Public Sans Bold"/>
                <a:cs typeface="Public Sans Bold" panose="020B0604020202020204" charset="0"/>
                <a:sym typeface="Public Sans Bold"/>
              </a:rPr>
              <a:t>Cải thiện hệ thống thông qua quá trình test và sửa lỗi</a:t>
            </a:r>
          </a:p>
          <a:p>
            <a:pPr marL="342900" indent="-342900">
              <a:lnSpc>
                <a:spcPct val="150000"/>
              </a:lnSpc>
              <a:buFont typeface="Arial" panose="020B0604020202020204" pitchFamily="34" charset="0"/>
              <a:buChar char="•"/>
            </a:pPr>
            <a:endParaRPr lang="en-US" sz="2000" b="1">
              <a:latin typeface="Public Sans Bold" panose="020B0604020202020204" charset="0"/>
              <a:cs typeface="Public Sans Bold" panose="020B0604020202020204" charset="0"/>
            </a:endParaRPr>
          </a:p>
        </p:txBody>
      </p:sp>
      <p:grpSp>
        <p:nvGrpSpPr>
          <p:cNvPr id="20" name="Group 2">
            <a:extLst>
              <a:ext uri="{FF2B5EF4-FFF2-40B4-BE49-F238E27FC236}">
                <a16:creationId xmlns:a16="http://schemas.microsoft.com/office/drawing/2014/main" id="{E74AEC58-FF3C-4EFE-ABD7-D477B25095A0}"/>
              </a:ext>
            </a:extLst>
          </p:cNvPr>
          <p:cNvGrpSpPr/>
          <p:nvPr/>
        </p:nvGrpSpPr>
        <p:grpSpPr>
          <a:xfrm rot="-10800000">
            <a:off x="14353204" y="0"/>
            <a:ext cx="3934796" cy="4109676"/>
            <a:chOff x="0" y="0"/>
            <a:chExt cx="571500" cy="596900"/>
          </a:xfrm>
        </p:grpSpPr>
        <p:sp>
          <p:nvSpPr>
            <p:cNvPr id="21" name="Freeform 3">
              <a:extLst>
                <a:ext uri="{FF2B5EF4-FFF2-40B4-BE49-F238E27FC236}">
                  <a16:creationId xmlns:a16="http://schemas.microsoft.com/office/drawing/2014/main" id="{D4531146-5A95-403D-9D27-6C160BA336EA}"/>
                </a:ext>
              </a:extLst>
            </p:cNvPr>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22" name="TextBox 4">
              <a:extLst>
                <a:ext uri="{FF2B5EF4-FFF2-40B4-BE49-F238E27FC236}">
                  <a16:creationId xmlns:a16="http://schemas.microsoft.com/office/drawing/2014/main" id="{1E4B44C2-9B75-4260-99A4-F0DD3029FA9E}"/>
                </a:ext>
              </a:extLst>
            </p:cNvPr>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853133" y="1028700"/>
            <a:ext cx="6929107" cy="8229600"/>
            <a:chOff x="0" y="0"/>
            <a:chExt cx="899880" cy="1068775"/>
          </a:xfrm>
          <a:blipFill>
            <a:blip r:embed="rId2"/>
            <a:stretch>
              <a:fillRect/>
            </a:stretch>
          </a:blipFill>
        </p:grpSpPr>
        <p:sp>
          <p:nvSpPr>
            <p:cNvPr id="3" name="Freeform 3"/>
            <p:cNvSpPr/>
            <p:nvPr/>
          </p:nvSpPr>
          <p:spPr>
            <a:xfrm>
              <a:off x="0" y="0"/>
              <a:ext cx="899880" cy="1068775"/>
            </a:xfrm>
            <a:custGeom>
              <a:avLst/>
              <a:gdLst/>
              <a:ahLst/>
              <a:cxnLst/>
              <a:rect l="l" t="t" r="r" b="b"/>
              <a:pathLst>
                <a:path w="899880" h="1068775">
                  <a:moveTo>
                    <a:pt x="33519" y="0"/>
                  </a:moveTo>
                  <a:lnTo>
                    <a:pt x="866361" y="0"/>
                  </a:lnTo>
                  <a:cubicBezTo>
                    <a:pt x="875251" y="0"/>
                    <a:pt x="883777" y="3531"/>
                    <a:pt x="890063" y="9818"/>
                  </a:cubicBezTo>
                  <a:cubicBezTo>
                    <a:pt x="896349" y="16104"/>
                    <a:pt x="899880" y="24629"/>
                    <a:pt x="899880" y="33519"/>
                  </a:cubicBezTo>
                  <a:lnTo>
                    <a:pt x="899880" y="1035256"/>
                  </a:lnTo>
                  <a:cubicBezTo>
                    <a:pt x="899880" y="1044145"/>
                    <a:pt x="896349" y="1052671"/>
                    <a:pt x="890063" y="1058957"/>
                  </a:cubicBezTo>
                  <a:cubicBezTo>
                    <a:pt x="883777" y="1065243"/>
                    <a:pt x="875251" y="1068775"/>
                    <a:pt x="866361" y="1068775"/>
                  </a:cubicBezTo>
                  <a:lnTo>
                    <a:pt x="33519" y="1068775"/>
                  </a:lnTo>
                  <a:cubicBezTo>
                    <a:pt x="24629" y="1068775"/>
                    <a:pt x="16104" y="1065243"/>
                    <a:pt x="9818" y="1058957"/>
                  </a:cubicBezTo>
                  <a:cubicBezTo>
                    <a:pt x="3531" y="1052671"/>
                    <a:pt x="0" y="1044145"/>
                    <a:pt x="0" y="1035256"/>
                  </a:cubicBezTo>
                  <a:lnTo>
                    <a:pt x="0" y="33519"/>
                  </a:lnTo>
                  <a:cubicBezTo>
                    <a:pt x="0" y="24629"/>
                    <a:pt x="3531" y="16104"/>
                    <a:pt x="9818" y="9818"/>
                  </a:cubicBezTo>
                  <a:cubicBezTo>
                    <a:pt x="16104" y="3531"/>
                    <a:pt x="24629" y="0"/>
                    <a:pt x="33519" y="0"/>
                  </a:cubicBezTo>
                  <a:close/>
                </a:path>
              </a:pathLst>
            </a:custGeom>
            <a:grpFill/>
            <a:ln cap="rnd">
              <a:noFill/>
              <a:prstDash val="solid"/>
              <a:round/>
            </a:ln>
          </p:spPr>
        </p:sp>
      </p:grpSp>
      <p:sp>
        <p:nvSpPr>
          <p:cNvPr id="4" name="Freeform 4"/>
          <p:cNvSpPr/>
          <p:nvPr/>
        </p:nvSpPr>
        <p:spPr>
          <a:xfrm rot="-5400000">
            <a:off x="-187370" y="8142294"/>
            <a:ext cx="2432141" cy="1857271"/>
          </a:xfrm>
          <a:custGeom>
            <a:avLst/>
            <a:gdLst/>
            <a:ahLst/>
            <a:cxnLst/>
            <a:rect l="l" t="t" r="r" b="b"/>
            <a:pathLst>
              <a:path w="2432141" h="1857271">
                <a:moveTo>
                  <a:pt x="0" y="0"/>
                </a:moveTo>
                <a:lnTo>
                  <a:pt x="2432140" y="0"/>
                </a:lnTo>
                <a:lnTo>
                  <a:pt x="2432140" y="1857271"/>
                </a:lnTo>
                <a:lnTo>
                  <a:pt x="0" y="18572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6" name="Group 25">
            <a:extLst>
              <a:ext uri="{FF2B5EF4-FFF2-40B4-BE49-F238E27FC236}">
                <a16:creationId xmlns:a16="http://schemas.microsoft.com/office/drawing/2014/main" id="{A8F3FA5B-DE18-4EE7-B161-F35222E558A7}"/>
              </a:ext>
            </a:extLst>
          </p:cNvPr>
          <p:cNvGrpSpPr/>
          <p:nvPr/>
        </p:nvGrpSpPr>
        <p:grpSpPr>
          <a:xfrm>
            <a:off x="486559" y="4695939"/>
            <a:ext cx="3862083" cy="3951299"/>
            <a:chOff x="1516344" y="4820666"/>
            <a:chExt cx="3862083" cy="3951299"/>
          </a:xfrm>
        </p:grpSpPr>
        <p:grpSp>
          <p:nvGrpSpPr>
            <p:cNvPr id="5" name="Group 5"/>
            <p:cNvGrpSpPr/>
            <p:nvPr/>
          </p:nvGrpSpPr>
          <p:grpSpPr>
            <a:xfrm>
              <a:off x="1516344" y="4820666"/>
              <a:ext cx="3862083" cy="3951299"/>
              <a:chOff x="0" y="0"/>
              <a:chExt cx="1017199" cy="1040725"/>
            </a:xfrm>
          </p:grpSpPr>
          <p:sp>
            <p:nvSpPr>
              <p:cNvPr id="6" name="Freeform 6"/>
              <p:cNvSpPr/>
              <p:nvPr/>
            </p:nvSpPr>
            <p:spPr>
              <a:xfrm>
                <a:off x="0" y="0"/>
                <a:ext cx="1017199" cy="1040725"/>
              </a:xfrm>
              <a:custGeom>
                <a:avLst/>
                <a:gdLst/>
                <a:ahLst/>
                <a:cxnLst/>
                <a:rect l="l" t="t" r="r" b="b"/>
                <a:pathLst>
                  <a:path w="1017199" h="1040725">
                    <a:moveTo>
                      <a:pt x="1017199" y="70161"/>
                    </a:moveTo>
                    <a:lnTo>
                      <a:pt x="1017199" y="970564"/>
                    </a:lnTo>
                    <a:cubicBezTo>
                      <a:pt x="1017199" y="989172"/>
                      <a:pt x="1009807" y="1007017"/>
                      <a:pt x="996649" y="1020175"/>
                    </a:cubicBezTo>
                    <a:cubicBezTo>
                      <a:pt x="983492" y="1033333"/>
                      <a:pt x="965646" y="1040725"/>
                      <a:pt x="947038" y="1040725"/>
                    </a:cubicBezTo>
                    <a:lnTo>
                      <a:pt x="70161" y="1040725"/>
                    </a:lnTo>
                    <a:cubicBezTo>
                      <a:pt x="51553" y="1040725"/>
                      <a:pt x="33707" y="1033333"/>
                      <a:pt x="20550" y="1020175"/>
                    </a:cubicBezTo>
                    <a:cubicBezTo>
                      <a:pt x="7392" y="1007017"/>
                      <a:pt x="0" y="989172"/>
                      <a:pt x="0" y="970564"/>
                    </a:cubicBezTo>
                    <a:lnTo>
                      <a:pt x="0" y="70161"/>
                    </a:lnTo>
                    <a:cubicBezTo>
                      <a:pt x="0" y="51553"/>
                      <a:pt x="7392" y="33707"/>
                      <a:pt x="20550" y="20550"/>
                    </a:cubicBezTo>
                    <a:cubicBezTo>
                      <a:pt x="33707" y="7392"/>
                      <a:pt x="51553" y="0"/>
                      <a:pt x="70161" y="0"/>
                    </a:cubicBezTo>
                    <a:lnTo>
                      <a:pt x="947038" y="0"/>
                    </a:lnTo>
                    <a:cubicBezTo>
                      <a:pt x="965646" y="0"/>
                      <a:pt x="983492" y="7392"/>
                      <a:pt x="996649" y="20550"/>
                    </a:cubicBezTo>
                    <a:cubicBezTo>
                      <a:pt x="1009807" y="33707"/>
                      <a:pt x="1017199" y="51553"/>
                      <a:pt x="1017199" y="70161"/>
                    </a:cubicBezTo>
                    <a:close/>
                  </a:path>
                </a:pathLst>
              </a:custGeom>
              <a:solidFill>
                <a:srgbClr val="2F6C7E"/>
              </a:solidFill>
            </p:spPr>
          </p:sp>
          <p:sp>
            <p:nvSpPr>
              <p:cNvPr id="7" name="TextBox 7"/>
              <p:cNvSpPr txBox="1"/>
              <p:nvPr/>
            </p:nvSpPr>
            <p:spPr>
              <a:xfrm>
                <a:off x="0" y="-57150"/>
                <a:ext cx="1017199" cy="1097875"/>
              </a:xfrm>
              <a:prstGeom prst="rect">
                <a:avLst/>
              </a:prstGeom>
            </p:spPr>
            <p:txBody>
              <a:bodyPr lIns="50800" tIns="50800" rIns="50800" bIns="50800" rtlCol="0" anchor="ctr"/>
              <a:lstStyle/>
              <a:p>
                <a:pPr algn="ctr">
                  <a:lnSpc>
                    <a:spcPts val="3306"/>
                  </a:lnSpc>
                </a:pPr>
                <a:endParaRPr/>
              </a:p>
            </p:txBody>
          </p:sp>
        </p:grpSp>
        <p:sp>
          <p:nvSpPr>
            <p:cNvPr id="14" name="Freeform 14"/>
            <p:cNvSpPr/>
            <p:nvPr/>
          </p:nvSpPr>
          <p:spPr>
            <a:xfrm>
              <a:off x="2837278" y="5143500"/>
              <a:ext cx="1220216" cy="1220216"/>
            </a:xfrm>
            <a:custGeom>
              <a:avLst/>
              <a:gdLst/>
              <a:ahLst/>
              <a:cxnLst/>
              <a:rect l="l" t="t" r="r" b="b"/>
              <a:pathLst>
                <a:path w="1220216" h="1220216">
                  <a:moveTo>
                    <a:pt x="0" y="0"/>
                  </a:moveTo>
                  <a:lnTo>
                    <a:pt x="1220216" y="0"/>
                  </a:lnTo>
                  <a:lnTo>
                    <a:pt x="1220216" y="1220216"/>
                  </a:lnTo>
                  <a:lnTo>
                    <a:pt x="0" y="12202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1808077" y="7208603"/>
              <a:ext cx="3278618" cy="703911"/>
            </a:xfrm>
            <a:prstGeom prst="rect">
              <a:avLst/>
            </a:prstGeom>
          </p:spPr>
          <p:txBody>
            <a:bodyPr lIns="0" tIns="0" rIns="0" bIns="0" rtlCol="0" anchor="t">
              <a:spAutoFit/>
            </a:bodyPr>
            <a:lstStyle/>
            <a:p>
              <a:pPr algn="ctr">
                <a:lnSpc>
                  <a:spcPts val="2799"/>
                </a:lnSpc>
              </a:pPr>
              <a:r>
                <a:rPr lang="en-US" sz="2000">
                  <a:solidFill>
                    <a:schemeClr val="bg1"/>
                  </a:solidFill>
                  <a:latin typeface="Public Sans Bold"/>
                  <a:ea typeface="Public Sans Bold"/>
                  <a:cs typeface="Public Sans Bold"/>
                  <a:sym typeface="Public Sans Bold"/>
                </a:rPr>
                <a:t>Tạo chat cho 2 client trò chuyện với nhau</a:t>
              </a:r>
              <a:endParaRPr lang="en-US" sz="1999">
                <a:solidFill>
                  <a:schemeClr val="bg1"/>
                </a:solidFill>
                <a:latin typeface="TT Firs Neue"/>
                <a:ea typeface="TT Firs Neue"/>
                <a:cs typeface="TT Firs Neue"/>
                <a:sym typeface="TT Firs Neue"/>
              </a:endParaRPr>
            </a:p>
          </p:txBody>
        </p:sp>
        <p:sp>
          <p:nvSpPr>
            <p:cNvPr id="19" name="TextBox 19"/>
            <p:cNvSpPr txBox="1"/>
            <p:nvPr/>
          </p:nvSpPr>
          <p:spPr>
            <a:xfrm>
              <a:off x="1832630" y="6671589"/>
              <a:ext cx="3229512" cy="419346"/>
            </a:xfrm>
            <a:prstGeom prst="rect">
              <a:avLst/>
            </a:prstGeom>
          </p:spPr>
          <p:txBody>
            <a:bodyPr lIns="0" tIns="0" rIns="0" bIns="0" rtlCol="0" anchor="t">
              <a:spAutoFit/>
            </a:bodyPr>
            <a:lstStyle/>
            <a:p>
              <a:pPr algn="ctr">
                <a:lnSpc>
                  <a:spcPts val="3359"/>
                </a:lnSpc>
                <a:spcBef>
                  <a:spcPct val="0"/>
                </a:spcBef>
              </a:pPr>
              <a:r>
                <a:rPr lang="vi-VN" sz="2400" b="1">
                  <a:solidFill>
                    <a:srgbClr val="FFFFFF"/>
                  </a:solidFill>
                  <a:latin typeface="TT Firs Neue Bold"/>
                  <a:ea typeface="TT Firs Neue Bold"/>
                  <a:cs typeface="TT Firs Neue Bold"/>
                  <a:sym typeface="TT Firs Neue Bold"/>
                </a:rPr>
                <a:t>Chat</a:t>
              </a:r>
              <a:endParaRPr lang="en-US" sz="2400" b="1">
                <a:solidFill>
                  <a:srgbClr val="FFFFFF"/>
                </a:solidFill>
                <a:latin typeface="TT Firs Neue Bold"/>
                <a:ea typeface="TT Firs Neue Bold"/>
                <a:cs typeface="TT Firs Neue Bold"/>
                <a:sym typeface="TT Firs Neue Bold"/>
              </a:endParaRPr>
            </a:p>
          </p:txBody>
        </p:sp>
      </p:grpSp>
      <p:grpSp>
        <p:nvGrpSpPr>
          <p:cNvPr id="27" name="Group 26">
            <a:extLst>
              <a:ext uri="{FF2B5EF4-FFF2-40B4-BE49-F238E27FC236}">
                <a16:creationId xmlns:a16="http://schemas.microsoft.com/office/drawing/2014/main" id="{120B09E6-EC2C-4080-8321-C548CD247728}"/>
              </a:ext>
            </a:extLst>
          </p:cNvPr>
          <p:cNvGrpSpPr/>
          <p:nvPr/>
        </p:nvGrpSpPr>
        <p:grpSpPr>
          <a:xfrm>
            <a:off x="4735136" y="4649987"/>
            <a:ext cx="3862083" cy="3951299"/>
            <a:chOff x="6066760" y="4820666"/>
            <a:chExt cx="3862083" cy="3951299"/>
          </a:xfrm>
        </p:grpSpPr>
        <p:grpSp>
          <p:nvGrpSpPr>
            <p:cNvPr id="8" name="Group 8"/>
            <p:cNvGrpSpPr/>
            <p:nvPr/>
          </p:nvGrpSpPr>
          <p:grpSpPr>
            <a:xfrm>
              <a:off x="6066760" y="4820666"/>
              <a:ext cx="3862083" cy="3951299"/>
              <a:chOff x="0" y="0"/>
              <a:chExt cx="1017199" cy="1040725"/>
            </a:xfrm>
          </p:grpSpPr>
          <p:sp>
            <p:nvSpPr>
              <p:cNvPr id="9" name="Freeform 9"/>
              <p:cNvSpPr/>
              <p:nvPr/>
            </p:nvSpPr>
            <p:spPr>
              <a:xfrm>
                <a:off x="0" y="0"/>
                <a:ext cx="1017199" cy="1040725"/>
              </a:xfrm>
              <a:custGeom>
                <a:avLst/>
                <a:gdLst/>
                <a:ahLst/>
                <a:cxnLst/>
                <a:rect l="l" t="t" r="r" b="b"/>
                <a:pathLst>
                  <a:path w="1017199" h="1040725">
                    <a:moveTo>
                      <a:pt x="1017199" y="70161"/>
                    </a:moveTo>
                    <a:lnTo>
                      <a:pt x="1017199" y="970564"/>
                    </a:lnTo>
                    <a:cubicBezTo>
                      <a:pt x="1017199" y="989172"/>
                      <a:pt x="1009807" y="1007017"/>
                      <a:pt x="996649" y="1020175"/>
                    </a:cubicBezTo>
                    <a:cubicBezTo>
                      <a:pt x="983492" y="1033333"/>
                      <a:pt x="965646" y="1040725"/>
                      <a:pt x="947038" y="1040725"/>
                    </a:cubicBezTo>
                    <a:lnTo>
                      <a:pt x="70161" y="1040725"/>
                    </a:lnTo>
                    <a:cubicBezTo>
                      <a:pt x="51553" y="1040725"/>
                      <a:pt x="33707" y="1033333"/>
                      <a:pt x="20550" y="1020175"/>
                    </a:cubicBezTo>
                    <a:cubicBezTo>
                      <a:pt x="7392" y="1007017"/>
                      <a:pt x="0" y="989172"/>
                      <a:pt x="0" y="970564"/>
                    </a:cubicBezTo>
                    <a:lnTo>
                      <a:pt x="0" y="70161"/>
                    </a:lnTo>
                    <a:cubicBezTo>
                      <a:pt x="0" y="51553"/>
                      <a:pt x="7392" y="33707"/>
                      <a:pt x="20550" y="20550"/>
                    </a:cubicBezTo>
                    <a:cubicBezTo>
                      <a:pt x="33707" y="7392"/>
                      <a:pt x="51553" y="0"/>
                      <a:pt x="70161" y="0"/>
                    </a:cubicBezTo>
                    <a:lnTo>
                      <a:pt x="947038" y="0"/>
                    </a:lnTo>
                    <a:cubicBezTo>
                      <a:pt x="965646" y="0"/>
                      <a:pt x="983492" y="7392"/>
                      <a:pt x="996649" y="20550"/>
                    </a:cubicBezTo>
                    <a:cubicBezTo>
                      <a:pt x="1009807" y="33707"/>
                      <a:pt x="1017199" y="51553"/>
                      <a:pt x="1017199" y="70161"/>
                    </a:cubicBezTo>
                    <a:close/>
                  </a:path>
                </a:pathLst>
              </a:custGeom>
              <a:solidFill>
                <a:srgbClr val="2F6C7E"/>
              </a:solidFill>
            </p:spPr>
          </p:sp>
          <p:sp>
            <p:nvSpPr>
              <p:cNvPr id="10" name="TextBox 10"/>
              <p:cNvSpPr txBox="1"/>
              <p:nvPr/>
            </p:nvSpPr>
            <p:spPr>
              <a:xfrm>
                <a:off x="0" y="-57150"/>
                <a:ext cx="1017199" cy="1097875"/>
              </a:xfrm>
              <a:prstGeom prst="rect">
                <a:avLst/>
              </a:prstGeom>
            </p:spPr>
            <p:txBody>
              <a:bodyPr lIns="50800" tIns="50800" rIns="50800" bIns="50800" rtlCol="0" anchor="ctr"/>
              <a:lstStyle/>
              <a:p>
                <a:pPr algn="ctr">
                  <a:lnSpc>
                    <a:spcPts val="3306"/>
                  </a:lnSpc>
                </a:pPr>
                <a:endParaRPr/>
              </a:p>
            </p:txBody>
          </p:sp>
        </p:grpSp>
        <p:sp>
          <p:nvSpPr>
            <p:cNvPr id="15" name="Freeform 15"/>
            <p:cNvSpPr/>
            <p:nvPr/>
          </p:nvSpPr>
          <p:spPr>
            <a:xfrm>
              <a:off x="7387694" y="5143500"/>
              <a:ext cx="1220216" cy="1220216"/>
            </a:xfrm>
            <a:custGeom>
              <a:avLst/>
              <a:gdLst/>
              <a:ahLst/>
              <a:cxnLst/>
              <a:rect l="l" t="t" r="r" b="b"/>
              <a:pathLst>
                <a:path w="1220216" h="1220216">
                  <a:moveTo>
                    <a:pt x="0" y="0"/>
                  </a:moveTo>
                  <a:lnTo>
                    <a:pt x="1220216" y="0"/>
                  </a:lnTo>
                  <a:lnTo>
                    <a:pt x="1220216" y="1220216"/>
                  </a:lnTo>
                  <a:lnTo>
                    <a:pt x="0" y="12202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nvSpPr>
          <p:spPr>
            <a:xfrm>
              <a:off x="6358493" y="7208603"/>
              <a:ext cx="3278618" cy="703911"/>
            </a:xfrm>
            <a:prstGeom prst="rect">
              <a:avLst/>
            </a:prstGeom>
          </p:spPr>
          <p:txBody>
            <a:bodyPr lIns="0" tIns="0" rIns="0" bIns="0" rtlCol="0" anchor="t">
              <a:spAutoFit/>
            </a:bodyPr>
            <a:lstStyle/>
            <a:p>
              <a:pPr algn="ctr">
                <a:lnSpc>
                  <a:spcPts val="2799"/>
                </a:lnSpc>
              </a:pPr>
              <a:r>
                <a:rPr lang="en-US" sz="2000">
                  <a:solidFill>
                    <a:schemeClr val="bg1"/>
                  </a:solidFill>
                  <a:latin typeface="Public Sans Bold"/>
                  <a:ea typeface="Public Sans Bold"/>
                  <a:cs typeface="Public Sans Bold"/>
                  <a:sym typeface="Public Sans Bold"/>
                </a:rPr>
                <a:t>Tạo kết nối cho 2 máy </a:t>
              </a:r>
              <a:r>
                <a:rPr lang="vi-VN" sz="2000">
                  <a:solidFill>
                    <a:schemeClr val="bg1"/>
                  </a:solidFill>
                  <a:latin typeface="Public Sans Bold"/>
                  <a:ea typeface="Public Sans Bold"/>
                  <a:cs typeface="Public Sans Bold"/>
                  <a:sym typeface="Public Sans Bold"/>
                </a:rPr>
                <a:t>trên 2 mạng </a:t>
              </a:r>
              <a:r>
                <a:rPr lang="en-US" sz="2000">
                  <a:solidFill>
                    <a:schemeClr val="bg1"/>
                  </a:solidFill>
                  <a:latin typeface="Public Sans Bold"/>
                  <a:ea typeface="Public Sans Bold"/>
                  <a:cs typeface="Public Sans Bold"/>
                  <a:sym typeface="Public Sans Bold"/>
                </a:rPr>
                <a:t>kết nối với nhau</a:t>
              </a:r>
              <a:endParaRPr lang="en-US" sz="1999">
                <a:solidFill>
                  <a:schemeClr val="bg1"/>
                </a:solidFill>
                <a:latin typeface="TT Firs Neue"/>
                <a:ea typeface="TT Firs Neue"/>
                <a:cs typeface="TT Firs Neue"/>
                <a:sym typeface="TT Firs Neue"/>
              </a:endParaRPr>
            </a:p>
          </p:txBody>
        </p:sp>
        <p:sp>
          <p:nvSpPr>
            <p:cNvPr id="20" name="TextBox 20"/>
            <p:cNvSpPr txBox="1"/>
            <p:nvPr/>
          </p:nvSpPr>
          <p:spPr>
            <a:xfrm>
              <a:off x="6383046" y="6671589"/>
              <a:ext cx="3229512" cy="419346"/>
            </a:xfrm>
            <a:prstGeom prst="rect">
              <a:avLst/>
            </a:prstGeom>
          </p:spPr>
          <p:txBody>
            <a:bodyPr lIns="0" tIns="0" rIns="0" bIns="0" rtlCol="0" anchor="t">
              <a:spAutoFit/>
            </a:bodyPr>
            <a:lstStyle/>
            <a:p>
              <a:pPr algn="ctr">
                <a:lnSpc>
                  <a:spcPts val="3359"/>
                </a:lnSpc>
                <a:spcBef>
                  <a:spcPct val="0"/>
                </a:spcBef>
              </a:pPr>
              <a:r>
                <a:rPr lang="vi-VN" sz="2400" b="1">
                  <a:solidFill>
                    <a:srgbClr val="FFFFFF"/>
                  </a:solidFill>
                  <a:latin typeface="TT Firs Neue Bold"/>
                  <a:ea typeface="TT Firs Neue Bold"/>
                  <a:cs typeface="TT Firs Neue Bold"/>
                  <a:sym typeface="TT Firs Neue Bold"/>
                </a:rPr>
                <a:t>Kết nối Internet</a:t>
              </a:r>
              <a:endParaRPr lang="en-US" sz="2400" b="1">
                <a:solidFill>
                  <a:srgbClr val="FFFFFF"/>
                </a:solidFill>
                <a:latin typeface="TT Firs Neue Bold"/>
                <a:ea typeface="TT Firs Neue Bold"/>
                <a:cs typeface="TT Firs Neue Bold"/>
                <a:sym typeface="TT Firs Neue Bold"/>
              </a:endParaRPr>
            </a:p>
          </p:txBody>
        </p:sp>
      </p:grpSp>
      <p:grpSp>
        <p:nvGrpSpPr>
          <p:cNvPr id="28" name="Group 27">
            <a:extLst>
              <a:ext uri="{FF2B5EF4-FFF2-40B4-BE49-F238E27FC236}">
                <a16:creationId xmlns:a16="http://schemas.microsoft.com/office/drawing/2014/main" id="{A0EEFCDD-3E1A-484D-824A-6E3D9EE82BC2}"/>
              </a:ext>
            </a:extLst>
          </p:cNvPr>
          <p:cNvGrpSpPr/>
          <p:nvPr/>
        </p:nvGrpSpPr>
        <p:grpSpPr>
          <a:xfrm>
            <a:off x="8983713" y="4649986"/>
            <a:ext cx="3862083" cy="3951299"/>
            <a:chOff x="10617176" y="4820666"/>
            <a:chExt cx="3862083" cy="3951299"/>
          </a:xfrm>
        </p:grpSpPr>
        <p:grpSp>
          <p:nvGrpSpPr>
            <p:cNvPr id="11" name="Group 11"/>
            <p:cNvGrpSpPr/>
            <p:nvPr/>
          </p:nvGrpSpPr>
          <p:grpSpPr>
            <a:xfrm>
              <a:off x="10617176" y="4820666"/>
              <a:ext cx="3862083" cy="3951299"/>
              <a:chOff x="0" y="0"/>
              <a:chExt cx="1017199" cy="1040725"/>
            </a:xfrm>
          </p:grpSpPr>
          <p:sp>
            <p:nvSpPr>
              <p:cNvPr id="12" name="Freeform 12"/>
              <p:cNvSpPr/>
              <p:nvPr/>
            </p:nvSpPr>
            <p:spPr>
              <a:xfrm>
                <a:off x="0" y="0"/>
                <a:ext cx="1017199" cy="1040725"/>
              </a:xfrm>
              <a:custGeom>
                <a:avLst/>
                <a:gdLst/>
                <a:ahLst/>
                <a:cxnLst/>
                <a:rect l="l" t="t" r="r" b="b"/>
                <a:pathLst>
                  <a:path w="1017199" h="1040725">
                    <a:moveTo>
                      <a:pt x="1017199" y="70161"/>
                    </a:moveTo>
                    <a:lnTo>
                      <a:pt x="1017199" y="970564"/>
                    </a:lnTo>
                    <a:cubicBezTo>
                      <a:pt x="1017199" y="989172"/>
                      <a:pt x="1009807" y="1007017"/>
                      <a:pt x="996649" y="1020175"/>
                    </a:cubicBezTo>
                    <a:cubicBezTo>
                      <a:pt x="983492" y="1033333"/>
                      <a:pt x="965646" y="1040725"/>
                      <a:pt x="947038" y="1040725"/>
                    </a:cubicBezTo>
                    <a:lnTo>
                      <a:pt x="70161" y="1040725"/>
                    </a:lnTo>
                    <a:cubicBezTo>
                      <a:pt x="51553" y="1040725"/>
                      <a:pt x="33707" y="1033333"/>
                      <a:pt x="20550" y="1020175"/>
                    </a:cubicBezTo>
                    <a:cubicBezTo>
                      <a:pt x="7392" y="1007017"/>
                      <a:pt x="0" y="989172"/>
                      <a:pt x="0" y="970564"/>
                    </a:cubicBezTo>
                    <a:lnTo>
                      <a:pt x="0" y="70161"/>
                    </a:lnTo>
                    <a:cubicBezTo>
                      <a:pt x="0" y="51553"/>
                      <a:pt x="7392" y="33707"/>
                      <a:pt x="20550" y="20550"/>
                    </a:cubicBezTo>
                    <a:cubicBezTo>
                      <a:pt x="33707" y="7392"/>
                      <a:pt x="51553" y="0"/>
                      <a:pt x="70161" y="0"/>
                    </a:cubicBezTo>
                    <a:lnTo>
                      <a:pt x="947038" y="0"/>
                    </a:lnTo>
                    <a:cubicBezTo>
                      <a:pt x="965646" y="0"/>
                      <a:pt x="983492" y="7392"/>
                      <a:pt x="996649" y="20550"/>
                    </a:cubicBezTo>
                    <a:cubicBezTo>
                      <a:pt x="1009807" y="33707"/>
                      <a:pt x="1017199" y="51553"/>
                      <a:pt x="1017199" y="70161"/>
                    </a:cubicBezTo>
                    <a:close/>
                  </a:path>
                </a:pathLst>
              </a:custGeom>
              <a:solidFill>
                <a:srgbClr val="2F6C7E"/>
              </a:solidFill>
            </p:spPr>
          </p:sp>
          <p:sp>
            <p:nvSpPr>
              <p:cNvPr id="13" name="TextBox 13"/>
              <p:cNvSpPr txBox="1"/>
              <p:nvPr/>
            </p:nvSpPr>
            <p:spPr>
              <a:xfrm>
                <a:off x="0" y="-57150"/>
                <a:ext cx="1017199" cy="1097875"/>
              </a:xfrm>
              <a:prstGeom prst="rect">
                <a:avLst/>
              </a:prstGeom>
            </p:spPr>
            <p:txBody>
              <a:bodyPr lIns="50800" tIns="50800" rIns="50800" bIns="50800" rtlCol="0" anchor="ctr"/>
              <a:lstStyle/>
              <a:p>
                <a:pPr algn="ctr">
                  <a:lnSpc>
                    <a:spcPts val="3306"/>
                  </a:lnSpc>
                </a:pPr>
                <a:endParaRPr/>
              </a:p>
            </p:txBody>
          </p:sp>
        </p:grpSp>
        <p:sp>
          <p:nvSpPr>
            <p:cNvPr id="16" name="Freeform 16"/>
            <p:cNvSpPr/>
            <p:nvPr/>
          </p:nvSpPr>
          <p:spPr>
            <a:xfrm>
              <a:off x="11938618" y="5143500"/>
              <a:ext cx="1220216" cy="1220216"/>
            </a:xfrm>
            <a:custGeom>
              <a:avLst/>
              <a:gdLst/>
              <a:ahLst/>
              <a:cxnLst/>
              <a:rect l="l" t="t" r="r" b="b"/>
              <a:pathLst>
                <a:path w="1220216" h="1220216">
                  <a:moveTo>
                    <a:pt x="0" y="0"/>
                  </a:moveTo>
                  <a:lnTo>
                    <a:pt x="1220217" y="0"/>
                  </a:lnTo>
                  <a:lnTo>
                    <a:pt x="1220217" y="1220216"/>
                  </a:lnTo>
                  <a:lnTo>
                    <a:pt x="0" y="12202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TextBox 21"/>
            <p:cNvSpPr txBox="1"/>
            <p:nvPr/>
          </p:nvSpPr>
          <p:spPr>
            <a:xfrm>
              <a:off x="10908909" y="7208603"/>
              <a:ext cx="3278618" cy="615553"/>
            </a:xfrm>
            <a:prstGeom prst="rect">
              <a:avLst/>
            </a:prstGeom>
          </p:spPr>
          <p:txBody>
            <a:bodyPr lIns="0" tIns="0" rIns="0" bIns="0" rtlCol="0" anchor="t">
              <a:spAutoFit/>
            </a:bodyPr>
            <a:lstStyle/>
            <a:p>
              <a:pPr algn="ctr">
                <a:spcBef>
                  <a:spcPct val="0"/>
                </a:spcBef>
              </a:pPr>
              <a:r>
                <a:rPr lang="en-US" sz="2000">
                  <a:solidFill>
                    <a:schemeClr val="bg1"/>
                  </a:solidFill>
                  <a:latin typeface="Public Sans Bold"/>
                  <a:ea typeface="Public Sans Bold"/>
                  <a:cs typeface="Public Sans Bold"/>
                  <a:sym typeface="Public Sans Bold"/>
                </a:rPr>
                <a:t>Tích hợp Ai phân tích lối đánh </a:t>
              </a:r>
              <a:endParaRPr lang="en-US" sz="2000" dirty="0">
                <a:solidFill>
                  <a:schemeClr val="bg1"/>
                </a:solidFill>
                <a:latin typeface="Public Sans Bold"/>
                <a:ea typeface="Public Sans Bold"/>
                <a:cs typeface="Public Sans Bold"/>
                <a:sym typeface="Public Sans Bold"/>
              </a:endParaRPr>
            </a:p>
          </p:txBody>
        </p:sp>
        <p:sp>
          <p:nvSpPr>
            <p:cNvPr id="22" name="TextBox 22"/>
            <p:cNvSpPr txBox="1"/>
            <p:nvPr/>
          </p:nvSpPr>
          <p:spPr>
            <a:xfrm>
              <a:off x="10933462" y="6671589"/>
              <a:ext cx="3229512" cy="419346"/>
            </a:xfrm>
            <a:prstGeom prst="rect">
              <a:avLst/>
            </a:prstGeom>
          </p:spPr>
          <p:txBody>
            <a:bodyPr lIns="0" tIns="0" rIns="0" bIns="0" rtlCol="0" anchor="t">
              <a:spAutoFit/>
            </a:bodyPr>
            <a:lstStyle/>
            <a:p>
              <a:pPr algn="ctr">
                <a:lnSpc>
                  <a:spcPts val="3359"/>
                </a:lnSpc>
                <a:spcBef>
                  <a:spcPct val="0"/>
                </a:spcBef>
              </a:pPr>
              <a:r>
                <a:rPr lang="vi-VN" sz="2400" b="1">
                  <a:solidFill>
                    <a:srgbClr val="FFFFFF"/>
                  </a:solidFill>
                  <a:latin typeface="TT Firs Neue Bold"/>
                  <a:ea typeface="TT Firs Neue Bold"/>
                  <a:cs typeface="TT Firs Neue Bold"/>
                  <a:sym typeface="TT Firs Neue Bold"/>
                </a:rPr>
                <a:t>Tích hợp AI</a:t>
              </a:r>
              <a:endParaRPr lang="en-US" sz="2400" b="1">
                <a:solidFill>
                  <a:srgbClr val="FFFFFF"/>
                </a:solidFill>
                <a:latin typeface="TT Firs Neue Bold"/>
                <a:ea typeface="TT Firs Neue Bold"/>
                <a:cs typeface="TT Firs Neue Bold"/>
                <a:sym typeface="TT Firs Neue Bold"/>
              </a:endParaRPr>
            </a:p>
          </p:txBody>
        </p:sp>
      </p:grpSp>
      <p:sp>
        <p:nvSpPr>
          <p:cNvPr id="23" name="TextBox 23"/>
          <p:cNvSpPr txBox="1"/>
          <p:nvPr/>
        </p:nvSpPr>
        <p:spPr>
          <a:xfrm>
            <a:off x="1613191" y="1957749"/>
            <a:ext cx="7399056" cy="1923604"/>
          </a:xfrm>
          <a:prstGeom prst="rect">
            <a:avLst/>
          </a:prstGeom>
        </p:spPr>
        <p:txBody>
          <a:bodyPr wrap="square" lIns="0" tIns="0" rIns="0" bIns="0" rtlCol="0" anchor="t">
            <a:spAutoFit/>
          </a:bodyPr>
          <a:lstStyle/>
          <a:p>
            <a:pPr marL="0" lvl="0" indent="0" algn="l">
              <a:lnSpc>
                <a:spcPts val="7480"/>
              </a:lnSpc>
              <a:spcBef>
                <a:spcPct val="0"/>
              </a:spcBef>
            </a:pPr>
            <a:r>
              <a:rPr lang="vi-VN" sz="6800">
                <a:solidFill>
                  <a:srgbClr val="0B0A0A"/>
                </a:solidFill>
                <a:latin typeface="Heading Now 71-78"/>
                <a:ea typeface="Heading Now 71-78"/>
                <a:cs typeface="Heading Now 71-78"/>
                <a:sym typeface="Heading Now 71-78"/>
              </a:rPr>
              <a:t>Những gì </a:t>
            </a:r>
          </a:p>
          <a:p>
            <a:pPr marL="0" lvl="0" indent="0" algn="l">
              <a:lnSpc>
                <a:spcPts val="7480"/>
              </a:lnSpc>
              <a:spcBef>
                <a:spcPct val="0"/>
              </a:spcBef>
            </a:pPr>
            <a:r>
              <a:rPr lang="vi-VN" sz="6800">
                <a:solidFill>
                  <a:srgbClr val="0B0A0A"/>
                </a:solidFill>
                <a:latin typeface="Heading Now 71-78"/>
                <a:ea typeface="Heading Now 71-78"/>
                <a:cs typeface="Heading Now 71-78"/>
                <a:sym typeface="Heading Now 71-78"/>
              </a:rPr>
              <a:t>chưa làm được</a:t>
            </a:r>
            <a:endParaRPr lang="en-US" sz="6800" u="none" strike="noStrike">
              <a:solidFill>
                <a:srgbClr val="0B0A0A"/>
              </a:solidFill>
              <a:latin typeface="Heading Now 71-78"/>
              <a:ea typeface="Heading Now 71-78"/>
              <a:cs typeface="Heading Now 71-78"/>
              <a:sym typeface="Heading Now 71-78"/>
            </a:endParaRPr>
          </a:p>
        </p:txBody>
      </p:sp>
      <p:sp>
        <p:nvSpPr>
          <p:cNvPr id="24" name="Freeform 24"/>
          <p:cNvSpPr/>
          <p:nvPr/>
        </p:nvSpPr>
        <p:spPr>
          <a:xfrm>
            <a:off x="7204970" y="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AutoShape 25"/>
          <p:cNvSpPr/>
          <p:nvPr/>
        </p:nvSpPr>
        <p:spPr>
          <a:xfrm flipV="1">
            <a:off x="1648751" y="3881353"/>
            <a:ext cx="7038049" cy="34438"/>
          </a:xfrm>
          <a:prstGeom prst="line">
            <a:avLst/>
          </a:prstGeom>
          <a:ln w="38100" cap="flat">
            <a:solidFill>
              <a:srgbClr val="000000"/>
            </a:solidFill>
            <a:prstDash val="solid"/>
            <a:headEnd type="none" w="sm" len="sm"/>
            <a:tailEnd type="none" w="sm" len="sm"/>
          </a:ln>
        </p:spPr>
      </p:sp>
      <p:grpSp>
        <p:nvGrpSpPr>
          <p:cNvPr id="29" name="Group 28">
            <a:extLst>
              <a:ext uri="{FF2B5EF4-FFF2-40B4-BE49-F238E27FC236}">
                <a16:creationId xmlns:a16="http://schemas.microsoft.com/office/drawing/2014/main" id="{4FE96D2F-8027-4E42-B765-78B079A89FC5}"/>
              </a:ext>
            </a:extLst>
          </p:cNvPr>
          <p:cNvGrpSpPr/>
          <p:nvPr/>
        </p:nvGrpSpPr>
        <p:grpSpPr>
          <a:xfrm>
            <a:off x="13232290" y="4611886"/>
            <a:ext cx="3862083" cy="3951299"/>
            <a:chOff x="10617176" y="4820666"/>
            <a:chExt cx="3862083" cy="3951299"/>
          </a:xfrm>
        </p:grpSpPr>
        <p:grpSp>
          <p:nvGrpSpPr>
            <p:cNvPr id="30" name="Group 11">
              <a:extLst>
                <a:ext uri="{FF2B5EF4-FFF2-40B4-BE49-F238E27FC236}">
                  <a16:creationId xmlns:a16="http://schemas.microsoft.com/office/drawing/2014/main" id="{D4B411DB-5F59-45E6-821E-CF197E12D5CC}"/>
                </a:ext>
              </a:extLst>
            </p:cNvPr>
            <p:cNvGrpSpPr/>
            <p:nvPr/>
          </p:nvGrpSpPr>
          <p:grpSpPr>
            <a:xfrm>
              <a:off x="10617176" y="4820666"/>
              <a:ext cx="3862083" cy="3951299"/>
              <a:chOff x="0" y="0"/>
              <a:chExt cx="1017199" cy="1040725"/>
            </a:xfrm>
          </p:grpSpPr>
          <p:sp>
            <p:nvSpPr>
              <p:cNvPr id="34" name="Freeform 12">
                <a:extLst>
                  <a:ext uri="{FF2B5EF4-FFF2-40B4-BE49-F238E27FC236}">
                    <a16:creationId xmlns:a16="http://schemas.microsoft.com/office/drawing/2014/main" id="{3F17E939-6AAB-4A7F-AE38-85C59B7FBB6F}"/>
                  </a:ext>
                </a:extLst>
              </p:cNvPr>
              <p:cNvSpPr/>
              <p:nvPr/>
            </p:nvSpPr>
            <p:spPr>
              <a:xfrm>
                <a:off x="0" y="0"/>
                <a:ext cx="1017199" cy="1040725"/>
              </a:xfrm>
              <a:custGeom>
                <a:avLst/>
                <a:gdLst/>
                <a:ahLst/>
                <a:cxnLst/>
                <a:rect l="l" t="t" r="r" b="b"/>
                <a:pathLst>
                  <a:path w="1017199" h="1040725">
                    <a:moveTo>
                      <a:pt x="1017199" y="70161"/>
                    </a:moveTo>
                    <a:lnTo>
                      <a:pt x="1017199" y="970564"/>
                    </a:lnTo>
                    <a:cubicBezTo>
                      <a:pt x="1017199" y="989172"/>
                      <a:pt x="1009807" y="1007017"/>
                      <a:pt x="996649" y="1020175"/>
                    </a:cubicBezTo>
                    <a:cubicBezTo>
                      <a:pt x="983492" y="1033333"/>
                      <a:pt x="965646" y="1040725"/>
                      <a:pt x="947038" y="1040725"/>
                    </a:cubicBezTo>
                    <a:lnTo>
                      <a:pt x="70161" y="1040725"/>
                    </a:lnTo>
                    <a:cubicBezTo>
                      <a:pt x="51553" y="1040725"/>
                      <a:pt x="33707" y="1033333"/>
                      <a:pt x="20550" y="1020175"/>
                    </a:cubicBezTo>
                    <a:cubicBezTo>
                      <a:pt x="7392" y="1007017"/>
                      <a:pt x="0" y="989172"/>
                      <a:pt x="0" y="970564"/>
                    </a:cubicBezTo>
                    <a:lnTo>
                      <a:pt x="0" y="70161"/>
                    </a:lnTo>
                    <a:cubicBezTo>
                      <a:pt x="0" y="51553"/>
                      <a:pt x="7392" y="33707"/>
                      <a:pt x="20550" y="20550"/>
                    </a:cubicBezTo>
                    <a:cubicBezTo>
                      <a:pt x="33707" y="7392"/>
                      <a:pt x="51553" y="0"/>
                      <a:pt x="70161" y="0"/>
                    </a:cubicBezTo>
                    <a:lnTo>
                      <a:pt x="947038" y="0"/>
                    </a:lnTo>
                    <a:cubicBezTo>
                      <a:pt x="965646" y="0"/>
                      <a:pt x="983492" y="7392"/>
                      <a:pt x="996649" y="20550"/>
                    </a:cubicBezTo>
                    <a:cubicBezTo>
                      <a:pt x="1009807" y="33707"/>
                      <a:pt x="1017199" y="51553"/>
                      <a:pt x="1017199" y="70161"/>
                    </a:cubicBezTo>
                    <a:close/>
                  </a:path>
                </a:pathLst>
              </a:custGeom>
              <a:solidFill>
                <a:srgbClr val="2F6C7E"/>
              </a:solidFill>
            </p:spPr>
          </p:sp>
          <p:sp>
            <p:nvSpPr>
              <p:cNvPr id="35" name="TextBox 13">
                <a:extLst>
                  <a:ext uri="{FF2B5EF4-FFF2-40B4-BE49-F238E27FC236}">
                    <a16:creationId xmlns:a16="http://schemas.microsoft.com/office/drawing/2014/main" id="{64A11CFF-0E8A-48FD-9436-3BB00E424DA9}"/>
                  </a:ext>
                </a:extLst>
              </p:cNvPr>
              <p:cNvSpPr txBox="1"/>
              <p:nvPr/>
            </p:nvSpPr>
            <p:spPr>
              <a:xfrm>
                <a:off x="0" y="-57150"/>
                <a:ext cx="1017199" cy="1097875"/>
              </a:xfrm>
              <a:prstGeom prst="rect">
                <a:avLst/>
              </a:prstGeom>
            </p:spPr>
            <p:txBody>
              <a:bodyPr lIns="50800" tIns="50800" rIns="50800" bIns="50800" rtlCol="0" anchor="ctr"/>
              <a:lstStyle/>
              <a:p>
                <a:pPr algn="ctr">
                  <a:lnSpc>
                    <a:spcPts val="3306"/>
                  </a:lnSpc>
                </a:pPr>
                <a:endParaRPr/>
              </a:p>
            </p:txBody>
          </p:sp>
        </p:grpSp>
        <p:sp>
          <p:nvSpPr>
            <p:cNvPr id="31" name="Freeform 16">
              <a:extLst>
                <a:ext uri="{FF2B5EF4-FFF2-40B4-BE49-F238E27FC236}">
                  <a16:creationId xmlns:a16="http://schemas.microsoft.com/office/drawing/2014/main" id="{4C7748AE-CC6C-4D5C-B4EC-D5D0501F6C9C}"/>
                </a:ext>
              </a:extLst>
            </p:cNvPr>
            <p:cNvSpPr/>
            <p:nvPr/>
          </p:nvSpPr>
          <p:spPr>
            <a:xfrm>
              <a:off x="11938618" y="5143500"/>
              <a:ext cx="1220216" cy="1220216"/>
            </a:xfrm>
            <a:custGeom>
              <a:avLst/>
              <a:gdLst/>
              <a:ahLst/>
              <a:cxnLst/>
              <a:rect l="l" t="t" r="r" b="b"/>
              <a:pathLst>
                <a:path w="1220216" h="1220216">
                  <a:moveTo>
                    <a:pt x="0" y="0"/>
                  </a:moveTo>
                  <a:lnTo>
                    <a:pt x="1220217" y="0"/>
                  </a:lnTo>
                  <a:lnTo>
                    <a:pt x="1220217" y="1220216"/>
                  </a:lnTo>
                  <a:lnTo>
                    <a:pt x="0" y="12202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2" name="TextBox 21">
              <a:extLst>
                <a:ext uri="{FF2B5EF4-FFF2-40B4-BE49-F238E27FC236}">
                  <a16:creationId xmlns:a16="http://schemas.microsoft.com/office/drawing/2014/main" id="{2AB2D3FC-D39C-485C-BE87-F9005081B55B}"/>
                </a:ext>
              </a:extLst>
            </p:cNvPr>
            <p:cNvSpPr txBox="1"/>
            <p:nvPr/>
          </p:nvSpPr>
          <p:spPr>
            <a:xfrm>
              <a:off x="10908909" y="7208603"/>
              <a:ext cx="3278618" cy="615553"/>
            </a:xfrm>
            <a:prstGeom prst="rect">
              <a:avLst/>
            </a:prstGeom>
          </p:spPr>
          <p:txBody>
            <a:bodyPr lIns="0" tIns="0" rIns="0" bIns="0" rtlCol="0" anchor="t">
              <a:spAutoFit/>
            </a:bodyPr>
            <a:lstStyle/>
            <a:p>
              <a:pPr algn="ctr">
                <a:spcBef>
                  <a:spcPct val="0"/>
                </a:spcBef>
              </a:pPr>
              <a:r>
                <a:rPr lang="en-US" sz="2000">
                  <a:solidFill>
                    <a:schemeClr val="bg1"/>
                  </a:solidFill>
                  <a:latin typeface="Public Sans Bold"/>
                  <a:ea typeface="Public Sans Bold"/>
                  <a:cs typeface="Public Sans Bold"/>
                  <a:sym typeface="Public Sans Bold"/>
                </a:rPr>
                <a:t>Tạo ra cơ chế xếp</a:t>
              </a:r>
              <a:r>
                <a:rPr lang="vi-VN" sz="2000">
                  <a:solidFill>
                    <a:schemeClr val="bg1"/>
                  </a:solidFill>
                  <a:latin typeface="Public Sans Bold"/>
                  <a:ea typeface="Public Sans Bold"/>
                  <a:cs typeface="Public Sans Bold"/>
                  <a:sym typeface="Public Sans Bold"/>
                </a:rPr>
                <a:t> trận</a:t>
              </a:r>
              <a:r>
                <a:rPr lang="en-US" sz="2000">
                  <a:solidFill>
                    <a:schemeClr val="bg1"/>
                  </a:solidFill>
                  <a:latin typeface="Public Sans Bold"/>
                  <a:ea typeface="Public Sans Bold"/>
                  <a:cs typeface="Public Sans Bold"/>
                  <a:sym typeface="Public Sans Bold"/>
                </a:rPr>
                <a:t> để tạo môi trường cạnh tranh</a:t>
              </a:r>
              <a:endParaRPr lang="en-US" sz="2000" dirty="0">
                <a:solidFill>
                  <a:schemeClr val="bg1"/>
                </a:solidFill>
                <a:latin typeface="Public Sans Bold"/>
                <a:ea typeface="Public Sans Bold"/>
                <a:cs typeface="Public Sans Bold"/>
                <a:sym typeface="Public Sans Bold"/>
              </a:endParaRPr>
            </a:p>
          </p:txBody>
        </p:sp>
        <p:sp>
          <p:nvSpPr>
            <p:cNvPr id="33" name="TextBox 22">
              <a:extLst>
                <a:ext uri="{FF2B5EF4-FFF2-40B4-BE49-F238E27FC236}">
                  <a16:creationId xmlns:a16="http://schemas.microsoft.com/office/drawing/2014/main" id="{B8420E12-9F90-4517-8B1B-05CE0D7D02EA}"/>
                </a:ext>
              </a:extLst>
            </p:cNvPr>
            <p:cNvSpPr txBox="1"/>
            <p:nvPr/>
          </p:nvSpPr>
          <p:spPr>
            <a:xfrm>
              <a:off x="10933462" y="6671589"/>
              <a:ext cx="3229512" cy="419346"/>
            </a:xfrm>
            <a:prstGeom prst="rect">
              <a:avLst/>
            </a:prstGeom>
          </p:spPr>
          <p:txBody>
            <a:bodyPr lIns="0" tIns="0" rIns="0" bIns="0" rtlCol="0" anchor="t">
              <a:spAutoFit/>
            </a:bodyPr>
            <a:lstStyle/>
            <a:p>
              <a:pPr algn="ctr">
                <a:lnSpc>
                  <a:spcPts val="3359"/>
                </a:lnSpc>
                <a:spcBef>
                  <a:spcPct val="0"/>
                </a:spcBef>
              </a:pPr>
              <a:r>
                <a:rPr lang="vi-VN" sz="2400" b="1">
                  <a:solidFill>
                    <a:srgbClr val="FFFFFF"/>
                  </a:solidFill>
                  <a:latin typeface="TT Firs Neue Bold"/>
                  <a:ea typeface="TT Firs Neue Bold"/>
                  <a:cs typeface="TT Firs Neue Bold"/>
                  <a:sym typeface="TT Firs Neue Bold"/>
                </a:rPr>
                <a:t>Cơ chế xếp trận</a:t>
              </a:r>
              <a:endParaRPr lang="en-US" sz="2400" b="1">
                <a:solidFill>
                  <a:srgbClr val="FFFFFF"/>
                </a:solidFill>
                <a:latin typeface="TT Firs Neue Bold"/>
                <a:ea typeface="TT Firs Neue Bold"/>
                <a:cs typeface="TT Firs Neue Bold"/>
                <a:sym typeface="TT Firs Neue Bold"/>
              </a:endParaRPr>
            </a:p>
          </p:txBody>
        </p:sp>
      </p:grpSp>
      <p:sp>
        <p:nvSpPr>
          <p:cNvPr id="36" name="Oval 35">
            <a:extLst>
              <a:ext uri="{FF2B5EF4-FFF2-40B4-BE49-F238E27FC236}">
                <a16:creationId xmlns:a16="http://schemas.microsoft.com/office/drawing/2014/main" id="{8BFFE6F4-EE2C-45DB-9169-3FED4F226DBB}"/>
              </a:ext>
            </a:extLst>
          </p:cNvPr>
          <p:cNvSpPr/>
          <p:nvPr/>
        </p:nvSpPr>
        <p:spPr>
          <a:xfrm>
            <a:off x="6108467" y="5018773"/>
            <a:ext cx="989869" cy="1007828"/>
          </a:xfrm>
          <a:prstGeom prst="ellipse">
            <a:avLst/>
          </a:prstGeom>
          <a:solidFill>
            <a:srgbClr val="FFD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5D4A884-93F4-46AE-ABE6-384EE4B44C96}"/>
              </a:ext>
            </a:extLst>
          </p:cNvPr>
          <p:cNvSpPr/>
          <p:nvPr/>
        </p:nvSpPr>
        <p:spPr>
          <a:xfrm>
            <a:off x="1922665" y="5128235"/>
            <a:ext cx="989869" cy="1007828"/>
          </a:xfrm>
          <a:prstGeom prst="ellipse">
            <a:avLst/>
          </a:prstGeom>
          <a:solidFill>
            <a:srgbClr val="FFD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746ACE8D-0DBA-4AEF-950F-F531A8D1F4D5}"/>
              </a:ext>
            </a:extLst>
          </p:cNvPr>
          <p:cNvSpPr/>
          <p:nvPr/>
        </p:nvSpPr>
        <p:spPr>
          <a:xfrm>
            <a:off x="10414080" y="5082286"/>
            <a:ext cx="989869" cy="1007828"/>
          </a:xfrm>
          <a:prstGeom prst="ellipse">
            <a:avLst/>
          </a:prstGeom>
          <a:solidFill>
            <a:srgbClr val="FFD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F29C171-59E8-463D-8A94-FDCD432DB1BC}"/>
              </a:ext>
            </a:extLst>
          </p:cNvPr>
          <p:cNvSpPr/>
          <p:nvPr/>
        </p:nvSpPr>
        <p:spPr>
          <a:xfrm>
            <a:off x="14602827" y="5049684"/>
            <a:ext cx="989869" cy="1007828"/>
          </a:xfrm>
          <a:prstGeom prst="ellipse">
            <a:avLst/>
          </a:prstGeom>
          <a:solidFill>
            <a:srgbClr val="FFD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c 40" descr="Chat bubble with solid fill">
            <a:extLst>
              <a:ext uri="{FF2B5EF4-FFF2-40B4-BE49-F238E27FC236}">
                <a16:creationId xmlns:a16="http://schemas.microsoft.com/office/drawing/2014/main" id="{39C444E1-644C-4300-A1A0-F119516C2E1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57336" y="5221159"/>
            <a:ext cx="914400" cy="914400"/>
          </a:xfrm>
          <a:prstGeom prst="rect">
            <a:avLst/>
          </a:prstGeom>
        </p:spPr>
      </p:pic>
      <p:pic>
        <p:nvPicPr>
          <p:cNvPr id="43" name="Graphic 42" descr="Social network with solid fill">
            <a:extLst>
              <a:ext uri="{FF2B5EF4-FFF2-40B4-BE49-F238E27FC236}">
                <a16:creationId xmlns:a16="http://schemas.microsoft.com/office/drawing/2014/main" id="{E04935EF-66FE-4C8C-8CAA-768792BA4A4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116674" y="4990204"/>
            <a:ext cx="1126788" cy="1126788"/>
          </a:xfrm>
          <a:prstGeom prst="rect">
            <a:avLst/>
          </a:prstGeom>
        </p:spPr>
      </p:pic>
      <p:pic>
        <p:nvPicPr>
          <p:cNvPr id="45" name="Graphic 44" descr="Robot with solid fill">
            <a:extLst>
              <a:ext uri="{FF2B5EF4-FFF2-40B4-BE49-F238E27FC236}">
                <a16:creationId xmlns:a16="http://schemas.microsoft.com/office/drawing/2014/main" id="{56C8088B-CDD9-45B4-9695-F3C906866C6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442619" y="5097251"/>
            <a:ext cx="914400" cy="914400"/>
          </a:xfrm>
          <a:prstGeom prst="rect">
            <a:avLst/>
          </a:prstGeom>
        </p:spPr>
      </p:pic>
      <p:pic>
        <p:nvPicPr>
          <p:cNvPr id="47" name="Graphic 46" descr="Questions with solid fill">
            <a:extLst>
              <a:ext uri="{FF2B5EF4-FFF2-40B4-BE49-F238E27FC236}">
                <a16:creationId xmlns:a16="http://schemas.microsoft.com/office/drawing/2014/main" id="{D42897E7-0AC9-48F3-ABD6-04ECB16A0C4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4706131" y="5106907"/>
            <a:ext cx="914400" cy="914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81257" y="7604357"/>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686926" y="2471332"/>
            <a:ext cx="6668259" cy="5133025"/>
            <a:chOff x="0" y="0"/>
            <a:chExt cx="1756249" cy="1407561"/>
          </a:xfrm>
        </p:grpSpPr>
        <p:sp>
          <p:nvSpPr>
            <p:cNvPr id="4" name="Freeform 4"/>
            <p:cNvSpPr/>
            <p:nvPr/>
          </p:nvSpPr>
          <p:spPr>
            <a:xfrm>
              <a:off x="0" y="0"/>
              <a:ext cx="1756249" cy="1407561"/>
            </a:xfrm>
            <a:custGeom>
              <a:avLst/>
              <a:gdLst/>
              <a:ahLst/>
              <a:cxnLst/>
              <a:rect l="l" t="t" r="r" b="b"/>
              <a:pathLst>
                <a:path w="1756249" h="1407561">
                  <a:moveTo>
                    <a:pt x="59212" y="0"/>
                  </a:moveTo>
                  <a:lnTo>
                    <a:pt x="1697038" y="0"/>
                  </a:lnTo>
                  <a:cubicBezTo>
                    <a:pt x="1729739" y="0"/>
                    <a:pt x="1756249" y="26510"/>
                    <a:pt x="1756249" y="59212"/>
                  </a:cubicBezTo>
                  <a:lnTo>
                    <a:pt x="1756249" y="1348350"/>
                  </a:lnTo>
                  <a:cubicBezTo>
                    <a:pt x="1756249" y="1381051"/>
                    <a:pt x="1729739" y="1407561"/>
                    <a:pt x="1697038" y="1407561"/>
                  </a:cubicBezTo>
                  <a:lnTo>
                    <a:pt x="59212" y="1407561"/>
                  </a:lnTo>
                  <a:cubicBezTo>
                    <a:pt x="26510" y="1407561"/>
                    <a:pt x="0" y="1381051"/>
                    <a:pt x="0" y="1348350"/>
                  </a:cubicBezTo>
                  <a:lnTo>
                    <a:pt x="0" y="59212"/>
                  </a:lnTo>
                  <a:cubicBezTo>
                    <a:pt x="0" y="26510"/>
                    <a:pt x="26510" y="0"/>
                    <a:pt x="59212" y="0"/>
                  </a:cubicBezTo>
                  <a:close/>
                </a:path>
              </a:pathLst>
            </a:custGeom>
            <a:solidFill>
              <a:srgbClr val="F3F3F3"/>
            </a:solidFill>
          </p:spPr>
        </p:sp>
        <p:sp>
          <p:nvSpPr>
            <p:cNvPr id="5" name="TextBox 5"/>
            <p:cNvSpPr txBox="1"/>
            <p:nvPr/>
          </p:nvSpPr>
          <p:spPr>
            <a:xfrm>
              <a:off x="0" y="-47625"/>
              <a:ext cx="1756249" cy="1455186"/>
            </a:xfrm>
            <a:prstGeom prst="rect">
              <a:avLst/>
            </a:prstGeom>
          </p:spPr>
          <p:txBody>
            <a:bodyPr lIns="50800" tIns="50800" rIns="50800" bIns="50800" rtlCol="0" anchor="ctr"/>
            <a:lstStyle/>
            <a:p>
              <a:pPr algn="ctr">
                <a:lnSpc>
                  <a:spcPts val="3360"/>
                </a:lnSpc>
              </a:pPr>
              <a:endParaRPr/>
            </a:p>
          </p:txBody>
        </p:sp>
      </p:grpSp>
      <p:grpSp>
        <p:nvGrpSpPr>
          <p:cNvPr id="6" name="Group 6"/>
          <p:cNvGrpSpPr/>
          <p:nvPr/>
        </p:nvGrpSpPr>
        <p:grpSpPr>
          <a:xfrm>
            <a:off x="8801571" y="2471333"/>
            <a:ext cx="7799503" cy="5344334"/>
            <a:chOff x="0" y="0"/>
            <a:chExt cx="1321798" cy="905715"/>
          </a:xfrm>
          <a:blipFill dpi="0" rotWithShape="1">
            <a:blip r:embed="rId4"/>
            <a:srcRect/>
            <a:stretch>
              <a:fillRect l="-9000" r="-12000"/>
            </a:stretch>
          </a:blipFill>
        </p:grpSpPr>
        <p:sp>
          <p:nvSpPr>
            <p:cNvPr id="7" name="Freeform 7"/>
            <p:cNvSpPr/>
            <p:nvPr/>
          </p:nvSpPr>
          <p:spPr>
            <a:xfrm>
              <a:off x="0" y="0"/>
              <a:ext cx="1321798" cy="905715"/>
            </a:xfrm>
            <a:custGeom>
              <a:avLst/>
              <a:gdLst/>
              <a:ahLst/>
              <a:cxnLst/>
              <a:rect l="l" t="t" r="r" b="b"/>
              <a:pathLst>
                <a:path w="1321798" h="905715">
                  <a:moveTo>
                    <a:pt x="43675" y="0"/>
                  </a:moveTo>
                  <a:lnTo>
                    <a:pt x="1278123" y="0"/>
                  </a:lnTo>
                  <a:cubicBezTo>
                    <a:pt x="1302244" y="0"/>
                    <a:pt x="1321798" y="19554"/>
                    <a:pt x="1321798" y="43675"/>
                  </a:cubicBezTo>
                  <a:lnTo>
                    <a:pt x="1321798" y="862040"/>
                  </a:lnTo>
                  <a:cubicBezTo>
                    <a:pt x="1321798" y="886161"/>
                    <a:pt x="1302244" y="905715"/>
                    <a:pt x="1278123" y="905715"/>
                  </a:cubicBezTo>
                  <a:lnTo>
                    <a:pt x="43675" y="905715"/>
                  </a:lnTo>
                  <a:cubicBezTo>
                    <a:pt x="19554" y="905715"/>
                    <a:pt x="0" y="886161"/>
                    <a:pt x="0" y="862040"/>
                  </a:cubicBezTo>
                  <a:lnTo>
                    <a:pt x="0" y="43675"/>
                  </a:lnTo>
                  <a:cubicBezTo>
                    <a:pt x="0" y="19554"/>
                    <a:pt x="19554" y="0"/>
                    <a:pt x="43675" y="0"/>
                  </a:cubicBezTo>
                  <a:close/>
                </a:path>
              </a:pathLst>
            </a:custGeom>
            <a:grpFill/>
          </p:spPr>
        </p:sp>
      </p:grpSp>
      <p:sp>
        <p:nvSpPr>
          <p:cNvPr id="8" name="Freeform 8"/>
          <p:cNvSpPr/>
          <p:nvPr/>
        </p:nvSpPr>
        <p:spPr>
          <a:xfrm>
            <a:off x="2488643" y="5519273"/>
            <a:ext cx="349759" cy="349759"/>
          </a:xfrm>
          <a:custGeom>
            <a:avLst/>
            <a:gdLst/>
            <a:ahLst/>
            <a:cxnLst/>
            <a:rect l="l" t="t" r="r" b="b"/>
            <a:pathLst>
              <a:path w="349759" h="349759">
                <a:moveTo>
                  <a:pt x="0" y="0"/>
                </a:moveTo>
                <a:lnTo>
                  <a:pt x="349759" y="0"/>
                </a:lnTo>
                <a:lnTo>
                  <a:pt x="349759" y="349759"/>
                </a:lnTo>
                <a:lnTo>
                  <a:pt x="0" y="34975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2474134" y="6138247"/>
            <a:ext cx="364268" cy="352347"/>
          </a:xfrm>
          <a:custGeom>
            <a:avLst/>
            <a:gdLst/>
            <a:ahLst/>
            <a:cxnLst/>
            <a:rect l="l" t="t" r="r" b="b"/>
            <a:pathLst>
              <a:path w="364268" h="352347">
                <a:moveTo>
                  <a:pt x="0" y="0"/>
                </a:moveTo>
                <a:lnTo>
                  <a:pt x="364268" y="0"/>
                </a:lnTo>
                <a:lnTo>
                  <a:pt x="364268" y="352346"/>
                </a:lnTo>
                <a:lnTo>
                  <a:pt x="0" y="35234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1" name="TextBox 11"/>
          <p:cNvSpPr txBox="1"/>
          <p:nvPr/>
        </p:nvSpPr>
        <p:spPr>
          <a:xfrm>
            <a:off x="2471413" y="3089904"/>
            <a:ext cx="5265184" cy="1925320"/>
          </a:xfrm>
          <a:prstGeom prst="rect">
            <a:avLst/>
          </a:prstGeom>
        </p:spPr>
        <p:txBody>
          <a:bodyPr lIns="0" tIns="0" rIns="0" bIns="0" rtlCol="0" anchor="t">
            <a:spAutoFit/>
          </a:bodyPr>
          <a:lstStyle/>
          <a:p>
            <a:pPr algn="l">
              <a:lnSpc>
                <a:spcPts val="6800"/>
              </a:lnSpc>
            </a:pPr>
            <a:r>
              <a:rPr lang="en-US" sz="6800" spc="-374">
                <a:solidFill>
                  <a:srgbClr val="0B0A0A"/>
                </a:solidFill>
                <a:latin typeface="Heading Now 71-78"/>
                <a:ea typeface="Heading Now 71-78"/>
                <a:cs typeface="Heading Now 71-78"/>
                <a:sym typeface="Heading Now 71-78"/>
              </a:rPr>
              <a:t>Thank you so much</a:t>
            </a:r>
          </a:p>
        </p:txBody>
      </p:sp>
      <p:sp>
        <p:nvSpPr>
          <p:cNvPr id="12" name="TextBox 12"/>
          <p:cNvSpPr txBox="1"/>
          <p:nvPr/>
        </p:nvSpPr>
        <p:spPr>
          <a:xfrm>
            <a:off x="2919693" y="6090622"/>
            <a:ext cx="5265184" cy="1291251"/>
          </a:xfrm>
          <a:prstGeom prst="rect">
            <a:avLst/>
          </a:prstGeom>
        </p:spPr>
        <p:txBody>
          <a:bodyPr wrap="square" lIns="0" tIns="0" rIns="0" bIns="0" rtlCol="0" anchor="t">
            <a:spAutoFit/>
          </a:bodyPr>
          <a:lstStyle/>
          <a:p>
            <a:pPr marL="0" lvl="1" indent="0" algn="l">
              <a:lnSpc>
                <a:spcPts val="3355"/>
              </a:lnSpc>
              <a:spcBef>
                <a:spcPct val="0"/>
              </a:spcBef>
            </a:pPr>
            <a:r>
              <a:rPr lang="en-US" sz="2396" u="none" strike="noStrike">
                <a:solidFill>
                  <a:srgbClr val="0B0A0A"/>
                </a:solidFill>
                <a:latin typeface="TT Firs Neue"/>
                <a:ea typeface="TT Firs Neue"/>
                <a:cs typeface="TT Firs Neue"/>
                <a:sym typeface="TT Firs Neue"/>
              </a:rPr>
              <a:t>https://github.com/An11-Whale/</a:t>
            </a:r>
            <a:endParaRPr lang="vi-VN" sz="2396" u="none" strike="noStrike">
              <a:solidFill>
                <a:srgbClr val="0B0A0A"/>
              </a:solidFill>
              <a:latin typeface="TT Firs Neue"/>
              <a:ea typeface="TT Firs Neue"/>
              <a:cs typeface="TT Firs Neue"/>
              <a:sym typeface="TT Firs Neue"/>
            </a:endParaRPr>
          </a:p>
          <a:p>
            <a:pPr marL="0" lvl="1" indent="0" algn="l">
              <a:lnSpc>
                <a:spcPts val="3355"/>
              </a:lnSpc>
              <a:spcBef>
                <a:spcPct val="0"/>
              </a:spcBef>
            </a:pPr>
            <a:r>
              <a:rPr lang="en-US" sz="2396" u="none" strike="noStrike">
                <a:solidFill>
                  <a:srgbClr val="0B0A0A"/>
                </a:solidFill>
                <a:latin typeface="TT Firs Neue"/>
                <a:ea typeface="TT Firs Neue"/>
                <a:cs typeface="TT Firs Neue"/>
                <a:sym typeface="TT Firs Neue"/>
              </a:rPr>
              <a:t>UDM_17-Project-List-Lap-Trinh-Game-Co-Caro</a:t>
            </a:r>
          </a:p>
        </p:txBody>
      </p:sp>
      <p:sp>
        <p:nvSpPr>
          <p:cNvPr id="13" name="TextBox 13"/>
          <p:cNvSpPr txBox="1"/>
          <p:nvPr/>
        </p:nvSpPr>
        <p:spPr>
          <a:xfrm>
            <a:off x="2919693" y="5471648"/>
            <a:ext cx="5005107" cy="416140"/>
          </a:xfrm>
          <a:prstGeom prst="rect">
            <a:avLst/>
          </a:prstGeom>
        </p:spPr>
        <p:txBody>
          <a:bodyPr wrap="square" lIns="0" tIns="0" rIns="0" bIns="0" rtlCol="0" anchor="t">
            <a:spAutoFit/>
          </a:bodyPr>
          <a:lstStyle/>
          <a:p>
            <a:pPr marL="0" lvl="1" indent="0" algn="l">
              <a:lnSpc>
                <a:spcPts val="3355"/>
              </a:lnSpc>
              <a:spcBef>
                <a:spcPct val="0"/>
              </a:spcBef>
            </a:pPr>
            <a:r>
              <a:rPr lang="vi-VN" sz="2400">
                <a:latin typeface="TT Firs Neue"/>
                <a:ea typeface="TT Firs Neue"/>
                <a:cs typeface="TT Firs Neue"/>
                <a:sym typeface="TT Firs Neue"/>
              </a:rPr>
              <a:t>Nhóm 10 – LTM</a:t>
            </a:r>
            <a:r>
              <a:rPr lang="vi-VN" sz="2400">
                <a:latin typeface="Bahnschrift SemiBold" panose="020B0502040204020203" pitchFamily="34" charset="0"/>
                <a:ea typeface="TT Firs Neue"/>
                <a:cs typeface="TT Firs Neue"/>
                <a:sym typeface="TT Firs Neue"/>
              </a:rPr>
              <a:t> (</a:t>
            </a:r>
            <a:r>
              <a:rPr lang="vi-VN" sz="2400" i="0">
                <a:effectLst/>
                <a:latin typeface="TT Firs Neue" panose="020B0604020202020204" charset="0"/>
                <a:cs typeface="Times New Roman" panose="02020603050405020304" pitchFamily="18" charset="0"/>
              </a:rPr>
              <a:t>012012301306</a:t>
            </a:r>
            <a:r>
              <a:rPr lang="vi-VN" sz="2400" i="0">
                <a:effectLst/>
                <a:latin typeface="Bahnschrift SemiBold" panose="020B0502040204020203" pitchFamily="34" charset="0"/>
                <a:cs typeface="Times New Roman" panose="02020603050405020304" pitchFamily="18" charset="0"/>
              </a:rPr>
              <a:t>)</a:t>
            </a:r>
            <a:endParaRPr lang="en-US" sz="2400" u="none" strike="noStrike">
              <a:latin typeface="TT Firs Neue" panose="020B0604020202020204" charset="0"/>
              <a:ea typeface="TT Firs Neue"/>
              <a:cs typeface="TT Firs Neue"/>
              <a:sym typeface="TT Firs Neue"/>
            </a:endParaRPr>
          </a:p>
        </p:txBody>
      </p:sp>
      <p:sp>
        <p:nvSpPr>
          <p:cNvPr id="15" name="Freeform 15"/>
          <p:cNvSpPr/>
          <p:nvPr/>
        </p:nvSpPr>
        <p:spPr>
          <a:xfrm>
            <a:off x="2176688" y="0"/>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16"/>
          <p:cNvSpPr/>
          <p:nvPr/>
        </p:nvSpPr>
        <p:spPr>
          <a:xfrm rot="10799999">
            <a:off x="15064986" y="8684301"/>
            <a:ext cx="2432141" cy="1857271"/>
          </a:xfrm>
          <a:custGeom>
            <a:avLst/>
            <a:gdLst/>
            <a:ahLst/>
            <a:cxnLst/>
            <a:rect l="l" t="t" r="r" b="b"/>
            <a:pathLst>
              <a:path w="2432141" h="1857271">
                <a:moveTo>
                  <a:pt x="0" y="0"/>
                </a:moveTo>
                <a:lnTo>
                  <a:pt x="2432141" y="0"/>
                </a:lnTo>
                <a:lnTo>
                  <a:pt x="2432141" y="1857271"/>
                </a:lnTo>
                <a:lnTo>
                  <a:pt x="0" y="185727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7" name="Group 17"/>
          <p:cNvGrpSpPr/>
          <p:nvPr/>
        </p:nvGrpSpPr>
        <p:grpSpPr>
          <a:xfrm>
            <a:off x="0" y="6138247"/>
            <a:ext cx="3934796" cy="4109676"/>
            <a:chOff x="0" y="0"/>
            <a:chExt cx="571500" cy="596900"/>
          </a:xfrm>
        </p:grpSpPr>
        <p:sp>
          <p:nvSpPr>
            <p:cNvPr id="18" name="Freeform 18"/>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19" name="TextBox 19"/>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rot="-10800000">
            <a:off x="14353204" y="0"/>
            <a:ext cx="3934796" cy="4109676"/>
            <a:chOff x="0" y="0"/>
            <a:chExt cx="571500" cy="596900"/>
          </a:xfrm>
        </p:grpSpPr>
        <p:sp>
          <p:nvSpPr>
            <p:cNvPr id="21" name="Freeform 21"/>
            <p:cNvSpPr/>
            <p:nvPr/>
          </p:nvSpPr>
          <p:spPr>
            <a:xfrm>
              <a:off x="0" y="0"/>
              <a:ext cx="571500" cy="596900"/>
            </a:xfrm>
            <a:custGeom>
              <a:avLst/>
              <a:gdLst/>
              <a:ahLst/>
              <a:cxnLst/>
              <a:rect l="l" t="t" r="r" b="b"/>
              <a:pathLst>
                <a:path w="571500" h="596900">
                  <a:moveTo>
                    <a:pt x="571500" y="596900"/>
                  </a:moveTo>
                  <a:lnTo>
                    <a:pt x="0" y="596900"/>
                  </a:lnTo>
                  <a:lnTo>
                    <a:pt x="0" y="0"/>
                  </a:lnTo>
                  <a:lnTo>
                    <a:pt x="571500" y="596900"/>
                  </a:lnTo>
                  <a:close/>
                </a:path>
              </a:pathLst>
            </a:custGeom>
            <a:solidFill>
              <a:srgbClr val="2F6C7E"/>
            </a:solidFill>
          </p:spPr>
        </p:sp>
        <p:sp>
          <p:nvSpPr>
            <p:cNvPr id="22" name="TextBox 22"/>
            <p:cNvSpPr txBox="1"/>
            <p:nvPr/>
          </p:nvSpPr>
          <p:spPr>
            <a:xfrm>
              <a:off x="0" y="250825"/>
              <a:ext cx="285750" cy="344805"/>
            </a:xfrm>
            <a:prstGeom prst="rect">
              <a:avLst/>
            </a:prstGeom>
          </p:spPr>
          <p:txBody>
            <a:bodyPr lIns="50800" tIns="50800" rIns="50800" bIns="50800" rtlCol="0" anchor="ctr"/>
            <a:lstStyle/>
            <a:p>
              <a:pPr algn="ctr">
                <a:lnSpc>
                  <a:spcPts val="3359"/>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TotalTime>
  <Words>2738</Words>
  <Application>Microsoft Office PowerPoint</Application>
  <PresentationFormat>Custom</PresentationFormat>
  <Paragraphs>294</Paragraphs>
  <Slides>28</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28</vt:i4>
      </vt:variant>
    </vt:vector>
  </HeadingPairs>
  <TitlesOfParts>
    <vt:vector size="41" baseType="lpstr">
      <vt:lpstr>Calibri</vt:lpstr>
      <vt:lpstr>Bahnschrift SemiBold</vt:lpstr>
      <vt:lpstr>Mona Sans VF</vt:lpstr>
      <vt:lpstr>Arial</vt:lpstr>
      <vt:lpstr>TT Firs Neue</vt:lpstr>
      <vt:lpstr>Public Sans Thin</vt:lpstr>
      <vt:lpstr>TT Firs Neue Bold</vt:lpstr>
      <vt:lpstr>Canva Sans Bold</vt:lpstr>
      <vt:lpstr>Public Sans Bold</vt:lpstr>
      <vt:lpstr>Public Sans</vt:lpstr>
      <vt:lpstr>Bahnschrift SemiBold SemiConden</vt:lpstr>
      <vt:lpstr>Heading Now 71-78</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CaroGame</dc:title>
  <cp:lastModifiedBy>Hoàng Pha</cp:lastModifiedBy>
  <cp:revision>20</cp:revision>
  <dcterms:created xsi:type="dcterms:W3CDTF">2006-08-16T00:00:00Z</dcterms:created>
  <dcterms:modified xsi:type="dcterms:W3CDTF">2026-04-17T09:30:36Z</dcterms:modified>
  <dc:identifier>DAHHFom5zeE</dc:identifier>
</cp:coreProperties>
</file>