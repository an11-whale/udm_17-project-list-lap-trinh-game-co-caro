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8288000" cy="10287000"/>
  <p:notesSz cx="6858000" cy="9144000"/>
  <p:embeddedFontLst>
    <p:embeddedFont>
      <p:font typeface="Barlow SemiCondensed Bold" panose="020B0604020202020204" charset="0"/>
      <p:regular r:id="rId27"/>
    </p:embeddedFont>
    <p:embeddedFont>
      <p:font typeface="Canva Sans Bold" panose="020B0604020202020204" charset="0"/>
      <p:regular r:id="rId28"/>
    </p:embeddedFont>
    <p:embeddedFont>
      <p:font typeface="Cooper Hewitt Bold" panose="020B0604020202020204" charset="0"/>
      <p:regular r:id="rId29"/>
    </p:embeddedFont>
    <p:embeddedFont>
      <p:font typeface="DM Sans" pitchFamily="2" charset="0"/>
      <p:regular r:id="rId30"/>
    </p:embeddedFont>
    <p:embeddedFont>
      <p:font typeface="Open Sauce" panose="020B0604020202020204" charset="0"/>
      <p:regular r:id="rId31"/>
    </p:embeddedFont>
    <p:embeddedFont>
      <p:font typeface="Open Sauce Medium" panose="020B0604020202020204" charset="0"/>
      <p:regular r:id="rId32"/>
    </p:embeddedFont>
    <p:embeddedFont>
      <p:font typeface="Public Sans" panose="020B0604020202020204" charset="0"/>
      <p:regular r:id="rId33"/>
    </p:embeddedFont>
    <p:embeddedFont>
      <p:font typeface="Public Sans Bold" panose="020B0604020202020204" charset="0"/>
      <p:regular r:id="rId34"/>
    </p:embeddedFont>
    <p:embeddedFont>
      <p:font typeface="Public Sans Thin" panose="020B0604020202020204" charset="0"/>
      <p:regular r:id="rId35"/>
    </p:embeddedFont>
    <p:embeddedFont>
      <p:font typeface="Times New Roman MT" panose="020B0604020202020204" charset="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0" d="100"/>
          <a:sy n="60" d="100"/>
        </p:scale>
        <p:origin x="173"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svg"/><Relationship Id="rId18" Type="http://schemas.openxmlformats.org/officeDocument/2006/relationships/image" Target="../media/image20.svg"/><Relationship Id="rId26" Type="http://schemas.openxmlformats.org/officeDocument/2006/relationships/image" Target="../media/image28.svg"/><Relationship Id="rId3" Type="http://schemas.openxmlformats.org/officeDocument/2006/relationships/image" Target="../media/image5.svg"/><Relationship Id="rId21" Type="http://schemas.openxmlformats.org/officeDocument/2006/relationships/image" Target="../media/image23.svg"/><Relationship Id="rId7" Type="http://schemas.openxmlformats.org/officeDocument/2006/relationships/image" Target="../media/image9.svg"/><Relationship Id="rId12" Type="http://schemas.openxmlformats.org/officeDocument/2006/relationships/image" Target="../media/image14.svg"/><Relationship Id="rId17" Type="http://schemas.openxmlformats.org/officeDocument/2006/relationships/image" Target="../media/image19.svg"/><Relationship Id="rId25" Type="http://schemas.openxmlformats.org/officeDocument/2006/relationships/image" Target="../media/image27.svg"/><Relationship Id="rId2" Type="http://schemas.openxmlformats.org/officeDocument/2006/relationships/image" Target="../media/image4.svg"/><Relationship Id="rId16" Type="http://schemas.openxmlformats.org/officeDocument/2006/relationships/image" Target="../media/image18.svg"/><Relationship Id="rId20" Type="http://schemas.openxmlformats.org/officeDocument/2006/relationships/image" Target="../media/image22.svg"/><Relationship Id="rId29" Type="http://schemas.openxmlformats.org/officeDocument/2006/relationships/image" Target="../media/image31.sv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3.svg"/><Relationship Id="rId24" Type="http://schemas.openxmlformats.org/officeDocument/2006/relationships/image" Target="../media/image26.svg"/><Relationship Id="rId5" Type="http://schemas.openxmlformats.org/officeDocument/2006/relationships/image" Target="../media/image7.svg"/><Relationship Id="rId15" Type="http://schemas.openxmlformats.org/officeDocument/2006/relationships/image" Target="../media/image17.svg"/><Relationship Id="rId23" Type="http://schemas.openxmlformats.org/officeDocument/2006/relationships/image" Target="../media/image25.svg"/><Relationship Id="rId28" Type="http://schemas.openxmlformats.org/officeDocument/2006/relationships/image" Target="../media/image30.svg"/><Relationship Id="rId10" Type="http://schemas.openxmlformats.org/officeDocument/2006/relationships/image" Target="../media/image12.svg"/><Relationship Id="rId19" Type="http://schemas.openxmlformats.org/officeDocument/2006/relationships/image" Target="../media/image21.svg"/><Relationship Id="rId31" Type="http://schemas.openxmlformats.org/officeDocument/2006/relationships/image" Target="../media/image33.svg"/><Relationship Id="rId4" Type="http://schemas.openxmlformats.org/officeDocument/2006/relationships/image" Target="../media/image6.svg"/><Relationship Id="rId9" Type="http://schemas.openxmlformats.org/officeDocument/2006/relationships/image" Target="../media/image11.svg"/><Relationship Id="rId14" Type="http://schemas.openxmlformats.org/officeDocument/2006/relationships/image" Target="../media/image16.svg"/><Relationship Id="rId22" Type="http://schemas.openxmlformats.org/officeDocument/2006/relationships/image" Target="../media/image24.svg"/><Relationship Id="rId27" Type="http://schemas.openxmlformats.org/officeDocument/2006/relationships/image" Target="../media/image29.svg"/><Relationship Id="rId30" Type="http://schemas.openxmlformats.org/officeDocument/2006/relationships/image" Target="../media/image32.svg"/></Relationships>
</file>

<file path=ppt/slides/_rels/slide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svg"/><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image" Target="../media/image44.jpeg"/></Relationships>
</file>

<file path=ppt/slides/_rels/slide1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49.png"/></Relationships>
</file>

<file path=ppt/slides/_rels/slide1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Freeform 2"/>
          <p:cNvSpPr/>
          <p:nvPr/>
        </p:nvSpPr>
        <p:spPr>
          <a:xfrm>
            <a:off x="0" y="8974022"/>
            <a:ext cx="6910411" cy="1312978"/>
          </a:xfrm>
          <a:custGeom>
            <a:avLst/>
            <a:gdLst/>
            <a:ahLst/>
            <a:cxnLst/>
            <a:rect l="l" t="t" r="r" b="b"/>
            <a:pathLst>
              <a:path w="6910411" h="1312978">
                <a:moveTo>
                  <a:pt x="0" y="0"/>
                </a:moveTo>
                <a:lnTo>
                  <a:pt x="6910411" y="0"/>
                </a:lnTo>
                <a:lnTo>
                  <a:pt x="6910411" y="1312978"/>
                </a:lnTo>
                <a:lnTo>
                  <a:pt x="0" y="1312978"/>
                </a:lnTo>
                <a:lnTo>
                  <a:pt x="0" y="0"/>
                </a:lnTo>
                <a:close/>
              </a:path>
            </a:pathLst>
          </a:custGeom>
          <a:blipFill>
            <a:blip r:embed="rId2"/>
            <a:stretch>
              <a:fillRect/>
            </a:stretch>
          </a:blipFill>
        </p:spPr>
      </p:sp>
      <p:sp>
        <p:nvSpPr>
          <p:cNvPr id="3" name="Freeform 3"/>
          <p:cNvSpPr/>
          <p:nvPr/>
        </p:nvSpPr>
        <p:spPr>
          <a:xfrm>
            <a:off x="9900049" y="1157059"/>
            <a:ext cx="6555414" cy="7689635"/>
          </a:xfrm>
          <a:custGeom>
            <a:avLst/>
            <a:gdLst/>
            <a:ahLst/>
            <a:cxnLst/>
            <a:rect l="l" t="t" r="r" b="b"/>
            <a:pathLst>
              <a:path w="6555414" h="7689635">
                <a:moveTo>
                  <a:pt x="0" y="0"/>
                </a:moveTo>
                <a:lnTo>
                  <a:pt x="6555414" y="0"/>
                </a:lnTo>
                <a:lnTo>
                  <a:pt x="6555414" y="7689635"/>
                </a:lnTo>
                <a:lnTo>
                  <a:pt x="0" y="7689635"/>
                </a:lnTo>
                <a:lnTo>
                  <a:pt x="0" y="0"/>
                </a:lnTo>
                <a:close/>
              </a:path>
            </a:pathLst>
          </a:custGeom>
          <a:blipFill>
            <a:blip r:embed="rId3"/>
            <a:stretch>
              <a:fillRect/>
            </a:stretch>
          </a:blipFill>
        </p:spPr>
      </p:sp>
      <p:sp>
        <p:nvSpPr>
          <p:cNvPr id="4" name="TextBox 4"/>
          <p:cNvSpPr txBox="1"/>
          <p:nvPr/>
        </p:nvSpPr>
        <p:spPr>
          <a:xfrm>
            <a:off x="1228582" y="1066800"/>
            <a:ext cx="9958416" cy="1811664"/>
          </a:xfrm>
          <a:prstGeom prst="rect">
            <a:avLst/>
          </a:prstGeom>
        </p:spPr>
        <p:txBody>
          <a:bodyPr lIns="0" tIns="0" rIns="0" bIns="0" rtlCol="0" anchor="t">
            <a:spAutoFit/>
          </a:bodyPr>
          <a:lstStyle/>
          <a:p>
            <a:pPr algn="just">
              <a:lnSpc>
                <a:spcPts val="6215"/>
              </a:lnSpc>
            </a:pPr>
            <a:r>
              <a:rPr lang="en-US" sz="5650" b="1">
                <a:solidFill>
                  <a:srgbClr val="67DB7D"/>
                </a:solidFill>
                <a:latin typeface="Public Sans Bold"/>
                <a:ea typeface="Public Sans Bold"/>
                <a:cs typeface="Public Sans Bold"/>
                <a:sym typeface="Public Sans Bold"/>
              </a:rPr>
              <a:t>CHỦ ĐỀ:</a:t>
            </a:r>
          </a:p>
          <a:p>
            <a:pPr algn="just">
              <a:lnSpc>
                <a:spcPts val="4015"/>
              </a:lnSpc>
            </a:pPr>
            <a:endParaRPr lang="en-US" sz="5650" b="1">
              <a:solidFill>
                <a:srgbClr val="67DB7D"/>
              </a:solidFill>
              <a:latin typeface="Public Sans Bold"/>
              <a:ea typeface="Public Sans Bold"/>
              <a:cs typeface="Public Sans Bold"/>
              <a:sym typeface="Public Sans Bold"/>
            </a:endParaRPr>
          </a:p>
          <a:p>
            <a:pPr algn="just">
              <a:lnSpc>
                <a:spcPts val="4015"/>
              </a:lnSpc>
            </a:pPr>
            <a:r>
              <a:rPr lang="en-US" sz="3650" b="1">
                <a:solidFill>
                  <a:srgbClr val="67DB7D"/>
                </a:solidFill>
                <a:latin typeface="Public Sans Bold"/>
                <a:ea typeface="Public Sans Bold"/>
                <a:cs typeface="Public Sans Bold"/>
                <a:sym typeface="Public Sans Bold"/>
              </a:rPr>
              <a:t>LẬP TRÌNH GAME CỜ CARO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53356" t="-19866" r="-347" b="-33836"/>
            </a:stretch>
          </a:blipFill>
        </p:spPr>
      </p:sp>
      <p:sp>
        <p:nvSpPr>
          <p:cNvPr id="3" name="AutoShape 3"/>
          <p:cNvSpPr/>
          <p:nvPr/>
        </p:nvSpPr>
        <p:spPr>
          <a:xfrm flipH="1">
            <a:off x="3838666" y="2688709"/>
            <a:ext cx="10610668" cy="53684"/>
          </a:xfrm>
          <a:prstGeom prst="line">
            <a:avLst/>
          </a:prstGeom>
          <a:ln w="76200" cap="flat">
            <a:solidFill>
              <a:srgbClr val="F5F5F5"/>
            </a:solidFill>
            <a:prstDash val="solid"/>
            <a:headEnd type="none" w="sm" len="sm"/>
            <a:tailEnd type="none" w="sm" len="sm"/>
          </a:ln>
        </p:spPr>
      </p:sp>
      <p:sp>
        <p:nvSpPr>
          <p:cNvPr id="4" name="TextBox 4"/>
          <p:cNvSpPr txBox="1"/>
          <p:nvPr/>
        </p:nvSpPr>
        <p:spPr>
          <a:xfrm>
            <a:off x="1028700" y="4120098"/>
            <a:ext cx="3778731" cy="492126"/>
          </a:xfrm>
          <a:prstGeom prst="rect">
            <a:avLst/>
          </a:prstGeom>
        </p:spPr>
        <p:txBody>
          <a:bodyPr lIns="0" tIns="0" rIns="0" bIns="0" rtlCol="0" anchor="t">
            <a:spAutoFit/>
          </a:bodyPr>
          <a:lstStyle/>
          <a:p>
            <a:pPr algn="ctr">
              <a:lnSpc>
                <a:spcPts val="3850"/>
              </a:lnSpc>
            </a:pPr>
            <a:r>
              <a:rPr lang="en-US" sz="3500" spc="112">
                <a:solidFill>
                  <a:srgbClr val="FFFFFF"/>
                </a:solidFill>
                <a:latin typeface="Open Sauce"/>
                <a:ea typeface="Open Sauce"/>
                <a:cs typeface="Open Sauce"/>
                <a:sym typeface="Open Sauce"/>
              </a:rPr>
              <a:t>LÊ THÀNH AN</a:t>
            </a:r>
          </a:p>
        </p:txBody>
      </p:sp>
      <p:sp>
        <p:nvSpPr>
          <p:cNvPr id="5" name="TextBox 5"/>
          <p:cNvSpPr txBox="1"/>
          <p:nvPr/>
        </p:nvSpPr>
        <p:spPr>
          <a:xfrm>
            <a:off x="6320844" y="4120099"/>
            <a:ext cx="5166482" cy="492125"/>
          </a:xfrm>
          <a:prstGeom prst="rect">
            <a:avLst/>
          </a:prstGeom>
        </p:spPr>
        <p:txBody>
          <a:bodyPr lIns="0" tIns="0" rIns="0" bIns="0" rtlCol="0" anchor="t">
            <a:spAutoFit/>
          </a:bodyPr>
          <a:lstStyle/>
          <a:p>
            <a:pPr algn="ctr">
              <a:lnSpc>
                <a:spcPts val="3850"/>
              </a:lnSpc>
            </a:pPr>
            <a:r>
              <a:rPr lang="en-US" sz="3500" spc="112">
                <a:solidFill>
                  <a:srgbClr val="FFFFFF"/>
                </a:solidFill>
                <a:latin typeface="Open Sauce"/>
                <a:ea typeface="Open Sauce"/>
                <a:cs typeface="Open Sauce"/>
                <a:sym typeface="Open Sauce"/>
              </a:rPr>
              <a:t>NGUYỄN HOÀNG PHA </a:t>
            </a:r>
          </a:p>
        </p:txBody>
      </p:sp>
      <p:sp>
        <p:nvSpPr>
          <p:cNvPr id="6" name="TextBox 6"/>
          <p:cNvSpPr txBox="1"/>
          <p:nvPr/>
        </p:nvSpPr>
        <p:spPr>
          <a:xfrm>
            <a:off x="12805798" y="4110574"/>
            <a:ext cx="3764090" cy="501650"/>
          </a:xfrm>
          <a:prstGeom prst="rect">
            <a:avLst/>
          </a:prstGeom>
        </p:spPr>
        <p:txBody>
          <a:bodyPr lIns="0" tIns="0" rIns="0" bIns="0" rtlCol="0" anchor="t">
            <a:spAutoFit/>
          </a:bodyPr>
          <a:lstStyle/>
          <a:p>
            <a:pPr algn="ctr">
              <a:lnSpc>
                <a:spcPts val="3849"/>
              </a:lnSpc>
            </a:pPr>
            <a:r>
              <a:rPr lang="en-US" sz="3499" b="1" spc="111">
                <a:solidFill>
                  <a:srgbClr val="FFFFFF"/>
                </a:solidFill>
                <a:latin typeface="Open Sauce Medium"/>
                <a:ea typeface="Open Sauce Medium"/>
                <a:cs typeface="Open Sauce Medium"/>
                <a:sym typeface="Open Sauce Medium"/>
              </a:rPr>
              <a:t>PHẠM HẢI NINH </a:t>
            </a:r>
          </a:p>
        </p:txBody>
      </p:sp>
      <p:sp>
        <p:nvSpPr>
          <p:cNvPr id="7" name="TextBox 7"/>
          <p:cNvSpPr txBox="1"/>
          <p:nvPr/>
        </p:nvSpPr>
        <p:spPr>
          <a:xfrm>
            <a:off x="1028700" y="6229887"/>
            <a:ext cx="5673662" cy="438150"/>
          </a:xfrm>
          <a:prstGeom prst="rect">
            <a:avLst/>
          </a:prstGeom>
        </p:spPr>
        <p:txBody>
          <a:bodyPr lIns="0" tIns="0" rIns="0" bIns="0" rtlCol="0" anchor="t">
            <a:spAutoFit/>
          </a:bodyPr>
          <a:lstStyle/>
          <a:p>
            <a:pPr algn="ctr">
              <a:lnSpc>
                <a:spcPts val="3300"/>
              </a:lnSpc>
            </a:pPr>
            <a:r>
              <a:rPr lang="en-US" sz="3000" spc="96">
                <a:solidFill>
                  <a:srgbClr val="FFFFFF"/>
                </a:solidFill>
                <a:latin typeface="Open Sauce"/>
                <a:ea typeface="Open Sauce"/>
                <a:cs typeface="Open Sauce"/>
                <a:sym typeface="Open Sauce"/>
              </a:rPr>
              <a:t>NGUYỄN ĐĂNG VŨ NGUYÊN </a:t>
            </a:r>
          </a:p>
        </p:txBody>
      </p:sp>
      <p:sp>
        <p:nvSpPr>
          <p:cNvPr id="8" name="TextBox 8"/>
          <p:cNvSpPr txBox="1"/>
          <p:nvPr/>
        </p:nvSpPr>
        <p:spPr>
          <a:xfrm>
            <a:off x="7162158" y="6229887"/>
            <a:ext cx="4113798" cy="438150"/>
          </a:xfrm>
          <a:prstGeom prst="rect">
            <a:avLst/>
          </a:prstGeom>
        </p:spPr>
        <p:txBody>
          <a:bodyPr lIns="0" tIns="0" rIns="0" bIns="0" rtlCol="0" anchor="t">
            <a:spAutoFit/>
          </a:bodyPr>
          <a:lstStyle/>
          <a:p>
            <a:pPr algn="ctr">
              <a:lnSpc>
                <a:spcPts val="3300"/>
              </a:lnSpc>
            </a:pPr>
            <a:r>
              <a:rPr lang="en-US" sz="3000" b="1" spc="96">
                <a:solidFill>
                  <a:srgbClr val="FFFFFF"/>
                </a:solidFill>
                <a:latin typeface="Open Sauce Medium"/>
                <a:ea typeface="Open Sauce Medium"/>
                <a:cs typeface="Open Sauce Medium"/>
                <a:sym typeface="Open Sauce Medium"/>
              </a:rPr>
              <a:t>HUỲNH NHẬT NAM </a:t>
            </a:r>
          </a:p>
        </p:txBody>
      </p:sp>
      <p:sp>
        <p:nvSpPr>
          <p:cNvPr id="9" name="TextBox 9"/>
          <p:cNvSpPr txBox="1"/>
          <p:nvPr/>
        </p:nvSpPr>
        <p:spPr>
          <a:xfrm>
            <a:off x="12610858" y="6229886"/>
            <a:ext cx="4153971" cy="438150"/>
          </a:xfrm>
          <a:prstGeom prst="rect">
            <a:avLst/>
          </a:prstGeom>
        </p:spPr>
        <p:txBody>
          <a:bodyPr lIns="0" tIns="0" rIns="0" bIns="0" rtlCol="0" anchor="t">
            <a:spAutoFit/>
          </a:bodyPr>
          <a:lstStyle/>
          <a:p>
            <a:pPr algn="ctr">
              <a:lnSpc>
                <a:spcPts val="3300"/>
              </a:lnSpc>
            </a:pPr>
            <a:r>
              <a:rPr lang="en-US" sz="3000" b="1" spc="96">
                <a:solidFill>
                  <a:srgbClr val="FFFFFF"/>
                </a:solidFill>
                <a:latin typeface="Open Sauce Medium"/>
                <a:ea typeface="Open Sauce Medium"/>
                <a:cs typeface="Open Sauce Medium"/>
                <a:sym typeface="Open Sauce Medium"/>
              </a:rPr>
              <a:t>VƯƠNG ĐÌNH MINH</a:t>
            </a:r>
          </a:p>
        </p:txBody>
      </p:sp>
      <p:sp>
        <p:nvSpPr>
          <p:cNvPr id="10" name="TextBox 10"/>
          <p:cNvSpPr txBox="1"/>
          <p:nvPr/>
        </p:nvSpPr>
        <p:spPr>
          <a:xfrm>
            <a:off x="3713044" y="1562220"/>
            <a:ext cx="10610702" cy="1088390"/>
          </a:xfrm>
          <a:prstGeom prst="rect">
            <a:avLst/>
          </a:prstGeom>
        </p:spPr>
        <p:txBody>
          <a:bodyPr lIns="0" tIns="0" rIns="0" bIns="0" rtlCol="0" anchor="t">
            <a:spAutoFit/>
          </a:bodyPr>
          <a:lstStyle/>
          <a:p>
            <a:pPr algn="ctr">
              <a:lnSpc>
                <a:spcPts val="8470"/>
              </a:lnSpc>
            </a:pPr>
            <a:r>
              <a:rPr lang="en-US" sz="7700" b="1" spc="2194">
                <a:solidFill>
                  <a:srgbClr val="FFFFFF"/>
                </a:solidFill>
                <a:latin typeface="Open Sauce Medium"/>
                <a:ea typeface="Open Sauce Medium"/>
                <a:cs typeface="Open Sauce Medium"/>
                <a:sym typeface="Open Sauce Medium"/>
              </a:rPr>
              <a:t>THÀNH VIÊN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678397" y="1736821"/>
            <a:ext cx="637676" cy="460286"/>
          </a:xfrm>
          <a:custGeom>
            <a:avLst/>
            <a:gdLst/>
            <a:ahLst/>
            <a:cxnLst/>
            <a:rect l="l" t="t" r="r" b="b"/>
            <a:pathLst>
              <a:path w="637676" h="460286">
                <a:moveTo>
                  <a:pt x="0" y="0"/>
                </a:moveTo>
                <a:lnTo>
                  <a:pt x="637677" y="0"/>
                </a:lnTo>
                <a:lnTo>
                  <a:pt x="637677" y="460286"/>
                </a:lnTo>
                <a:lnTo>
                  <a:pt x="0" y="46028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0201798" y="1634749"/>
            <a:ext cx="506174" cy="664429"/>
          </a:xfrm>
          <a:custGeom>
            <a:avLst/>
            <a:gdLst/>
            <a:ahLst/>
            <a:cxnLst/>
            <a:rect l="l" t="t" r="r" b="b"/>
            <a:pathLst>
              <a:path w="506174" h="664429">
                <a:moveTo>
                  <a:pt x="0" y="0"/>
                </a:moveTo>
                <a:lnTo>
                  <a:pt x="506174" y="0"/>
                </a:lnTo>
                <a:lnTo>
                  <a:pt x="506174" y="664430"/>
                </a:lnTo>
                <a:lnTo>
                  <a:pt x="0" y="6644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1598123" y="1685785"/>
            <a:ext cx="573835" cy="562358"/>
          </a:xfrm>
          <a:custGeom>
            <a:avLst/>
            <a:gdLst/>
            <a:ahLst/>
            <a:cxnLst/>
            <a:rect l="l" t="t" r="r" b="b"/>
            <a:pathLst>
              <a:path w="573835" h="562358">
                <a:moveTo>
                  <a:pt x="0" y="0"/>
                </a:moveTo>
                <a:lnTo>
                  <a:pt x="573835" y="0"/>
                </a:lnTo>
                <a:lnTo>
                  <a:pt x="573835" y="562358"/>
                </a:lnTo>
                <a:lnTo>
                  <a:pt x="0" y="56235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4625834" y="1634749"/>
            <a:ext cx="443356" cy="664429"/>
          </a:xfrm>
          <a:custGeom>
            <a:avLst/>
            <a:gdLst/>
            <a:ahLst/>
            <a:cxnLst/>
            <a:rect l="l" t="t" r="r" b="b"/>
            <a:pathLst>
              <a:path w="443356" h="664429">
                <a:moveTo>
                  <a:pt x="0" y="0"/>
                </a:moveTo>
                <a:lnTo>
                  <a:pt x="443356" y="0"/>
                </a:lnTo>
                <a:lnTo>
                  <a:pt x="443356" y="664430"/>
                </a:lnTo>
                <a:lnTo>
                  <a:pt x="0" y="66443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13098795" y="1681883"/>
            <a:ext cx="540100" cy="570163"/>
          </a:xfrm>
          <a:custGeom>
            <a:avLst/>
            <a:gdLst/>
            <a:ahLst/>
            <a:cxnLst/>
            <a:rect l="l" t="t" r="r" b="b"/>
            <a:pathLst>
              <a:path w="540100" h="570163">
                <a:moveTo>
                  <a:pt x="0" y="0"/>
                </a:moveTo>
                <a:lnTo>
                  <a:pt x="540099" y="0"/>
                </a:lnTo>
                <a:lnTo>
                  <a:pt x="540099" y="570162"/>
                </a:lnTo>
                <a:lnTo>
                  <a:pt x="0" y="57016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16014922" y="1634749"/>
            <a:ext cx="591946" cy="664429"/>
          </a:xfrm>
          <a:custGeom>
            <a:avLst/>
            <a:gdLst/>
            <a:ahLst/>
            <a:cxnLst/>
            <a:rect l="l" t="t" r="r" b="b"/>
            <a:pathLst>
              <a:path w="591946" h="664429">
                <a:moveTo>
                  <a:pt x="0" y="0"/>
                </a:moveTo>
                <a:lnTo>
                  <a:pt x="591946" y="0"/>
                </a:lnTo>
                <a:lnTo>
                  <a:pt x="591946" y="664430"/>
                </a:lnTo>
                <a:lnTo>
                  <a:pt x="0" y="66443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Freeform 8"/>
          <p:cNvSpPr/>
          <p:nvPr/>
        </p:nvSpPr>
        <p:spPr>
          <a:xfrm>
            <a:off x="8672651" y="8069686"/>
            <a:ext cx="643423" cy="500700"/>
          </a:xfrm>
          <a:custGeom>
            <a:avLst/>
            <a:gdLst/>
            <a:ahLst/>
            <a:cxnLst/>
            <a:rect l="l" t="t" r="r" b="b"/>
            <a:pathLst>
              <a:path w="643423" h="500700">
                <a:moveTo>
                  <a:pt x="0" y="0"/>
                </a:moveTo>
                <a:lnTo>
                  <a:pt x="643423" y="0"/>
                </a:lnTo>
                <a:lnTo>
                  <a:pt x="643423" y="500700"/>
                </a:lnTo>
                <a:lnTo>
                  <a:pt x="0" y="500700"/>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9" name="Freeform 9"/>
          <p:cNvSpPr/>
          <p:nvPr/>
        </p:nvSpPr>
        <p:spPr>
          <a:xfrm>
            <a:off x="10321999" y="7987821"/>
            <a:ext cx="265772" cy="664429"/>
          </a:xfrm>
          <a:custGeom>
            <a:avLst/>
            <a:gdLst/>
            <a:ahLst/>
            <a:cxnLst/>
            <a:rect l="l" t="t" r="r" b="b"/>
            <a:pathLst>
              <a:path w="265772" h="664429">
                <a:moveTo>
                  <a:pt x="0" y="0"/>
                </a:moveTo>
                <a:lnTo>
                  <a:pt x="265772" y="0"/>
                </a:lnTo>
                <a:lnTo>
                  <a:pt x="265772" y="664430"/>
                </a:lnTo>
                <a:lnTo>
                  <a:pt x="0" y="664430"/>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0" name="Freeform 10"/>
          <p:cNvSpPr/>
          <p:nvPr/>
        </p:nvSpPr>
        <p:spPr>
          <a:xfrm>
            <a:off x="11543407" y="8086483"/>
            <a:ext cx="683268" cy="467107"/>
          </a:xfrm>
          <a:custGeom>
            <a:avLst/>
            <a:gdLst/>
            <a:ahLst/>
            <a:cxnLst/>
            <a:rect l="l" t="t" r="r" b="b"/>
            <a:pathLst>
              <a:path w="683268" h="467107">
                <a:moveTo>
                  <a:pt x="0" y="0"/>
                </a:moveTo>
                <a:lnTo>
                  <a:pt x="683267" y="0"/>
                </a:lnTo>
                <a:lnTo>
                  <a:pt x="683267" y="467106"/>
                </a:lnTo>
                <a:lnTo>
                  <a:pt x="0" y="467106"/>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11" name="Freeform 11"/>
          <p:cNvSpPr/>
          <p:nvPr/>
        </p:nvSpPr>
        <p:spPr>
          <a:xfrm>
            <a:off x="14564698" y="8038764"/>
            <a:ext cx="565628" cy="562543"/>
          </a:xfrm>
          <a:custGeom>
            <a:avLst/>
            <a:gdLst/>
            <a:ahLst/>
            <a:cxnLst/>
            <a:rect l="l" t="t" r="r" b="b"/>
            <a:pathLst>
              <a:path w="565628" h="562543">
                <a:moveTo>
                  <a:pt x="0" y="0"/>
                </a:moveTo>
                <a:lnTo>
                  <a:pt x="565628" y="0"/>
                </a:lnTo>
                <a:lnTo>
                  <a:pt x="565628" y="562544"/>
                </a:lnTo>
                <a:lnTo>
                  <a:pt x="0" y="562544"/>
                </a:lnTo>
                <a:lnTo>
                  <a:pt x="0" y="0"/>
                </a:lnTo>
                <a:close/>
              </a:path>
            </a:pathLst>
          </a:custGeom>
          <a:blipFill>
            <a:blip>
              <a:extLst>
                <a:ext uri="{96DAC541-7B7A-43D3-8B79-37D633B846F1}">
                  <asvg:svgBlip xmlns:asvg="http://schemas.microsoft.com/office/drawing/2016/SVG/main" r:embed="rId11"/>
                </a:ext>
              </a:extLst>
            </a:blip>
            <a:stretch>
              <a:fillRect/>
            </a:stretch>
          </a:blipFill>
        </p:spPr>
      </p:sp>
      <p:sp>
        <p:nvSpPr>
          <p:cNvPr id="12" name="Freeform 12"/>
          <p:cNvSpPr/>
          <p:nvPr/>
        </p:nvSpPr>
        <p:spPr>
          <a:xfrm>
            <a:off x="13247435" y="7987821"/>
            <a:ext cx="242819" cy="664429"/>
          </a:xfrm>
          <a:custGeom>
            <a:avLst/>
            <a:gdLst/>
            <a:ahLst/>
            <a:cxnLst/>
            <a:rect l="l" t="t" r="r" b="b"/>
            <a:pathLst>
              <a:path w="242819" h="664429">
                <a:moveTo>
                  <a:pt x="0" y="0"/>
                </a:moveTo>
                <a:lnTo>
                  <a:pt x="242819" y="0"/>
                </a:lnTo>
                <a:lnTo>
                  <a:pt x="242819" y="664430"/>
                </a:lnTo>
                <a:lnTo>
                  <a:pt x="0" y="664430"/>
                </a:lnTo>
                <a:lnTo>
                  <a:pt x="0" y="0"/>
                </a:lnTo>
                <a:close/>
              </a:path>
            </a:pathLst>
          </a:custGeom>
          <a:blipFill>
            <a:blip>
              <a:extLst>
                <a:ext uri="{96DAC541-7B7A-43D3-8B79-37D633B846F1}">
                  <asvg:svgBlip xmlns:asvg="http://schemas.microsoft.com/office/drawing/2016/SVG/main" r:embed="rId12"/>
                </a:ext>
              </a:extLst>
            </a:blip>
            <a:stretch>
              <a:fillRect/>
            </a:stretch>
          </a:blipFill>
        </p:spPr>
      </p:sp>
      <p:sp>
        <p:nvSpPr>
          <p:cNvPr id="13" name="Freeform 13"/>
          <p:cNvSpPr/>
          <p:nvPr/>
        </p:nvSpPr>
        <p:spPr>
          <a:xfrm>
            <a:off x="16014922" y="8035364"/>
            <a:ext cx="591946" cy="569344"/>
          </a:xfrm>
          <a:custGeom>
            <a:avLst/>
            <a:gdLst/>
            <a:ahLst/>
            <a:cxnLst/>
            <a:rect l="l" t="t" r="r" b="b"/>
            <a:pathLst>
              <a:path w="591946" h="569344">
                <a:moveTo>
                  <a:pt x="0" y="0"/>
                </a:moveTo>
                <a:lnTo>
                  <a:pt x="591946" y="0"/>
                </a:lnTo>
                <a:lnTo>
                  <a:pt x="591946" y="569344"/>
                </a:lnTo>
                <a:lnTo>
                  <a:pt x="0" y="569344"/>
                </a:lnTo>
                <a:lnTo>
                  <a:pt x="0" y="0"/>
                </a:lnTo>
                <a:close/>
              </a:path>
            </a:pathLst>
          </a:custGeom>
          <a:blipFill>
            <a:blip>
              <a:extLst>
                <a:ext uri="{96DAC541-7B7A-43D3-8B79-37D633B846F1}">
                  <asvg:svgBlip xmlns:asvg="http://schemas.microsoft.com/office/drawing/2016/SVG/main" r:embed="rId13"/>
                </a:ext>
              </a:extLst>
            </a:blip>
            <a:stretch>
              <a:fillRect/>
            </a:stretch>
          </a:blipFill>
        </p:spPr>
      </p:sp>
      <p:sp>
        <p:nvSpPr>
          <p:cNvPr id="14" name="Freeform 14"/>
          <p:cNvSpPr/>
          <p:nvPr/>
        </p:nvSpPr>
        <p:spPr>
          <a:xfrm>
            <a:off x="8805759" y="6399553"/>
            <a:ext cx="382953" cy="664429"/>
          </a:xfrm>
          <a:custGeom>
            <a:avLst/>
            <a:gdLst/>
            <a:ahLst/>
            <a:cxnLst/>
            <a:rect l="l" t="t" r="r" b="b"/>
            <a:pathLst>
              <a:path w="382953" h="664429">
                <a:moveTo>
                  <a:pt x="0" y="0"/>
                </a:moveTo>
                <a:lnTo>
                  <a:pt x="382953" y="0"/>
                </a:lnTo>
                <a:lnTo>
                  <a:pt x="382953" y="664430"/>
                </a:lnTo>
                <a:lnTo>
                  <a:pt x="0" y="664430"/>
                </a:lnTo>
                <a:lnTo>
                  <a:pt x="0" y="0"/>
                </a:lnTo>
                <a:close/>
              </a:path>
            </a:pathLst>
          </a:custGeom>
          <a:blipFill>
            <a:blip>
              <a:extLst>
                <a:ext uri="{96DAC541-7B7A-43D3-8B79-37D633B846F1}">
                  <asvg:svgBlip xmlns:asvg="http://schemas.microsoft.com/office/drawing/2016/SVG/main" r:embed="rId14"/>
                </a:ext>
              </a:extLst>
            </a:blip>
            <a:stretch>
              <a:fillRect/>
            </a:stretch>
          </a:blipFill>
        </p:spPr>
      </p:sp>
      <p:sp>
        <p:nvSpPr>
          <p:cNvPr id="15" name="Freeform 15"/>
          <p:cNvSpPr/>
          <p:nvPr/>
        </p:nvSpPr>
        <p:spPr>
          <a:xfrm>
            <a:off x="10222939" y="6399553"/>
            <a:ext cx="463892" cy="664429"/>
          </a:xfrm>
          <a:custGeom>
            <a:avLst/>
            <a:gdLst/>
            <a:ahLst/>
            <a:cxnLst/>
            <a:rect l="l" t="t" r="r" b="b"/>
            <a:pathLst>
              <a:path w="463892" h="664429">
                <a:moveTo>
                  <a:pt x="0" y="0"/>
                </a:moveTo>
                <a:lnTo>
                  <a:pt x="463892" y="0"/>
                </a:lnTo>
                <a:lnTo>
                  <a:pt x="463892" y="664430"/>
                </a:lnTo>
                <a:lnTo>
                  <a:pt x="0" y="664430"/>
                </a:lnTo>
                <a:lnTo>
                  <a:pt x="0" y="0"/>
                </a:lnTo>
                <a:close/>
              </a:path>
            </a:pathLst>
          </a:custGeom>
          <a:blipFill>
            <a:blip>
              <a:extLst>
                <a:ext uri="{96DAC541-7B7A-43D3-8B79-37D633B846F1}">
                  <asvg:svgBlip xmlns:asvg="http://schemas.microsoft.com/office/drawing/2016/SVG/main" r:embed="rId15"/>
                </a:ext>
              </a:extLst>
            </a:blip>
            <a:stretch>
              <a:fillRect/>
            </a:stretch>
          </a:blipFill>
        </p:spPr>
      </p:sp>
      <p:sp>
        <p:nvSpPr>
          <p:cNvPr id="16" name="Freeform 16"/>
          <p:cNvSpPr/>
          <p:nvPr/>
        </p:nvSpPr>
        <p:spPr>
          <a:xfrm>
            <a:off x="11635578" y="6399553"/>
            <a:ext cx="498926" cy="664429"/>
          </a:xfrm>
          <a:custGeom>
            <a:avLst/>
            <a:gdLst/>
            <a:ahLst/>
            <a:cxnLst/>
            <a:rect l="l" t="t" r="r" b="b"/>
            <a:pathLst>
              <a:path w="498926" h="664429">
                <a:moveTo>
                  <a:pt x="0" y="0"/>
                </a:moveTo>
                <a:lnTo>
                  <a:pt x="498925" y="0"/>
                </a:lnTo>
                <a:lnTo>
                  <a:pt x="498925" y="664430"/>
                </a:lnTo>
                <a:lnTo>
                  <a:pt x="0" y="664430"/>
                </a:lnTo>
                <a:lnTo>
                  <a:pt x="0" y="0"/>
                </a:lnTo>
                <a:close/>
              </a:path>
            </a:pathLst>
          </a:custGeom>
          <a:blipFill>
            <a:blip>
              <a:extLst>
                <a:ext uri="{96DAC541-7B7A-43D3-8B79-37D633B846F1}">
                  <asvg:svgBlip xmlns:asvg="http://schemas.microsoft.com/office/drawing/2016/SVG/main" r:embed="rId16"/>
                </a:ext>
              </a:extLst>
            </a:blip>
            <a:stretch>
              <a:fillRect/>
            </a:stretch>
          </a:blipFill>
        </p:spPr>
      </p:sp>
      <p:sp>
        <p:nvSpPr>
          <p:cNvPr id="17" name="Freeform 17"/>
          <p:cNvSpPr/>
          <p:nvPr/>
        </p:nvSpPr>
        <p:spPr>
          <a:xfrm>
            <a:off x="14591405" y="6399553"/>
            <a:ext cx="512215" cy="664429"/>
          </a:xfrm>
          <a:custGeom>
            <a:avLst/>
            <a:gdLst/>
            <a:ahLst/>
            <a:cxnLst/>
            <a:rect l="l" t="t" r="r" b="b"/>
            <a:pathLst>
              <a:path w="512215" h="664429">
                <a:moveTo>
                  <a:pt x="0" y="0"/>
                </a:moveTo>
                <a:lnTo>
                  <a:pt x="512214" y="0"/>
                </a:lnTo>
                <a:lnTo>
                  <a:pt x="512214" y="664430"/>
                </a:lnTo>
                <a:lnTo>
                  <a:pt x="0" y="664430"/>
                </a:lnTo>
                <a:lnTo>
                  <a:pt x="0" y="0"/>
                </a:lnTo>
                <a:close/>
              </a:path>
            </a:pathLst>
          </a:custGeom>
          <a:blipFill>
            <a:blip>
              <a:extLst>
                <a:ext uri="{96DAC541-7B7A-43D3-8B79-37D633B846F1}">
                  <asvg:svgBlip xmlns:asvg="http://schemas.microsoft.com/office/drawing/2016/SVG/main" r:embed="rId17"/>
                </a:ext>
              </a:extLst>
            </a:blip>
            <a:stretch>
              <a:fillRect/>
            </a:stretch>
          </a:blipFill>
        </p:spPr>
      </p:sp>
      <p:sp>
        <p:nvSpPr>
          <p:cNvPr id="18" name="Freeform 18"/>
          <p:cNvSpPr/>
          <p:nvPr/>
        </p:nvSpPr>
        <p:spPr>
          <a:xfrm>
            <a:off x="13222670" y="6399553"/>
            <a:ext cx="292349" cy="664429"/>
          </a:xfrm>
          <a:custGeom>
            <a:avLst/>
            <a:gdLst/>
            <a:ahLst/>
            <a:cxnLst/>
            <a:rect l="l" t="t" r="r" b="b"/>
            <a:pathLst>
              <a:path w="292349" h="664429">
                <a:moveTo>
                  <a:pt x="0" y="0"/>
                </a:moveTo>
                <a:lnTo>
                  <a:pt x="292349" y="0"/>
                </a:lnTo>
                <a:lnTo>
                  <a:pt x="292349" y="664430"/>
                </a:lnTo>
                <a:lnTo>
                  <a:pt x="0" y="664430"/>
                </a:lnTo>
                <a:lnTo>
                  <a:pt x="0" y="0"/>
                </a:lnTo>
                <a:close/>
              </a:path>
            </a:pathLst>
          </a:custGeom>
          <a:blipFill>
            <a:blip>
              <a:extLst>
                <a:ext uri="{96DAC541-7B7A-43D3-8B79-37D633B846F1}">
                  <asvg:svgBlip xmlns:asvg="http://schemas.microsoft.com/office/drawing/2016/SVG/main" r:embed="rId18"/>
                </a:ext>
              </a:extLst>
            </a:blip>
            <a:stretch>
              <a:fillRect/>
            </a:stretch>
          </a:blipFill>
        </p:spPr>
      </p:sp>
      <p:sp>
        <p:nvSpPr>
          <p:cNvPr id="19" name="Freeform 19"/>
          <p:cNvSpPr/>
          <p:nvPr/>
        </p:nvSpPr>
        <p:spPr>
          <a:xfrm>
            <a:off x="16052096" y="6472969"/>
            <a:ext cx="517597" cy="517597"/>
          </a:xfrm>
          <a:custGeom>
            <a:avLst/>
            <a:gdLst/>
            <a:ahLst/>
            <a:cxnLst/>
            <a:rect l="l" t="t" r="r" b="b"/>
            <a:pathLst>
              <a:path w="517597" h="517597">
                <a:moveTo>
                  <a:pt x="0" y="0"/>
                </a:moveTo>
                <a:lnTo>
                  <a:pt x="517598" y="0"/>
                </a:lnTo>
                <a:lnTo>
                  <a:pt x="517598" y="517598"/>
                </a:lnTo>
                <a:lnTo>
                  <a:pt x="0" y="517598"/>
                </a:lnTo>
                <a:lnTo>
                  <a:pt x="0" y="0"/>
                </a:lnTo>
                <a:close/>
              </a:path>
            </a:pathLst>
          </a:custGeom>
          <a:blipFill>
            <a:blip>
              <a:extLst>
                <a:ext uri="{96DAC541-7B7A-43D3-8B79-37D633B846F1}">
                  <asvg:svgBlip xmlns:asvg="http://schemas.microsoft.com/office/drawing/2016/SVG/main" r:embed="rId19"/>
                </a:ext>
              </a:extLst>
            </a:blip>
            <a:stretch>
              <a:fillRect/>
            </a:stretch>
          </a:blipFill>
        </p:spPr>
      </p:sp>
      <p:sp>
        <p:nvSpPr>
          <p:cNvPr id="20" name="Freeform 20"/>
          <p:cNvSpPr/>
          <p:nvPr/>
        </p:nvSpPr>
        <p:spPr>
          <a:xfrm>
            <a:off x="8697612" y="4851504"/>
            <a:ext cx="599246" cy="583992"/>
          </a:xfrm>
          <a:custGeom>
            <a:avLst/>
            <a:gdLst/>
            <a:ahLst/>
            <a:cxnLst/>
            <a:rect l="l" t="t" r="r" b="b"/>
            <a:pathLst>
              <a:path w="599246" h="583992">
                <a:moveTo>
                  <a:pt x="0" y="0"/>
                </a:moveTo>
                <a:lnTo>
                  <a:pt x="599246" y="0"/>
                </a:lnTo>
                <a:lnTo>
                  <a:pt x="599246" y="583992"/>
                </a:lnTo>
                <a:lnTo>
                  <a:pt x="0" y="583992"/>
                </a:lnTo>
                <a:lnTo>
                  <a:pt x="0" y="0"/>
                </a:lnTo>
                <a:close/>
              </a:path>
            </a:pathLst>
          </a:custGeom>
          <a:blipFill>
            <a:blip>
              <a:extLst>
                <a:ext uri="{96DAC541-7B7A-43D3-8B79-37D633B846F1}">
                  <asvg:svgBlip xmlns:asvg="http://schemas.microsoft.com/office/drawing/2016/SVG/main" r:embed="rId20"/>
                </a:ext>
              </a:extLst>
            </a:blip>
            <a:stretch>
              <a:fillRect/>
            </a:stretch>
          </a:blipFill>
        </p:spPr>
      </p:sp>
      <p:sp>
        <p:nvSpPr>
          <p:cNvPr id="21" name="Freeform 21"/>
          <p:cNvSpPr/>
          <p:nvPr/>
        </p:nvSpPr>
        <p:spPr>
          <a:xfrm>
            <a:off x="10210858" y="4811285"/>
            <a:ext cx="488053" cy="664429"/>
          </a:xfrm>
          <a:custGeom>
            <a:avLst/>
            <a:gdLst/>
            <a:ahLst/>
            <a:cxnLst/>
            <a:rect l="l" t="t" r="r" b="b"/>
            <a:pathLst>
              <a:path w="488053" h="664429">
                <a:moveTo>
                  <a:pt x="0" y="0"/>
                </a:moveTo>
                <a:lnTo>
                  <a:pt x="488053" y="0"/>
                </a:lnTo>
                <a:lnTo>
                  <a:pt x="488053" y="664430"/>
                </a:lnTo>
                <a:lnTo>
                  <a:pt x="0" y="664430"/>
                </a:lnTo>
                <a:lnTo>
                  <a:pt x="0" y="0"/>
                </a:lnTo>
                <a:close/>
              </a:path>
            </a:pathLst>
          </a:custGeom>
          <a:blipFill>
            <a:blip>
              <a:extLst>
                <a:ext uri="{96DAC541-7B7A-43D3-8B79-37D633B846F1}">
                  <asvg:svgBlip xmlns:asvg="http://schemas.microsoft.com/office/drawing/2016/SVG/main" r:embed="rId21"/>
                </a:ext>
              </a:extLst>
            </a:blip>
            <a:stretch>
              <a:fillRect/>
            </a:stretch>
          </a:blipFill>
        </p:spPr>
      </p:sp>
      <p:sp>
        <p:nvSpPr>
          <p:cNvPr id="22" name="Freeform 22"/>
          <p:cNvSpPr/>
          <p:nvPr/>
        </p:nvSpPr>
        <p:spPr>
          <a:xfrm>
            <a:off x="11589672" y="4811285"/>
            <a:ext cx="590738" cy="664429"/>
          </a:xfrm>
          <a:custGeom>
            <a:avLst/>
            <a:gdLst/>
            <a:ahLst/>
            <a:cxnLst/>
            <a:rect l="l" t="t" r="r" b="b"/>
            <a:pathLst>
              <a:path w="590738" h="664429">
                <a:moveTo>
                  <a:pt x="0" y="0"/>
                </a:moveTo>
                <a:lnTo>
                  <a:pt x="590738" y="0"/>
                </a:lnTo>
                <a:lnTo>
                  <a:pt x="590738" y="664430"/>
                </a:lnTo>
                <a:lnTo>
                  <a:pt x="0" y="664430"/>
                </a:lnTo>
                <a:lnTo>
                  <a:pt x="0" y="0"/>
                </a:lnTo>
                <a:close/>
              </a:path>
            </a:pathLst>
          </a:custGeom>
          <a:blipFill>
            <a:blip>
              <a:extLst>
                <a:ext uri="{96DAC541-7B7A-43D3-8B79-37D633B846F1}">
                  <asvg:svgBlip xmlns:asvg="http://schemas.microsoft.com/office/drawing/2016/SVG/main" r:embed="rId22"/>
                </a:ext>
              </a:extLst>
            </a:blip>
            <a:stretch>
              <a:fillRect/>
            </a:stretch>
          </a:blipFill>
        </p:spPr>
      </p:sp>
      <p:sp>
        <p:nvSpPr>
          <p:cNvPr id="23" name="Freeform 23"/>
          <p:cNvSpPr/>
          <p:nvPr/>
        </p:nvSpPr>
        <p:spPr>
          <a:xfrm>
            <a:off x="14587780" y="4811285"/>
            <a:ext cx="519463" cy="664429"/>
          </a:xfrm>
          <a:custGeom>
            <a:avLst/>
            <a:gdLst/>
            <a:ahLst/>
            <a:cxnLst/>
            <a:rect l="l" t="t" r="r" b="b"/>
            <a:pathLst>
              <a:path w="519463" h="664429">
                <a:moveTo>
                  <a:pt x="0" y="0"/>
                </a:moveTo>
                <a:lnTo>
                  <a:pt x="519463" y="0"/>
                </a:lnTo>
                <a:lnTo>
                  <a:pt x="519463" y="664430"/>
                </a:lnTo>
                <a:lnTo>
                  <a:pt x="0" y="664430"/>
                </a:lnTo>
                <a:lnTo>
                  <a:pt x="0" y="0"/>
                </a:lnTo>
                <a:close/>
              </a:path>
            </a:pathLst>
          </a:custGeom>
          <a:blipFill>
            <a:blip>
              <a:extLst>
                <a:ext uri="{96DAC541-7B7A-43D3-8B79-37D633B846F1}">
                  <asvg:svgBlip xmlns:asvg="http://schemas.microsoft.com/office/drawing/2016/SVG/main" r:embed="rId23"/>
                </a:ext>
              </a:extLst>
            </a:blip>
            <a:stretch>
              <a:fillRect/>
            </a:stretch>
          </a:blipFill>
        </p:spPr>
      </p:sp>
      <p:sp>
        <p:nvSpPr>
          <p:cNvPr id="24" name="Freeform 24"/>
          <p:cNvSpPr/>
          <p:nvPr/>
        </p:nvSpPr>
        <p:spPr>
          <a:xfrm>
            <a:off x="13024095" y="4865193"/>
            <a:ext cx="689500" cy="556614"/>
          </a:xfrm>
          <a:custGeom>
            <a:avLst/>
            <a:gdLst/>
            <a:ahLst/>
            <a:cxnLst/>
            <a:rect l="l" t="t" r="r" b="b"/>
            <a:pathLst>
              <a:path w="689500" h="556614">
                <a:moveTo>
                  <a:pt x="0" y="0"/>
                </a:moveTo>
                <a:lnTo>
                  <a:pt x="689499" y="0"/>
                </a:lnTo>
                <a:lnTo>
                  <a:pt x="689499" y="556614"/>
                </a:lnTo>
                <a:lnTo>
                  <a:pt x="0" y="556614"/>
                </a:lnTo>
                <a:lnTo>
                  <a:pt x="0" y="0"/>
                </a:lnTo>
                <a:close/>
              </a:path>
            </a:pathLst>
          </a:custGeom>
          <a:blipFill>
            <a:blip>
              <a:extLst>
                <a:ext uri="{96DAC541-7B7A-43D3-8B79-37D633B846F1}">
                  <asvg:svgBlip xmlns:asvg="http://schemas.microsoft.com/office/drawing/2016/SVG/main" r:embed="rId24"/>
                </a:ext>
              </a:extLst>
            </a:blip>
            <a:stretch>
              <a:fillRect/>
            </a:stretch>
          </a:blipFill>
        </p:spPr>
      </p:sp>
      <p:sp>
        <p:nvSpPr>
          <p:cNvPr id="25" name="Freeform 25"/>
          <p:cNvSpPr/>
          <p:nvPr/>
        </p:nvSpPr>
        <p:spPr>
          <a:xfrm>
            <a:off x="15981429" y="4909879"/>
            <a:ext cx="658931" cy="467242"/>
          </a:xfrm>
          <a:custGeom>
            <a:avLst/>
            <a:gdLst/>
            <a:ahLst/>
            <a:cxnLst/>
            <a:rect l="l" t="t" r="r" b="b"/>
            <a:pathLst>
              <a:path w="658931" h="467242">
                <a:moveTo>
                  <a:pt x="0" y="0"/>
                </a:moveTo>
                <a:lnTo>
                  <a:pt x="658932" y="0"/>
                </a:lnTo>
                <a:lnTo>
                  <a:pt x="658932" y="467242"/>
                </a:lnTo>
                <a:lnTo>
                  <a:pt x="0" y="467242"/>
                </a:lnTo>
                <a:lnTo>
                  <a:pt x="0" y="0"/>
                </a:lnTo>
                <a:close/>
              </a:path>
            </a:pathLst>
          </a:custGeom>
          <a:blipFill>
            <a:blip>
              <a:extLst>
                <a:ext uri="{96DAC541-7B7A-43D3-8B79-37D633B846F1}">
                  <asvg:svgBlip xmlns:asvg="http://schemas.microsoft.com/office/drawing/2016/SVG/main" r:embed="rId25"/>
                </a:ext>
              </a:extLst>
            </a:blip>
            <a:stretch>
              <a:fillRect/>
            </a:stretch>
          </a:blipFill>
        </p:spPr>
      </p:sp>
      <p:sp>
        <p:nvSpPr>
          <p:cNvPr id="26" name="Freeform 26"/>
          <p:cNvSpPr/>
          <p:nvPr/>
        </p:nvSpPr>
        <p:spPr>
          <a:xfrm>
            <a:off x="8628108" y="3223017"/>
            <a:ext cx="738255" cy="664429"/>
          </a:xfrm>
          <a:custGeom>
            <a:avLst/>
            <a:gdLst/>
            <a:ahLst/>
            <a:cxnLst/>
            <a:rect l="l" t="t" r="r" b="b"/>
            <a:pathLst>
              <a:path w="738255" h="664429">
                <a:moveTo>
                  <a:pt x="0" y="0"/>
                </a:moveTo>
                <a:lnTo>
                  <a:pt x="738255" y="0"/>
                </a:lnTo>
                <a:lnTo>
                  <a:pt x="738255" y="664430"/>
                </a:lnTo>
                <a:lnTo>
                  <a:pt x="0" y="664430"/>
                </a:lnTo>
                <a:lnTo>
                  <a:pt x="0" y="0"/>
                </a:lnTo>
                <a:close/>
              </a:path>
            </a:pathLst>
          </a:custGeom>
          <a:blipFill>
            <a:blip>
              <a:extLst>
                <a:ext uri="{96DAC541-7B7A-43D3-8B79-37D633B846F1}">
                  <asvg:svgBlip xmlns:asvg="http://schemas.microsoft.com/office/drawing/2016/SVG/main" r:embed="rId26"/>
                </a:ext>
              </a:extLst>
            </a:blip>
            <a:stretch>
              <a:fillRect/>
            </a:stretch>
          </a:blipFill>
        </p:spPr>
      </p:sp>
      <p:sp>
        <p:nvSpPr>
          <p:cNvPr id="27" name="Freeform 27"/>
          <p:cNvSpPr/>
          <p:nvPr/>
        </p:nvSpPr>
        <p:spPr>
          <a:xfrm>
            <a:off x="10163783" y="3255969"/>
            <a:ext cx="582204" cy="598527"/>
          </a:xfrm>
          <a:custGeom>
            <a:avLst/>
            <a:gdLst/>
            <a:ahLst/>
            <a:cxnLst/>
            <a:rect l="l" t="t" r="r" b="b"/>
            <a:pathLst>
              <a:path w="582204" h="598527">
                <a:moveTo>
                  <a:pt x="0" y="0"/>
                </a:moveTo>
                <a:lnTo>
                  <a:pt x="582203" y="0"/>
                </a:lnTo>
                <a:lnTo>
                  <a:pt x="582203" y="598527"/>
                </a:lnTo>
                <a:lnTo>
                  <a:pt x="0" y="598527"/>
                </a:lnTo>
                <a:lnTo>
                  <a:pt x="0" y="0"/>
                </a:lnTo>
                <a:close/>
              </a:path>
            </a:pathLst>
          </a:custGeom>
          <a:blipFill>
            <a:blip>
              <a:extLst>
                <a:ext uri="{96DAC541-7B7A-43D3-8B79-37D633B846F1}">
                  <asvg:svgBlip xmlns:asvg="http://schemas.microsoft.com/office/drawing/2016/SVG/main" r:embed="rId27"/>
                </a:ext>
              </a:extLst>
            </a:blip>
            <a:stretch>
              <a:fillRect/>
            </a:stretch>
          </a:blipFill>
        </p:spPr>
      </p:sp>
      <p:sp>
        <p:nvSpPr>
          <p:cNvPr id="28" name="Freeform 28"/>
          <p:cNvSpPr/>
          <p:nvPr/>
        </p:nvSpPr>
        <p:spPr>
          <a:xfrm>
            <a:off x="11576232" y="3255969"/>
            <a:ext cx="617617" cy="598527"/>
          </a:xfrm>
          <a:custGeom>
            <a:avLst/>
            <a:gdLst/>
            <a:ahLst/>
            <a:cxnLst/>
            <a:rect l="l" t="t" r="r" b="b"/>
            <a:pathLst>
              <a:path w="617617" h="598527">
                <a:moveTo>
                  <a:pt x="0" y="0"/>
                </a:moveTo>
                <a:lnTo>
                  <a:pt x="617617" y="0"/>
                </a:lnTo>
                <a:lnTo>
                  <a:pt x="617617" y="598527"/>
                </a:lnTo>
                <a:lnTo>
                  <a:pt x="0" y="598527"/>
                </a:lnTo>
                <a:lnTo>
                  <a:pt x="0" y="0"/>
                </a:lnTo>
                <a:close/>
              </a:path>
            </a:pathLst>
          </a:custGeom>
          <a:blipFill>
            <a:blip>
              <a:extLst>
                <a:ext uri="{96DAC541-7B7A-43D3-8B79-37D633B846F1}">
                  <asvg:svgBlip xmlns:asvg="http://schemas.microsoft.com/office/drawing/2016/SVG/main" r:embed="rId28"/>
                </a:ext>
              </a:extLst>
            </a:blip>
            <a:stretch>
              <a:fillRect/>
            </a:stretch>
          </a:blipFill>
        </p:spPr>
      </p:sp>
      <p:sp>
        <p:nvSpPr>
          <p:cNvPr id="29" name="Freeform 29"/>
          <p:cNvSpPr/>
          <p:nvPr/>
        </p:nvSpPr>
        <p:spPr>
          <a:xfrm>
            <a:off x="14511015" y="3223017"/>
            <a:ext cx="672995" cy="664429"/>
          </a:xfrm>
          <a:custGeom>
            <a:avLst/>
            <a:gdLst/>
            <a:ahLst/>
            <a:cxnLst/>
            <a:rect l="l" t="t" r="r" b="b"/>
            <a:pathLst>
              <a:path w="672995" h="664429">
                <a:moveTo>
                  <a:pt x="0" y="0"/>
                </a:moveTo>
                <a:lnTo>
                  <a:pt x="672994" y="0"/>
                </a:lnTo>
                <a:lnTo>
                  <a:pt x="672994" y="664430"/>
                </a:lnTo>
                <a:lnTo>
                  <a:pt x="0" y="664430"/>
                </a:lnTo>
                <a:lnTo>
                  <a:pt x="0" y="0"/>
                </a:lnTo>
                <a:close/>
              </a:path>
            </a:pathLst>
          </a:custGeom>
          <a:blipFill>
            <a:blip>
              <a:extLst>
                <a:ext uri="{96DAC541-7B7A-43D3-8B79-37D633B846F1}">
                  <asvg:svgBlip xmlns:asvg="http://schemas.microsoft.com/office/drawing/2016/SVG/main" r:embed="rId29"/>
                </a:ext>
              </a:extLst>
            </a:blip>
            <a:stretch>
              <a:fillRect/>
            </a:stretch>
          </a:blipFill>
        </p:spPr>
      </p:sp>
      <p:sp>
        <p:nvSpPr>
          <p:cNvPr id="30" name="Freeform 30"/>
          <p:cNvSpPr/>
          <p:nvPr/>
        </p:nvSpPr>
        <p:spPr>
          <a:xfrm>
            <a:off x="13119985" y="3223017"/>
            <a:ext cx="497718" cy="664429"/>
          </a:xfrm>
          <a:custGeom>
            <a:avLst/>
            <a:gdLst/>
            <a:ahLst/>
            <a:cxnLst/>
            <a:rect l="l" t="t" r="r" b="b"/>
            <a:pathLst>
              <a:path w="497718" h="664429">
                <a:moveTo>
                  <a:pt x="0" y="0"/>
                </a:moveTo>
                <a:lnTo>
                  <a:pt x="497718" y="0"/>
                </a:lnTo>
                <a:lnTo>
                  <a:pt x="497718" y="664430"/>
                </a:lnTo>
                <a:lnTo>
                  <a:pt x="0" y="664430"/>
                </a:lnTo>
                <a:lnTo>
                  <a:pt x="0" y="0"/>
                </a:lnTo>
                <a:close/>
              </a:path>
            </a:pathLst>
          </a:custGeom>
          <a:blipFill>
            <a:blip>
              <a:extLst>
                <a:ext uri="{96DAC541-7B7A-43D3-8B79-37D633B846F1}">
                  <asvg:svgBlip xmlns:asvg="http://schemas.microsoft.com/office/drawing/2016/SVG/main" r:embed="rId30"/>
                </a:ext>
              </a:extLst>
            </a:blip>
            <a:stretch>
              <a:fillRect/>
            </a:stretch>
          </a:blipFill>
        </p:spPr>
      </p:sp>
      <p:sp>
        <p:nvSpPr>
          <p:cNvPr id="31" name="Freeform 31"/>
          <p:cNvSpPr/>
          <p:nvPr/>
        </p:nvSpPr>
        <p:spPr>
          <a:xfrm>
            <a:off x="16092841" y="3223017"/>
            <a:ext cx="436107" cy="664429"/>
          </a:xfrm>
          <a:custGeom>
            <a:avLst/>
            <a:gdLst/>
            <a:ahLst/>
            <a:cxnLst/>
            <a:rect l="l" t="t" r="r" b="b"/>
            <a:pathLst>
              <a:path w="436107" h="664429">
                <a:moveTo>
                  <a:pt x="0" y="0"/>
                </a:moveTo>
                <a:lnTo>
                  <a:pt x="436108" y="0"/>
                </a:lnTo>
                <a:lnTo>
                  <a:pt x="436108" y="664430"/>
                </a:lnTo>
                <a:lnTo>
                  <a:pt x="0" y="664430"/>
                </a:lnTo>
                <a:lnTo>
                  <a:pt x="0" y="0"/>
                </a:lnTo>
                <a:close/>
              </a:path>
            </a:pathLst>
          </a:custGeom>
          <a:blipFill>
            <a:blip>
              <a:extLst>
                <a:ext uri="{96DAC541-7B7A-43D3-8B79-37D633B846F1}">
                  <asvg:svgBlip xmlns:asvg="http://schemas.microsoft.com/office/drawing/2016/SVG/main" r:embed="rId31"/>
                </a:ext>
              </a:extLst>
            </a:blip>
            <a:stretch>
              <a:fillRect/>
            </a:stretch>
          </a:blipFill>
        </p:spPr>
      </p:sp>
      <p:grpSp>
        <p:nvGrpSpPr>
          <p:cNvPr id="32" name="Group 32"/>
          <p:cNvGrpSpPr/>
          <p:nvPr/>
        </p:nvGrpSpPr>
        <p:grpSpPr>
          <a:xfrm>
            <a:off x="69504" y="787268"/>
            <a:ext cx="8628108" cy="2495727"/>
            <a:chOff x="0" y="0"/>
            <a:chExt cx="11504144" cy="3327636"/>
          </a:xfrm>
        </p:grpSpPr>
        <p:sp>
          <p:nvSpPr>
            <p:cNvPr id="33" name="TextBox 33"/>
            <p:cNvSpPr txBox="1"/>
            <p:nvPr/>
          </p:nvSpPr>
          <p:spPr>
            <a:xfrm>
              <a:off x="0" y="95250"/>
              <a:ext cx="11504144" cy="1972833"/>
            </a:xfrm>
            <a:prstGeom prst="rect">
              <a:avLst/>
            </a:prstGeom>
          </p:spPr>
          <p:txBody>
            <a:bodyPr lIns="0" tIns="0" rIns="0" bIns="0" rtlCol="0" anchor="t">
              <a:spAutoFit/>
            </a:bodyPr>
            <a:lstStyle/>
            <a:p>
              <a:pPr algn="just">
                <a:lnSpc>
                  <a:spcPts val="5565"/>
                </a:lnSpc>
              </a:pPr>
              <a:r>
                <a:rPr lang="en-US" sz="5565" b="1" spc="528">
                  <a:solidFill>
                    <a:srgbClr val="67DB7D"/>
                  </a:solidFill>
                  <a:latin typeface="Public Sans Bold"/>
                  <a:ea typeface="Public Sans Bold"/>
                  <a:cs typeface="Public Sans Bold"/>
                  <a:sym typeface="Public Sans Bold"/>
                </a:rPr>
                <a:t>LÝ DO NHÓM CHỌN ĐỀ TÀI NÀY </a:t>
              </a:r>
            </a:p>
          </p:txBody>
        </p:sp>
        <p:sp>
          <p:nvSpPr>
            <p:cNvPr id="34" name="TextBox 34"/>
            <p:cNvSpPr txBox="1"/>
            <p:nvPr/>
          </p:nvSpPr>
          <p:spPr>
            <a:xfrm>
              <a:off x="0" y="2953554"/>
              <a:ext cx="11504144" cy="374083"/>
            </a:xfrm>
            <a:prstGeom prst="rect">
              <a:avLst/>
            </a:prstGeom>
          </p:spPr>
          <p:txBody>
            <a:bodyPr lIns="0" tIns="0" rIns="0" bIns="0" rtlCol="0" anchor="t">
              <a:spAutoFit/>
            </a:bodyPr>
            <a:lstStyle/>
            <a:p>
              <a:pPr algn="just">
                <a:lnSpc>
                  <a:spcPts val="2385"/>
                </a:lnSpc>
                <a:spcBef>
                  <a:spcPct val="0"/>
                </a:spcBef>
              </a:pPr>
              <a:r>
                <a:rPr lang="en-US" sz="1704" spc="161">
                  <a:solidFill>
                    <a:srgbClr val="121212"/>
                  </a:solidFill>
                  <a:latin typeface="Public Sans Thin"/>
                  <a:ea typeface="Public Sans Thin"/>
                  <a:cs typeface="Public Sans Thin"/>
                  <a:sym typeface="Public Sans Thin"/>
                </a:rPr>
                <a:t>· </a:t>
              </a:r>
            </a:p>
          </p:txBody>
        </p:sp>
      </p:grpSp>
      <p:sp>
        <p:nvSpPr>
          <p:cNvPr id="35" name="TextBox 35"/>
          <p:cNvSpPr txBox="1"/>
          <p:nvPr/>
        </p:nvSpPr>
        <p:spPr>
          <a:xfrm>
            <a:off x="69504" y="2954459"/>
            <a:ext cx="8354065" cy="3941244"/>
          </a:xfrm>
          <a:prstGeom prst="rect">
            <a:avLst/>
          </a:prstGeom>
        </p:spPr>
        <p:txBody>
          <a:bodyPr lIns="0" tIns="0" rIns="0" bIns="0" rtlCol="0" anchor="t">
            <a:spAutoFit/>
          </a:bodyPr>
          <a:lstStyle/>
          <a:p>
            <a:pPr algn="ctr">
              <a:lnSpc>
                <a:spcPts val="3903"/>
              </a:lnSpc>
            </a:pPr>
            <a:r>
              <a:rPr lang="en-US" sz="2787">
                <a:solidFill>
                  <a:srgbClr val="000000"/>
                </a:solidFill>
                <a:latin typeface="Public Sans Thin"/>
                <a:ea typeface="Public Sans Thin"/>
                <a:cs typeface="Public Sans Thin"/>
                <a:sym typeface="Public Sans Thin"/>
              </a:rPr>
              <a:t>Đề tài được lựa chọn không chỉ nhằm đáp ứng yêu cầu môn học mà còn xuất phát từ mong muốn tạo ra một sản phẩm phục vụ nhu cầu giải trí tinh thần cho người dùng. Nhóm mong muốn cụ thể hóa trò chơi Caro quen thuộc từ hình thức chơi trên giấy thành một ứng dụng trên máy tính, phù hợp với xu hướng phát triển của công nghệ trong thời đại 4.0.</a:t>
            </a:r>
          </a:p>
          <a:p>
            <a:pPr algn="ctr">
              <a:lnSpc>
                <a:spcPts val="3903"/>
              </a:lnSpc>
              <a:spcBef>
                <a:spcPct val="0"/>
              </a:spcBef>
            </a:pPr>
            <a:endParaRPr lang="en-US" sz="2787">
              <a:solidFill>
                <a:srgbClr val="000000"/>
              </a:solidFill>
              <a:latin typeface="Public Sans Thin"/>
              <a:ea typeface="Public Sans Thin"/>
              <a:cs typeface="Public Sans Thin"/>
              <a:sym typeface="Public Sans Thi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7DB7D"/>
        </a:solidFill>
        <a:effectLst/>
      </p:bgPr>
    </p:bg>
    <p:spTree>
      <p:nvGrpSpPr>
        <p:cNvPr id="1" name=""/>
        <p:cNvGrpSpPr/>
        <p:nvPr/>
      </p:nvGrpSpPr>
      <p:grpSpPr>
        <a:xfrm>
          <a:off x="0" y="0"/>
          <a:ext cx="0" cy="0"/>
          <a:chOff x="0" y="0"/>
          <a:chExt cx="0" cy="0"/>
        </a:xfrm>
      </p:grpSpPr>
      <p:grpSp>
        <p:nvGrpSpPr>
          <p:cNvPr id="2" name="Group 2"/>
          <p:cNvGrpSpPr/>
          <p:nvPr/>
        </p:nvGrpSpPr>
        <p:grpSpPr>
          <a:xfrm>
            <a:off x="854627" y="1096940"/>
            <a:ext cx="10464698" cy="7257733"/>
            <a:chOff x="0" y="0"/>
            <a:chExt cx="13952931" cy="9676977"/>
          </a:xfrm>
        </p:grpSpPr>
        <p:sp>
          <p:nvSpPr>
            <p:cNvPr id="3" name="TextBox 3"/>
            <p:cNvSpPr txBox="1"/>
            <p:nvPr/>
          </p:nvSpPr>
          <p:spPr>
            <a:xfrm>
              <a:off x="0" y="-749300"/>
              <a:ext cx="13952931" cy="1428750"/>
            </a:xfrm>
            <a:prstGeom prst="rect">
              <a:avLst/>
            </a:prstGeom>
          </p:spPr>
          <p:txBody>
            <a:bodyPr lIns="0" tIns="0" rIns="0" bIns="0" rtlCol="0" anchor="t">
              <a:spAutoFit/>
            </a:bodyPr>
            <a:lstStyle/>
            <a:p>
              <a:pPr algn="l">
                <a:lnSpc>
                  <a:spcPts val="8400"/>
                </a:lnSpc>
              </a:pPr>
              <a:r>
                <a:rPr lang="en-US" sz="7000" b="1">
                  <a:solidFill>
                    <a:srgbClr val="FFFFFF"/>
                  </a:solidFill>
                  <a:latin typeface="Public Sans Bold"/>
                  <a:ea typeface="Public Sans Bold"/>
                  <a:cs typeface="Public Sans Bold"/>
                  <a:sym typeface="Public Sans Bold"/>
                </a:rPr>
                <a:t>Mục tiêu nghiên cứu</a:t>
              </a:r>
            </a:p>
          </p:txBody>
        </p:sp>
        <p:sp>
          <p:nvSpPr>
            <p:cNvPr id="4" name="TextBox 4"/>
            <p:cNvSpPr txBox="1"/>
            <p:nvPr/>
          </p:nvSpPr>
          <p:spPr>
            <a:xfrm>
              <a:off x="0" y="2581275"/>
              <a:ext cx="13952931" cy="7451302"/>
            </a:xfrm>
            <a:prstGeom prst="rect">
              <a:avLst/>
            </a:prstGeom>
          </p:spPr>
          <p:txBody>
            <a:bodyPr lIns="0" tIns="0" rIns="0" bIns="0" rtlCol="0" anchor="t">
              <a:spAutoFit/>
            </a:bodyPr>
            <a:lstStyle/>
            <a:p>
              <a:pPr algn="l">
                <a:lnSpc>
                  <a:spcPts val="4479"/>
                </a:lnSpc>
              </a:pPr>
              <a:r>
                <a:rPr lang="en-US" sz="3199">
                  <a:solidFill>
                    <a:srgbClr val="FFFFFF"/>
                  </a:solidFill>
                  <a:latin typeface="Public Sans Thin"/>
                  <a:ea typeface="Public Sans Thin"/>
                  <a:cs typeface="Public Sans Thin"/>
                  <a:sym typeface="Public Sans Thin"/>
                </a:rPr>
                <a:t>+ Xây dựng hệ thống ứng dụng giải trí theo mô hình client–server, cho phép nhiều người dùng kết nối và tương tác với nhau</a:t>
              </a:r>
            </a:p>
            <a:p>
              <a:pPr algn="l">
                <a:lnSpc>
                  <a:spcPts val="4479"/>
                </a:lnSpc>
              </a:pPr>
              <a:r>
                <a:rPr lang="en-US" sz="3199">
                  <a:solidFill>
                    <a:srgbClr val="FFFFFF"/>
                  </a:solidFill>
                  <a:latin typeface="Public Sans Thin"/>
                  <a:ea typeface="Public Sans Thin"/>
                  <a:cs typeface="Public Sans Thin"/>
                  <a:sym typeface="Public Sans Thin"/>
                </a:rPr>
                <a:t>+ Thông qua server, hai client có thể thực hiện chức năng thách đấu trực tiếp, đồng thời hệ thống có tích hợp cơ chế tính thời gian suy nghĩ cho mỗi lượt chơi</a:t>
              </a:r>
            </a:p>
            <a:p>
              <a:pPr algn="l">
                <a:lnSpc>
                  <a:spcPts val="4479"/>
                </a:lnSpc>
              </a:pPr>
              <a:r>
                <a:rPr lang="en-US" sz="3199">
                  <a:solidFill>
                    <a:srgbClr val="FFFFFF"/>
                  </a:solidFill>
                  <a:latin typeface="Public Sans Thin"/>
                  <a:ea typeface="Public Sans Thin"/>
                  <a:cs typeface="Public Sans Thin"/>
                  <a:sym typeface="Public Sans Thin"/>
                </a:rPr>
                <a:t>+ Xây dựng chức năng lưu trữ lịch sử thi đấu trên server, phục vụ việc tra cứu và quản lý dữ liệu trận đấu</a:t>
              </a:r>
            </a:p>
            <a:p>
              <a:pPr algn="l">
                <a:lnSpc>
                  <a:spcPts val="4479"/>
                </a:lnSpc>
              </a:pPr>
              <a:endParaRPr lang="en-US" sz="3199">
                <a:solidFill>
                  <a:srgbClr val="FFFFFF"/>
                </a:solidFill>
                <a:latin typeface="Public Sans Thin"/>
                <a:ea typeface="Public Sans Thin"/>
                <a:cs typeface="Public Sans Thin"/>
                <a:sym typeface="Public Sans Thin"/>
              </a:endParaRPr>
            </a:p>
            <a:p>
              <a:pPr algn="l">
                <a:lnSpc>
                  <a:spcPts val="4479"/>
                </a:lnSpc>
              </a:pPr>
              <a:endParaRPr lang="en-US" sz="3199">
                <a:solidFill>
                  <a:srgbClr val="FFFFFF"/>
                </a:solidFill>
                <a:latin typeface="Public Sans Thin"/>
                <a:ea typeface="Public Sans Thin"/>
                <a:cs typeface="Public Sans Thin"/>
                <a:sym typeface="Public Sans Thin"/>
              </a:endParaRPr>
            </a:p>
          </p:txBody>
        </p:sp>
      </p:grpSp>
      <p:grpSp>
        <p:nvGrpSpPr>
          <p:cNvPr id="5" name="Group 5"/>
          <p:cNvGrpSpPr>
            <a:grpSpLocks noChangeAspect="1"/>
          </p:cNvGrpSpPr>
          <p:nvPr/>
        </p:nvGrpSpPr>
        <p:grpSpPr>
          <a:xfrm>
            <a:off x="12841001" y="0"/>
            <a:ext cx="6858000" cy="10287000"/>
            <a:chOff x="0" y="0"/>
            <a:chExt cx="6350000" cy="9525000"/>
          </a:xfrm>
        </p:grpSpPr>
        <p:sp>
          <p:nvSpPr>
            <p:cNvPr id="6" name="Freeform 6"/>
            <p:cNvSpPr/>
            <p:nvPr/>
          </p:nvSpPr>
          <p:spPr>
            <a:xfrm>
              <a:off x="0" y="0"/>
              <a:ext cx="6350000" cy="9525000"/>
            </a:xfrm>
            <a:custGeom>
              <a:avLst/>
              <a:gdLst/>
              <a:ahLst/>
              <a:cxnLst/>
              <a:rect l="l" t="t" r="r" b="b"/>
              <a:pathLst>
                <a:path w="6350000" h="9525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2"/>
              <a:stretch>
                <a:fillRect l="-24959" t="-24959"/>
              </a:stretch>
            </a:blip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sp>
        <p:nvSpPr>
          <p:cNvPr id="2" name="TextBox 2"/>
          <p:cNvSpPr txBox="1"/>
          <p:nvPr/>
        </p:nvSpPr>
        <p:spPr>
          <a:xfrm>
            <a:off x="1622589" y="1649691"/>
            <a:ext cx="4342567" cy="1407795"/>
          </a:xfrm>
          <a:prstGeom prst="rect">
            <a:avLst/>
          </a:prstGeom>
        </p:spPr>
        <p:txBody>
          <a:bodyPr lIns="0" tIns="0" rIns="0" bIns="0" rtlCol="0" anchor="t">
            <a:spAutoFit/>
          </a:bodyPr>
          <a:lstStyle/>
          <a:p>
            <a:pPr algn="l">
              <a:lnSpc>
                <a:spcPts val="11010"/>
              </a:lnSpc>
            </a:pPr>
            <a:r>
              <a:rPr lang="en-US" sz="9175" b="1">
                <a:solidFill>
                  <a:srgbClr val="121212"/>
                </a:solidFill>
                <a:latin typeface="Public Sans Bold"/>
                <a:ea typeface="Public Sans Bold"/>
                <a:cs typeface="Public Sans Bold"/>
                <a:sym typeface="Public Sans Bold"/>
              </a:rPr>
              <a:t>Mục lục</a:t>
            </a:r>
          </a:p>
        </p:txBody>
      </p:sp>
      <p:grpSp>
        <p:nvGrpSpPr>
          <p:cNvPr id="3" name="Group 3"/>
          <p:cNvGrpSpPr/>
          <p:nvPr/>
        </p:nvGrpSpPr>
        <p:grpSpPr>
          <a:xfrm>
            <a:off x="6990406" y="1659216"/>
            <a:ext cx="9675006" cy="6968569"/>
            <a:chOff x="0" y="0"/>
            <a:chExt cx="3272780" cy="2357269"/>
          </a:xfrm>
        </p:grpSpPr>
        <p:sp>
          <p:nvSpPr>
            <p:cNvPr id="4" name="Freeform 4"/>
            <p:cNvSpPr/>
            <p:nvPr/>
          </p:nvSpPr>
          <p:spPr>
            <a:xfrm>
              <a:off x="0" y="0"/>
              <a:ext cx="3272780" cy="2357269"/>
            </a:xfrm>
            <a:custGeom>
              <a:avLst/>
              <a:gdLst/>
              <a:ahLst/>
              <a:cxnLst/>
              <a:rect l="l" t="t" r="r" b="b"/>
              <a:pathLst>
                <a:path w="3272780" h="2357269">
                  <a:moveTo>
                    <a:pt x="3148320" y="2357269"/>
                  </a:moveTo>
                  <a:lnTo>
                    <a:pt x="124460" y="2357269"/>
                  </a:lnTo>
                  <a:cubicBezTo>
                    <a:pt x="55880" y="2357269"/>
                    <a:pt x="0" y="2301389"/>
                    <a:pt x="0" y="2232809"/>
                  </a:cubicBezTo>
                  <a:lnTo>
                    <a:pt x="0" y="124460"/>
                  </a:lnTo>
                  <a:cubicBezTo>
                    <a:pt x="0" y="55880"/>
                    <a:pt x="55880" y="0"/>
                    <a:pt x="124460" y="0"/>
                  </a:cubicBezTo>
                  <a:lnTo>
                    <a:pt x="3148320" y="0"/>
                  </a:lnTo>
                  <a:cubicBezTo>
                    <a:pt x="3216900" y="0"/>
                    <a:pt x="3272780" y="55880"/>
                    <a:pt x="3272780" y="124460"/>
                  </a:cubicBezTo>
                  <a:lnTo>
                    <a:pt x="3272780" y="2232809"/>
                  </a:lnTo>
                  <a:cubicBezTo>
                    <a:pt x="3272780" y="2301389"/>
                    <a:pt x="3216900" y="2357269"/>
                    <a:pt x="3148320" y="2357269"/>
                  </a:cubicBezTo>
                  <a:close/>
                </a:path>
              </a:pathLst>
            </a:custGeom>
            <a:solidFill>
              <a:srgbClr val="FFFFFF"/>
            </a:solidFill>
          </p:spPr>
        </p:sp>
      </p:grpSp>
      <p:sp>
        <p:nvSpPr>
          <p:cNvPr id="5" name="TextBox 5"/>
          <p:cNvSpPr txBox="1"/>
          <p:nvPr/>
        </p:nvSpPr>
        <p:spPr>
          <a:xfrm>
            <a:off x="7862027" y="2392628"/>
            <a:ext cx="8366478" cy="523875"/>
          </a:xfrm>
          <a:prstGeom prst="rect">
            <a:avLst/>
          </a:prstGeom>
        </p:spPr>
        <p:txBody>
          <a:bodyPr lIns="0" tIns="0" rIns="0" bIns="0" rtlCol="0" anchor="t">
            <a:spAutoFit/>
          </a:bodyPr>
          <a:lstStyle/>
          <a:p>
            <a:pPr algn="l">
              <a:lnSpc>
                <a:spcPts val="4079"/>
              </a:lnSpc>
            </a:pPr>
            <a:r>
              <a:rPr lang="en-US" sz="3400" b="1">
                <a:solidFill>
                  <a:srgbClr val="121212"/>
                </a:solidFill>
                <a:latin typeface="Public Sans Bold"/>
                <a:ea typeface="Public Sans Bold"/>
                <a:cs typeface="Public Sans Bold"/>
                <a:sym typeface="Public Sans Bold"/>
              </a:rPr>
              <a:t>CHỦ ĐỀ THUYẾT TRÌNH :</a:t>
            </a:r>
          </a:p>
        </p:txBody>
      </p:sp>
      <p:grpSp>
        <p:nvGrpSpPr>
          <p:cNvPr id="6" name="Group 6"/>
          <p:cNvGrpSpPr/>
          <p:nvPr/>
        </p:nvGrpSpPr>
        <p:grpSpPr>
          <a:xfrm>
            <a:off x="7862027" y="3573728"/>
            <a:ext cx="228600" cy="228600"/>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7DB7D"/>
            </a:solidFill>
          </p:spPr>
        </p:sp>
      </p:grpSp>
      <p:grpSp>
        <p:nvGrpSpPr>
          <p:cNvPr id="8" name="Group 8"/>
          <p:cNvGrpSpPr/>
          <p:nvPr/>
        </p:nvGrpSpPr>
        <p:grpSpPr>
          <a:xfrm>
            <a:off x="7862027" y="4358614"/>
            <a:ext cx="228600" cy="228600"/>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7DB7D"/>
            </a:solidFill>
          </p:spPr>
        </p:sp>
      </p:grpSp>
      <p:grpSp>
        <p:nvGrpSpPr>
          <p:cNvPr id="10" name="Group 10"/>
          <p:cNvGrpSpPr/>
          <p:nvPr/>
        </p:nvGrpSpPr>
        <p:grpSpPr>
          <a:xfrm>
            <a:off x="7862027" y="5143500"/>
            <a:ext cx="228600" cy="228600"/>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7DB7D"/>
            </a:solidFill>
          </p:spPr>
        </p:sp>
      </p:grpSp>
      <p:grpSp>
        <p:nvGrpSpPr>
          <p:cNvPr id="12" name="Group 12"/>
          <p:cNvGrpSpPr/>
          <p:nvPr/>
        </p:nvGrpSpPr>
        <p:grpSpPr>
          <a:xfrm>
            <a:off x="7862027" y="5928386"/>
            <a:ext cx="228600" cy="228600"/>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7DB7D"/>
            </a:solidFill>
          </p:spPr>
        </p:sp>
      </p:grpSp>
      <p:grpSp>
        <p:nvGrpSpPr>
          <p:cNvPr id="14" name="Group 14"/>
          <p:cNvGrpSpPr/>
          <p:nvPr/>
        </p:nvGrpSpPr>
        <p:grpSpPr>
          <a:xfrm>
            <a:off x="7862027" y="6713272"/>
            <a:ext cx="228600" cy="228600"/>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7DB7D"/>
            </a:solidFill>
          </p:spPr>
        </p:sp>
      </p:grpSp>
      <p:grpSp>
        <p:nvGrpSpPr>
          <p:cNvPr id="16" name="Group 16"/>
          <p:cNvGrpSpPr/>
          <p:nvPr/>
        </p:nvGrpSpPr>
        <p:grpSpPr>
          <a:xfrm>
            <a:off x="7862027" y="7498157"/>
            <a:ext cx="228600" cy="228600"/>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7DB7D"/>
            </a:solidFill>
          </p:spPr>
        </p:sp>
      </p:grpSp>
      <p:sp>
        <p:nvSpPr>
          <p:cNvPr id="18" name="TextBox 18"/>
          <p:cNvSpPr txBox="1"/>
          <p:nvPr/>
        </p:nvSpPr>
        <p:spPr>
          <a:xfrm>
            <a:off x="8291392" y="3409263"/>
            <a:ext cx="7937113" cy="490855"/>
          </a:xfrm>
          <a:prstGeom prst="rect">
            <a:avLst/>
          </a:prstGeom>
        </p:spPr>
        <p:txBody>
          <a:bodyPr lIns="0" tIns="0" rIns="0" bIns="0" rtlCol="0" anchor="t">
            <a:spAutoFit/>
          </a:bodyPr>
          <a:lstStyle/>
          <a:p>
            <a:pPr algn="l">
              <a:lnSpc>
                <a:spcPts val="3919"/>
              </a:lnSpc>
            </a:pPr>
            <a:r>
              <a:rPr lang="en-US" sz="2799">
                <a:solidFill>
                  <a:srgbClr val="121212"/>
                </a:solidFill>
                <a:latin typeface="Public Sans Thin"/>
                <a:ea typeface="Public Sans Thin"/>
                <a:cs typeface="Public Sans Thin"/>
                <a:sym typeface="Public Sans Thin"/>
              </a:rPr>
              <a:t>Giới thiệu </a:t>
            </a:r>
          </a:p>
        </p:txBody>
      </p:sp>
      <p:sp>
        <p:nvSpPr>
          <p:cNvPr id="19" name="TextBox 19"/>
          <p:cNvSpPr txBox="1"/>
          <p:nvPr/>
        </p:nvSpPr>
        <p:spPr>
          <a:xfrm>
            <a:off x="8291392" y="4194149"/>
            <a:ext cx="7937113" cy="490855"/>
          </a:xfrm>
          <a:prstGeom prst="rect">
            <a:avLst/>
          </a:prstGeom>
        </p:spPr>
        <p:txBody>
          <a:bodyPr lIns="0" tIns="0" rIns="0" bIns="0" rtlCol="0" anchor="t">
            <a:spAutoFit/>
          </a:bodyPr>
          <a:lstStyle/>
          <a:p>
            <a:pPr algn="l">
              <a:lnSpc>
                <a:spcPts val="3919"/>
              </a:lnSpc>
            </a:pPr>
            <a:r>
              <a:rPr lang="en-US" sz="2799">
                <a:solidFill>
                  <a:srgbClr val="121212"/>
                </a:solidFill>
                <a:latin typeface="Public Sans Thin"/>
                <a:ea typeface="Public Sans Thin"/>
                <a:cs typeface="Public Sans Thin"/>
                <a:sym typeface="Public Sans Thin"/>
              </a:rPr>
              <a:t>Sever</a:t>
            </a:r>
          </a:p>
        </p:txBody>
      </p:sp>
      <p:sp>
        <p:nvSpPr>
          <p:cNvPr id="20" name="TextBox 20"/>
          <p:cNvSpPr txBox="1"/>
          <p:nvPr/>
        </p:nvSpPr>
        <p:spPr>
          <a:xfrm>
            <a:off x="8291392" y="4991417"/>
            <a:ext cx="7937113" cy="466090"/>
          </a:xfrm>
          <a:prstGeom prst="rect">
            <a:avLst/>
          </a:prstGeom>
        </p:spPr>
        <p:txBody>
          <a:bodyPr lIns="0" tIns="0" rIns="0" bIns="0" rtlCol="0" anchor="t">
            <a:spAutoFit/>
          </a:bodyPr>
          <a:lstStyle/>
          <a:p>
            <a:pPr algn="l">
              <a:lnSpc>
                <a:spcPts val="3709"/>
              </a:lnSpc>
            </a:pPr>
            <a:r>
              <a:rPr lang="en-US" sz="2649">
                <a:solidFill>
                  <a:srgbClr val="121212"/>
                </a:solidFill>
                <a:latin typeface="Public Sans Thin"/>
                <a:ea typeface="Public Sans Thin"/>
                <a:cs typeface="Public Sans Thin"/>
                <a:sym typeface="Public Sans Thin"/>
              </a:rPr>
              <a:t>Client </a:t>
            </a:r>
          </a:p>
        </p:txBody>
      </p:sp>
      <p:sp>
        <p:nvSpPr>
          <p:cNvPr id="21" name="TextBox 21"/>
          <p:cNvSpPr txBox="1"/>
          <p:nvPr/>
        </p:nvSpPr>
        <p:spPr>
          <a:xfrm>
            <a:off x="8291392" y="5763921"/>
            <a:ext cx="7937113" cy="490855"/>
          </a:xfrm>
          <a:prstGeom prst="rect">
            <a:avLst/>
          </a:prstGeom>
        </p:spPr>
        <p:txBody>
          <a:bodyPr lIns="0" tIns="0" rIns="0" bIns="0" rtlCol="0" anchor="t">
            <a:spAutoFit/>
          </a:bodyPr>
          <a:lstStyle/>
          <a:p>
            <a:pPr algn="l">
              <a:lnSpc>
                <a:spcPts val="3919"/>
              </a:lnSpc>
            </a:pPr>
            <a:r>
              <a:rPr lang="en-US" sz="2799">
                <a:solidFill>
                  <a:srgbClr val="121212"/>
                </a:solidFill>
                <a:latin typeface="Public Sans Thin"/>
                <a:ea typeface="Public Sans Thin"/>
                <a:cs typeface="Public Sans Thin"/>
                <a:sym typeface="Public Sans Thin"/>
              </a:rPr>
              <a:t>Những Khó Khăn </a:t>
            </a:r>
          </a:p>
        </p:txBody>
      </p:sp>
      <p:sp>
        <p:nvSpPr>
          <p:cNvPr id="22" name="TextBox 22"/>
          <p:cNvSpPr txBox="1"/>
          <p:nvPr/>
        </p:nvSpPr>
        <p:spPr>
          <a:xfrm>
            <a:off x="8291392" y="6548807"/>
            <a:ext cx="7937113" cy="490855"/>
          </a:xfrm>
          <a:prstGeom prst="rect">
            <a:avLst/>
          </a:prstGeom>
        </p:spPr>
        <p:txBody>
          <a:bodyPr lIns="0" tIns="0" rIns="0" bIns="0" rtlCol="0" anchor="t">
            <a:spAutoFit/>
          </a:bodyPr>
          <a:lstStyle/>
          <a:p>
            <a:pPr algn="l">
              <a:lnSpc>
                <a:spcPts val="3919"/>
              </a:lnSpc>
            </a:pPr>
            <a:r>
              <a:rPr lang="en-US" sz="2799">
                <a:solidFill>
                  <a:srgbClr val="121212"/>
                </a:solidFill>
                <a:latin typeface="Public Sans Thin"/>
                <a:ea typeface="Public Sans Thin"/>
                <a:cs typeface="Public Sans Thin"/>
                <a:sym typeface="Public Sans Thin"/>
              </a:rPr>
              <a:t>Những Thành Tựu </a:t>
            </a:r>
          </a:p>
        </p:txBody>
      </p:sp>
      <p:sp>
        <p:nvSpPr>
          <p:cNvPr id="23" name="TextBox 23"/>
          <p:cNvSpPr txBox="1"/>
          <p:nvPr/>
        </p:nvSpPr>
        <p:spPr>
          <a:xfrm>
            <a:off x="8291392" y="7333692"/>
            <a:ext cx="7937113" cy="490855"/>
          </a:xfrm>
          <a:prstGeom prst="rect">
            <a:avLst/>
          </a:prstGeom>
        </p:spPr>
        <p:txBody>
          <a:bodyPr lIns="0" tIns="0" rIns="0" bIns="0" rtlCol="0" anchor="t">
            <a:spAutoFit/>
          </a:bodyPr>
          <a:lstStyle/>
          <a:p>
            <a:pPr algn="l">
              <a:lnSpc>
                <a:spcPts val="3919"/>
              </a:lnSpc>
            </a:pPr>
            <a:r>
              <a:rPr lang="en-US" sz="2799">
                <a:solidFill>
                  <a:srgbClr val="121212"/>
                </a:solidFill>
                <a:latin typeface="Public Sans Thin"/>
                <a:ea typeface="Public Sans Thin"/>
                <a:cs typeface="Public Sans Thin"/>
                <a:sym typeface="Public Sans Thin"/>
              </a:rPr>
              <a:t>Những Gì Chưa Làm Được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13445756" y="631917"/>
            <a:ext cx="3945584" cy="8018414"/>
            <a:chOff x="0" y="0"/>
            <a:chExt cx="5001260" cy="10163810"/>
          </a:xfrm>
        </p:grpSpPr>
        <p:sp>
          <p:nvSpPr>
            <p:cNvPr id="3" name="Freeform 3"/>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sp>
        <p:sp>
          <p:nvSpPr>
            <p:cNvPr id="4" name="Freeform 4"/>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9405" r="-9405"/>
              </a:stretch>
            </a:blipFill>
          </p:spPr>
        </p:sp>
      </p:grpSp>
      <p:sp>
        <p:nvSpPr>
          <p:cNvPr id="5" name="TextBox 5"/>
          <p:cNvSpPr txBox="1"/>
          <p:nvPr/>
        </p:nvSpPr>
        <p:spPr>
          <a:xfrm>
            <a:off x="1537768" y="971550"/>
            <a:ext cx="8855393" cy="794892"/>
          </a:xfrm>
          <a:prstGeom prst="rect">
            <a:avLst/>
          </a:prstGeom>
        </p:spPr>
        <p:txBody>
          <a:bodyPr lIns="0" tIns="0" rIns="0" bIns="0" rtlCol="0" anchor="t">
            <a:spAutoFit/>
          </a:bodyPr>
          <a:lstStyle/>
          <a:p>
            <a:pPr algn="ctr">
              <a:lnSpc>
                <a:spcPts val="5095"/>
              </a:lnSpc>
            </a:pPr>
            <a:r>
              <a:rPr lang="en-US" sz="4899" b="1">
                <a:solidFill>
                  <a:srgbClr val="000000"/>
                </a:solidFill>
                <a:latin typeface="Cooper Hewitt Bold"/>
                <a:ea typeface="Cooper Hewitt Bold"/>
                <a:cs typeface="Cooper Hewitt Bold"/>
                <a:sym typeface="Cooper Hewitt Bold"/>
              </a:rPr>
              <a:t>GIỚI THIỆU TỔNG QUAN DỰ ÁN </a:t>
            </a:r>
          </a:p>
        </p:txBody>
      </p:sp>
      <p:sp>
        <p:nvSpPr>
          <p:cNvPr id="6" name="TextBox 6"/>
          <p:cNvSpPr txBox="1"/>
          <p:nvPr/>
        </p:nvSpPr>
        <p:spPr>
          <a:xfrm>
            <a:off x="1138722" y="2402209"/>
            <a:ext cx="11995304" cy="3985291"/>
          </a:xfrm>
          <a:prstGeom prst="rect">
            <a:avLst/>
          </a:prstGeom>
        </p:spPr>
        <p:txBody>
          <a:bodyPr lIns="0" tIns="0" rIns="0" bIns="0" rtlCol="0" anchor="t">
            <a:spAutoFit/>
          </a:bodyPr>
          <a:lstStyle/>
          <a:p>
            <a:pPr algn="ctr">
              <a:lnSpc>
                <a:spcPts val="5251"/>
              </a:lnSpc>
              <a:spcBef>
                <a:spcPct val="0"/>
              </a:spcBef>
            </a:pPr>
            <a:r>
              <a:rPr lang="en-US" sz="3751">
                <a:solidFill>
                  <a:srgbClr val="000000"/>
                </a:solidFill>
                <a:latin typeface="Public Sans Thin"/>
                <a:ea typeface="Public Sans Thin"/>
                <a:cs typeface="Public Sans Thin"/>
                <a:sym typeface="Public Sans Thin"/>
              </a:rPr>
              <a:t>Chương trình được phát triển nhằm xây dựng một hệ thống game caro trực tuyến sử dụng kiến trúc client–server. Người chơi có thể đăng nhập, tham gia phòng chơi và thực hiện các nước đi được đồng bộ qua server. Hệ thống tích hợp chức năng tính thời gian cho mỗi lượt chơi và lưu trữ lịch sử thi đấu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2554868" y="938228"/>
            <a:ext cx="15006592" cy="1829541"/>
          </a:xfrm>
          <a:prstGeom prst="rect">
            <a:avLst/>
          </a:prstGeom>
        </p:spPr>
        <p:txBody>
          <a:bodyPr lIns="0" tIns="0" rIns="0" bIns="0" rtlCol="0" anchor="t">
            <a:spAutoFit/>
          </a:bodyPr>
          <a:lstStyle/>
          <a:p>
            <a:pPr marL="0" lvl="1" indent="0" algn="ctr">
              <a:lnSpc>
                <a:spcPts val="13326"/>
              </a:lnSpc>
            </a:pPr>
            <a:r>
              <a:rPr lang="en-US" sz="14485" b="1" spc="405">
                <a:solidFill>
                  <a:srgbClr val="4F6A92"/>
                </a:solidFill>
                <a:latin typeface="Barlow SemiCondensed Bold"/>
                <a:ea typeface="Barlow SemiCondensed Bold"/>
                <a:cs typeface="Barlow SemiCondensed Bold"/>
                <a:sym typeface="Barlow SemiCondensed Bold"/>
              </a:rPr>
              <a:t>SEVER</a:t>
            </a:r>
          </a:p>
        </p:txBody>
      </p:sp>
      <p:sp>
        <p:nvSpPr>
          <p:cNvPr id="3" name="Freeform 3"/>
          <p:cNvSpPr/>
          <p:nvPr/>
        </p:nvSpPr>
        <p:spPr>
          <a:xfrm rot="7221679">
            <a:off x="1605673" y="-674955"/>
            <a:ext cx="2898563" cy="2508574"/>
          </a:xfrm>
          <a:custGeom>
            <a:avLst/>
            <a:gdLst/>
            <a:ahLst/>
            <a:cxnLst/>
            <a:rect l="l" t="t" r="r" b="b"/>
            <a:pathLst>
              <a:path w="2898563" h="2508574">
                <a:moveTo>
                  <a:pt x="0" y="0"/>
                </a:moveTo>
                <a:lnTo>
                  <a:pt x="2898562" y="0"/>
                </a:lnTo>
                <a:lnTo>
                  <a:pt x="2898562" y="2508574"/>
                </a:lnTo>
                <a:lnTo>
                  <a:pt x="0" y="25085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rot="-3578320">
            <a:off x="-715984" y="560179"/>
            <a:ext cx="2904567" cy="2513771"/>
          </a:xfrm>
          <a:custGeom>
            <a:avLst/>
            <a:gdLst/>
            <a:ahLst/>
            <a:cxnLst/>
            <a:rect l="l" t="t" r="r" b="b"/>
            <a:pathLst>
              <a:path w="2904567" h="2513771">
                <a:moveTo>
                  <a:pt x="0" y="0"/>
                </a:moveTo>
                <a:lnTo>
                  <a:pt x="2904567" y="0"/>
                </a:lnTo>
                <a:lnTo>
                  <a:pt x="2904567" y="2513771"/>
                </a:lnTo>
                <a:lnTo>
                  <a:pt x="0" y="251377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3578320">
            <a:off x="16601920" y="8001415"/>
            <a:ext cx="2904567" cy="2513771"/>
          </a:xfrm>
          <a:custGeom>
            <a:avLst/>
            <a:gdLst/>
            <a:ahLst/>
            <a:cxnLst/>
            <a:rect l="l" t="t" r="r" b="b"/>
            <a:pathLst>
              <a:path w="2904567" h="2513771">
                <a:moveTo>
                  <a:pt x="0" y="0"/>
                </a:moveTo>
                <a:lnTo>
                  <a:pt x="2904567" y="0"/>
                </a:lnTo>
                <a:lnTo>
                  <a:pt x="2904567" y="2513770"/>
                </a:lnTo>
                <a:lnTo>
                  <a:pt x="0" y="251377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6268224" y="3453525"/>
            <a:ext cx="6961797" cy="4736893"/>
          </a:xfrm>
          <a:custGeom>
            <a:avLst/>
            <a:gdLst/>
            <a:ahLst/>
            <a:cxnLst/>
            <a:rect l="l" t="t" r="r" b="b"/>
            <a:pathLst>
              <a:path w="6961797" h="4736893">
                <a:moveTo>
                  <a:pt x="0" y="0"/>
                </a:moveTo>
                <a:lnTo>
                  <a:pt x="6961797" y="0"/>
                </a:lnTo>
                <a:lnTo>
                  <a:pt x="6961797" y="4736892"/>
                </a:lnTo>
                <a:lnTo>
                  <a:pt x="0" y="4736892"/>
                </a:lnTo>
                <a:lnTo>
                  <a:pt x="0" y="0"/>
                </a:lnTo>
                <a:close/>
              </a:path>
            </a:pathLst>
          </a:custGeom>
          <a:blipFill>
            <a:blip r:embed="rId5"/>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9425538" y="-13404"/>
            <a:ext cx="9144000" cy="10287000"/>
          </a:xfrm>
          <a:prstGeom prst="rect">
            <a:avLst/>
          </a:prstGeom>
          <a:solidFill>
            <a:srgbClr val="F6F6F6"/>
          </a:solidFill>
        </p:spPr>
      </p:sp>
      <p:sp>
        <p:nvSpPr>
          <p:cNvPr id="3" name="TextBox 3"/>
          <p:cNvSpPr txBox="1"/>
          <p:nvPr/>
        </p:nvSpPr>
        <p:spPr>
          <a:xfrm>
            <a:off x="6786534" y="-22929"/>
            <a:ext cx="7035900" cy="981075"/>
          </a:xfrm>
          <a:prstGeom prst="rect">
            <a:avLst/>
          </a:prstGeom>
        </p:spPr>
        <p:txBody>
          <a:bodyPr lIns="0" tIns="0" rIns="0" bIns="0" rtlCol="0" anchor="t">
            <a:spAutoFit/>
          </a:bodyPr>
          <a:lstStyle/>
          <a:p>
            <a:pPr algn="l">
              <a:lnSpc>
                <a:spcPts val="7679"/>
              </a:lnSpc>
            </a:pPr>
            <a:r>
              <a:rPr lang="en-US" sz="6399">
                <a:solidFill>
                  <a:srgbClr val="121212"/>
                </a:solidFill>
                <a:latin typeface="Public Sans"/>
                <a:ea typeface="Public Sans"/>
                <a:cs typeface="Public Sans"/>
                <a:sym typeface="Public Sans"/>
              </a:rPr>
              <a:t>SEVER.PY</a:t>
            </a:r>
          </a:p>
        </p:txBody>
      </p:sp>
      <p:sp>
        <p:nvSpPr>
          <p:cNvPr id="4" name="TextBox 4"/>
          <p:cNvSpPr txBox="1"/>
          <p:nvPr/>
        </p:nvSpPr>
        <p:spPr>
          <a:xfrm>
            <a:off x="1028700" y="1093430"/>
            <a:ext cx="9104755" cy="1372235"/>
          </a:xfrm>
          <a:prstGeom prst="rect">
            <a:avLst/>
          </a:prstGeom>
        </p:spPr>
        <p:txBody>
          <a:bodyPr lIns="0" tIns="0" rIns="0" bIns="0" rtlCol="0" anchor="t">
            <a:spAutoFit/>
          </a:bodyPr>
          <a:lstStyle/>
          <a:p>
            <a:pPr algn="l">
              <a:lnSpc>
                <a:spcPts val="3640"/>
              </a:lnSpc>
              <a:spcBef>
                <a:spcPct val="0"/>
              </a:spcBef>
            </a:pPr>
            <a:r>
              <a:rPr lang="en-US" sz="2600" b="1">
                <a:solidFill>
                  <a:srgbClr val="121212"/>
                </a:solidFill>
                <a:latin typeface="Public Sans Bold"/>
                <a:ea typeface="Public Sans Bold"/>
                <a:cs typeface="Public Sans Bold"/>
                <a:sym typeface="Public Sans Bold"/>
              </a:rPr>
              <a:t>self.socket = socket.socket(socket.AF_INET, socket.SOCK_STREAM)</a:t>
            </a:r>
          </a:p>
          <a:p>
            <a:pPr algn="l">
              <a:lnSpc>
                <a:spcPts val="3640"/>
              </a:lnSpc>
              <a:spcBef>
                <a:spcPct val="0"/>
              </a:spcBef>
            </a:pPr>
            <a:endParaRPr lang="en-US" sz="2600" b="1">
              <a:solidFill>
                <a:srgbClr val="121212"/>
              </a:solidFill>
              <a:latin typeface="Public Sans Bold"/>
              <a:ea typeface="Public Sans Bold"/>
              <a:cs typeface="Public Sans Bold"/>
              <a:sym typeface="Public Sans Bold"/>
            </a:endParaRPr>
          </a:p>
        </p:txBody>
      </p:sp>
      <p:sp>
        <p:nvSpPr>
          <p:cNvPr id="5" name="TextBox 5"/>
          <p:cNvSpPr txBox="1"/>
          <p:nvPr/>
        </p:nvSpPr>
        <p:spPr>
          <a:xfrm>
            <a:off x="9632076" y="1433141"/>
            <a:ext cx="2492812" cy="490855"/>
          </a:xfrm>
          <a:prstGeom prst="rect">
            <a:avLst/>
          </a:prstGeom>
        </p:spPr>
        <p:txBody>
          <a:bodyPr lIns="0" tIns="0" rIns="0" bIns="0" rtlCol="0" anchor="t">
            <a:spAutoFit/>
          </a:bodyPr>
          <a:lstStyle/>
          <a:p>
            <a:pPr algn="ctr">
              <a:lnSpc>
                <a:spcPts val="3919"/>
              </a:lnSpc>
              <a:spcBef>
                <a:spcPct val="0"/>
              </a:spcBef>
            </a:pPr>
            <a:r>
              <a:rPr lang="en-US" sz="2799">
                <a:solidFill>
                  <a:srgbClr val="121212"/>
                </a:solidFill>
                <a:latin typeface="Public Sans Thin"/>
                <a:ea typeface="Public Sans Thin"/>
                <a:cs typeface="Public Sans Thin"/>
                <a:sym typeface="Public Sans Thin"/>
              </a:rPr>
              <a:t>Khởi tạo socket</a:t>
            </a:r>
          </a:p>
        </p:txBody>
      </p:sp>
      <p:sp>
        <p:nvSpPr>
          <p:cNvPr id="6" name="TextBox 6"/>
          <p:cNvSpPr txBox="1"/>
          <p:nvPr/>
        </p:nvSpPr>
        <p:spPr>
          <a:xfrm>
            <a:off x="1028700" y="2203410"/>
            <a:ext cx="8714213" cy="915035"/>
          </a:xfrm>
          <a:prstGeom prst="rect">
            <a:avLst/>
          </a:prstGeom>
        </p:spPr>
        <p:txBody>
          <a:bodyPr lIns="0" tIns="0" rIns="0" bIns="0" rtlCol="0" anchor="t">
            <a:spAutoFit/>
          </a:bodyPr>
          <a:lstStyle/>
          <a:p>
            <a:pPr algn="l">
              <a:lnSpc>
                <a:spcPts val="3640"/>
              </a:lnSpc>
              <a:spcBef>
                <a:spcPct val="0"/>
              </a:spcBef>
            </a:pPr>
            <a:r>
              <a:rPr lang="en-US" sz="2600" b="1">
                <a:solidFill>
                  <a:srgbClr val="121212"/>
                </a:solidFill>
                <a:latin typeface="Public Sans Bold"/>
                <a:ea typeface="Public Sans Bold"/>
                <a:cs typeface="Public Sans Bold"/>
                <a:sym typeface="Public Sans Bold"/>
              </a:rPr>
              <a:t>self.socket.setsockopt(socket.SOL_SOCKET, socket.SO_REUSEADDR, 1)</a:t>
            </a:r>
          </a:p>
        </p:txBody>
      </p:sp>
      <p:sp>
        <p:nvSpPr>
          <p:cNvPr id="7" name="TextBox 7"/>
          <p:cNvSpPr txBox="1"/>
          <p:nvPr/>
        </p:nvSpPr>
        <p:spPr>
          <a:xfrm>
            <a:off x="9632076" y="2398990"/>
            <a:ext cx="5266849" cy="457835"/>
          </a:xfrm>
          <a:prstGeom prst="rect">
            <a:avLst/>
          </a:prstGeom>
        </p:spPr>
        <p:txBody>
          <a:bodyPr lIns="0" tIns="0" rIns="0" bIns="0" rtlCol="0" anchor="t">
            <a:spAutoFit/>
          </a:bodyPr>
          <a:lstStyle/>
          <a:p>
            <a:pPr algn="ctr">
              <a:lnSpc>
                <a:spcPts val="3640"/>
              </a:lnSpc>
              <a:spcBef>
                <a:spcPct val="0"/>
              </a:spcBef>
            </a:pPr>
            <a:r>
              <a:rPr lang="en-US" sz="2600">
                <a:solidFill>
                  <a:srgbClr val="121212"/>
                </a:solidFill>
                <a:latin typeface="Public Sans"/>
                <a:ea typeface="Public Sans"/>
                <a:cs typeface="Public Sans"/>
                <a:sym typeface="Public Sans"/>
              </a:rPr>
              <a:t>Cấu hình port (tránh lỗi khi restart)</a:t>
            </a:r>
          </a:p>
        </p:txBody>
      </p:sp>
      <p:sp>
        <p:nvSpPr>
          <p:cNvPr id="8" name="TextBox 8"/>
          <p:cNvSpPr txBox="1"/>
          <p:nvPr/>
        </p:nvSpPr>
        <p:spPr>
          <a:xfrm>
            <a:off x="1028700" y="3325105"/>
            <a:ext cx="6321799" cy="915035"/>
          </a:xfrm>
          <a:prstGeom prst="rect">
            <a:avLst/>
          </a:prstGeom>
        </p:spPr>
        <p:txBody>
          <a:bodyPr lIns="0" tIns="0" rIns="0" bIns="0" rtlCol="0" anchor="t">
            <a:spAutoFit/>
          </a:bodyPr>
          <a:lstStyle/>
          <a:p>
            <a:pPr algn="l">
              <a:lnSpc>
                <a:spcPts val="3640"/>
              </a:lnSpc>
              <a:spcBef>
                <a:spcPct val="0"/>
              </a:spcBef>
            </a:pPr>
            <a:r>
              <a:rPr lang="en-US" sz="2600" b="1">
                <a:solidFill>
                  <a:srgbClr val="121212"/>
                </a:solidFill>
                <a:latin typeface="Public Sans Bold"/>
                <a:ea typeface="Public Sans Bold"/>
                <a:cs typeface="Public Sans Bold"/>
                <a:sym typeface="Public Sans Bold"/>
              </a:rPr>
              <a:t>self.socket.bind((self.host, self.port))</a:t>
            </a:r>
          </a:p>
          <a:p>
            <a:pPr algn="l">
              <a:lnSpc>
                <a:spcPts val="3640"/>
              </a:lnSpc>
              <a:spcBef>
                <a:spcPct val="0"/>
              </a:spcBef>
            </a:pPr>
            <a:r>
              <a:rPr lang="en-US" sz="2600" b="1">
                <a:solidFill>
                  <a:srgbClr val="121212"/>
                </a:solidFill>
                <a:latin typeface="Public Sans Bold"/>
                <a:ea typeface="Public Sans Bold"/>
                <a:cs typeface="Public Sans Bold"/>
                <a:sym typeface="Public Sans Bold"/>
              </a:rPr>
              <a:t>self.socket.listen()</a:t>
            </a:r>
          </a:p>
        </p:txBody>
      </p:sp>
      <p:sp>
        <p:nvSpPr>
          <p:cNvPr id="9" name="TextBox 9"/>
          <p:cNvSpPr txBox="1"/>
          <p:nvPr/>
        </p:nvSpPr>
        <p:spPr>
          <a:xfrm>
            <a:off x="9632076" y="3508970"/>
            <a:ext cx="3679746" cy="457835"/>
          </a:xfrm>
          <a:prstGeom prst="rect">
            <a:avLst/>
          </a:prstGeom>
        </p:spPr>
        <p:txBody>
          <a:bodyPr lIns="0" tIns="0" rIns="0" bIns="0" rtlCol="0" anchor="t">
            <a:spAutoFit/>
          </a:bodyPr>
          <a:lstStyle/>
          <a:p>
            <a:pPr algn="ctr">
              <a:lnSpc>
                <a:spcPts val="3640"/>
              </a:lnSpc>
              <a:spcBef>
                <a:spcPct val="0"/>
              </a:spcBef>
            </a:pPr>
            <a:r>
              <a:rPr lang="en-US" sz="2600">
                <a:solidFill>
                  <a:srgbClr val="121212"/>
                </a:solidFill>
                <a:latin typeface="Public Sans"/>
                <a:ea typeface="Public Sans"/>
                <a:cs typeface="Public Sans"/>
                <a:sym typeface="Public Sans"/>
              </a:rPr>
              <a:t> Gắn địa chỉ &amp; mở server</a:t>
            </a:r>
          </a:p>
        </p:txBody>
      </p:sp>
      <p:sp>
        <p:nvSpPr>
          <p:cNvPr id="10" name="TextBox 10"/>
          <p:cNvSpPr txBox="1"/>
          <p:nvPr/>
        </p:nvSpPr>
        <p:spPr>
          <a:xfrm>
            <a:off x="9632076" y="4449690"/>
            <a:ext cx="3350300" cy="457835"/>
          </a:xfrm>
          <a:prstGeom prst="rect">
            <a:avLst/>
          </a:prstGeom>
        </p:spPr>
        <p:txBody>
          <a:bodyPr lIns="0" tIns="0" rIns="0" bIns="0" rtlCol="0" anchor="t">
            <a:spAutoFit/>
          </a:bodyPr>
          <a:lstStyle/>
          <a:p>
            <a:pPr algn="ctr">
              <a:lnSpc>
                <a:spcPts val="3640"/>
              </a:lnSpc>
              <a:spcBef>
                <a:spcPct val="0"/>
              </a:spcBef>
            </a:pPr>
            <a:r>
              <a:rPr lang="en-US" sz="2600">
                <a:solidFill>
                  <a:srgbClr val="121212"/>
                </a:solidFill>
                <a:latin typeface="Public Sans"/>
                <a:ea typeface="Public Sans"/>
                <a:cs typeface="Public Sans"/>
                <a:sym typeface="Public Sans"/>
              </a:rPr>
              <a:t>Nhận kết nối từ client </a:t>
            </a:r>
          </a:p>
        </p:txBody>
      </p:sp>
      <p:sp>
        <p:nvSpPr>
          <p:cNvPr id="11" name="TextBox 11"/>
          <p:cNvSpPr txBox="1"/>
          <p:nvPr/>
        </p:nvSpPr>
        <p:spPr>
          <a:xfrm>
            <a:off x="1068795" y="4449690"/>
            <a:ext cx="5076944" cy="457835"/>
          </a:xfrm>
          <a:prstGeom prst="rect">
            <a:avLst/>
          </a:prstGeom>
        </p:spPr>
        <p:txBody>
          <a:bodyPr lIns="0" tIns="0" rIns="0" bIns="0" rtlCol="0" anchor="t">
            <a:spAutoFit/>
          </a:bodyPr>
          <a:lstStyle/>
          <a:p>
            <a:pPr algn="l">
              <a:lnSpc>
                <a:spcPts val="3640"/>
              </a:lnSpc>
              <a:spcBef>
                <a:spcPct val="0"/>
              </a:spcBef>
            </a:pPr>
            <a:r>
              <a:rPr lang="en-US" sz="2600" b="1">
                <a:solidFill>
                  <a:srgbClr val="121212"/>
                </a:solidFill>
                <a:latin typeface="Public Sans Bold"/>
                <a:ea typeface="Public Sans Bold"/>
                <a:cs typeface="Public Sans Bold"/>
                <a:sym typeface="Public Sans Bold"/>
              </a:rPr>
              <a:t>conn, addr = self.socket.accept()</a:t>
            </a:r>
          </a:p>
        </p:txBody>
      </p:sp>
      <p:sp>
        <p:nvSpPr>
          <p:cNvPr id="12" name="TextBox 12"/>
          <p:cNvSpPr txBox="1"/>
          <p:nvPr/>
        </p:nvSpPr>
        <p:spPr>
          <a:xfrm>
            <a:off x="1068795" y="5117075"/>
            <a:ext cx="5717739" cy="1829435"/>
          </a:xfrm>
          <a:prstGeom prst="rect">
            <a:avLst/>
          </a:prstGeom>
        </p:spPr>
        <p:txBody>
          <a:bodyPr lIns="0" tIns="0" rIns="0" bIns="0" rtlCol="0" anchor="t">
            <a:spAutoFit/>
          </a:bodyPr>
          <a:lstStyle/>
          <a:p>
            <a:pPr algn="l">
              <a:lnSpc>
                <a:spcPts val="3640"/>
              </a:lnSpc>
              <a:spcBef>
                <a:spcPct val="0"/>
              </a:spcBef>
            </a:pPr>
            <a:r>
              <a:rPr lang="en-US" sz="2600" b="1">
                <a:solidFill>
                  <a:srgbClr val="121212"/>
                </a:solidFill>
                <a:latin typeface="Public Sans Bold"/>
                <a:ea typeface="Public Sans Bold"/>
                <a:cs typeface="Public Sans Bold"/>
                <a:sym typeface="Public Sans Bold"/>
              </a:rPr>
              <a:t>threading.Thread(</a:t>
            </a:r>
          </a:p>
          <a:p>
            <a:pPr algn="l">
              <a:lnSpc>
                <a:spcPts val="3640"/>
              </a:lnSpc>
              <a:spcBef>
                <a:spcPct val="0"/>
              </a:spcBef>
            </a:pPr>
            <a:r>
              <a:rPr lang="en-US" sz="2600" b="1">
                <a:solidFill>
                  <a:srgbClr val="121212"/>
                </a:solidFill>
                <a:latin typeface="Public Sans Bold"/>
                <a:ea typeface="Public Sans Bold"/>
                <a:cs typeface="Public Sans Bold"/>
                <a:sym typeface="Public Sans Bold"/>
              </a:rPr>
              <a:t>    target=self.handler.Handle_client,</a:t>
            </a:r>
          </a:p>
          <a:p>
            <a:pPr algn="l">
              <a:lnSpc>
                <a:spcPts val="3640"/>
              </a:lnSpc>
              <a:spcBef>
                <a:spcPct val="0"/>
              </a:spcBef>
            </a:pPr>
            <a:r>
              <a:rPr lang="en-US" sz="2600" b="1">
                <a:solidFill>
                  <a:srgbClr val="121212"/>
                </a:solidFill>
                <a:latin typeface="Public Sans Bold"/>
                <a:ea typeface="Public Sans Bold"/>
                <a:cs typeface="Public Sans Bold"/>
                <a:sym typeface="Public Sans Bold"/>
              </a:rPr>
              <a:t>    args=(conn, addr)</a:t>
            </a:r>
          </a:p>
          <a:p>
            <a:pPr algn="l">
              <a:lnSpc>
                <a:spcPts val="3640"/>
              </a:lnSpc>
              <a:spcBef>
                <a:spcPct val="0"/>
              </a:spcBef>
            </a:pPr>
            <a:r>
              <a:rPr lang="en-US" sz="2600" b="1">
                <a:solidFill>
                  <a:srgbClr val="121212"/>
                </a:solidFill>
                <a:latin typeface="Public Sans Bold"/>
                <a:ea typeface="Public Sans Bold"/>
                <a:cs typeface="Public Sans Bold"/>
                <a:sym typeface="Public Sans Bold"/>
              </a:rPr>
              <a:t>).start()</a:t>
            </a:r>
          </a:p>
        </p:txBody>
      </p:sp>
      <p:sp>
        <p:nvSpPr>
          <p:cNvPr id="13" name="TextBox 13"/>
          <p:cNvSpPr txBox="1"/>
          <p:nvPr/>
        </p:nvSpPr>
        <p:spPr>
          <a:xfrm>
            <a:off x="9693691" y="5117075"/>
            <a:ext cx="5033129" cy="457835"/>
          </a:xfrm>
          <a:prstGeom prst="rect">
            <a:avLst/>
          </a:prstGeom>
        </p:spPr>
        <p:txBody>
          <a:bodyPr lIns="0" tIns="0" rIns="0" bIns="0" rtlCol="0" anchor="t">
            <a:spAutoFit/>
          </a:bodyPr>
          <a:lstStyle/>
          <a:p>
            <a:pPr algn="ctr">
              <a:lnSpc>
                <a:spcPts val="3640"/>
              </a:lnSpc>
              <a:spcBef>
                <a:spcPct val="0"/>
              </a:spcBef>
            </a:pPr>
            <a:r>
              <a:rPr lang="en-US" sz="2600">
                <a:solidFill>
                  <a:srgbClr val="121212"/>
                </a:solidFill>
                <a:latin typeface="Public Sans"/>
                <a:ea typeface="Public Sans"/>
                <a:cs typeface="Public Sans"/>
                <a:sym typeface="Public Sans"/>
              </a:rPr>
              <a:t>Đa luồng — QUAN TRỌNG NHẤT</a:t>
            </a:r>
          </a:p>
        </p:txBody>
      </p:sp>
      <p:sp>
        <p:nvSpPr>
          <p:cNvPr id="14" name="TextBox 14"/>
          <p:cNvSpPr txBox="1"/>
          <p:nvPr/>
        </p:nvSpPr>
        <p:spPr>
          <a:xfrm>
            <a:off x="1068795" y="7156060"/>
            <a:ext cx="1715691" cy="457835"/>
          </a:xfrm>
          <a:prstGeom prst="rect">
            <a:avLst/>
          </a:prstGeom>
        </p:spPr>
        <p:txBody>
          <a:bodyPr lIns="0" tIns="0" rIns="0" bIns="0" rtlCol="0" anchor="t">
            <a:spAutoFit/>
          </a:bodyPr>
          <a:lstStyle/>
          <a:p>
            <a:pPr algn="ctr">
              <a:lnSpc>
                <a:spcPts val="3640"/>
              </a:lnSpc>
              <a:spcBef>
                <a:spcPct val="0"/>
              </a:spcBef>
            </a:pPr>
            <a:r>
              <a:rPr lang="en-US" sz="2600" b="1">
                <a:solidFill>
                  <a:srgbClr val="121212"/>
                </a:solidFill>
                <a:latin typeface="Public Sans Bold"/>
                <a:ea typeface="Public Sans Bold"/>
                <a:cs typeface="Public Sans Bold"/>
                <a:sym typeface="Public Sans Bold"/>
              </a:rPr>
              <a:t>while True:</a:t>
            </a:r>
          </a:p>
        </p:txBody>
      </p:sp>
      <p:sp>
        <p:nvSpPr>
          <p:cNvPr id="15" name="TextBox 15"/>
          <p:cNvSpPr txBox="1"/>
          <p:nvPr/>
        </p:nvSpPr>
        <p:spPr>
          <a:xfrm>
            <a:off x="9766249" y="7013185"/>
            <a:ext cx="2380178" cy="457835"/>
          </a:xfrm>
          <a:prstGeom prst="rect">
            <a:avLst/>
          </a:prstGeom>
        </p:spPr>
        <p:txBody>
          <a:bodyPr lIns="0" tIns="0" rIns="0" bIns="0" rtlCol="0" anchor="t">
            <a:spAutoFit/>
          </a:bodyPr>
          <a:lstStyle/>
          <a:p>
            <a:pPr algn="ctr">
              <a:lnSpc>
                <a:spcPts val="3640"/>
              </a:lnSpc>
              <a:spcBef>
                <a:spcPct val="0"/>
              </a:spcBef>
            </a:pPr>
            <a:r>
              <a:rPr lang="en-US" sz="2600">
                <a:solidFill>
                  <a:srgbClr val="121212"/>
                </a:solidFill>
                <a:latin typeface="Public Sans"/>
                <a:ea typeface="Public Sans"/>
                <a:cs typeface="Public Sans"/>
                <a:sym typeface="Public Sans"/>
              </a:rPr>
              <a:t>Vòng lặp server</a:t>
            </a:r>
          </a:p>
        </p:txBody>
      </p:sp>
      <p:sp>
        <p:nvSpPr>
          <p:cNvPr id="16" name="TextBox 16"/>
          <p:cNvSpPr txBox="1"/>
          <p:nvPr/>
        </p:nvSpPr>
        <p:spPr>
          <a:xfrm>
            <a:off x="9672200" y="7947270"/>
            <a:ext cx="4029551" cy="457835"/>
          </a:xfrm>
          <a:prstGeom prst="rect">
            <a:avLst/>
          </a:prstGeom>
        </p:spPr>
        <p:txBody>
          <a:bodyPr lIns="0" tIns="0" rIns="0" bIns="0" rtlCol="0" anchor="t">
            <a:spAutoFit/>
          </a:bodyPr>
          <a:lstStyle/>
          <a:p>
            <a:pPr algn="ctr">
              <a:lnSpc>
                <a:spcPts val="3640"/>
              </a:lnSpc>
              <a:spcBef>
                <a:spcPct val="0"/>
              </a:spcBef>
            </a:pPr>
            <a:r>
              <a:rPr lang="en-US" sz="2600">
                <a:solidFill>
                  <a:srgbClr val="121212"/>
                </a:solidFill>
                <a:latin typeface="Public Sans"/>
                <a:ea typeface="Public Sans"/>
                <a:cs typeface="Public Sans"/>
                <a:sym typeface="Public Sans"/>
              </a:rPr>
              <a:t> Liên kết với GameHandler</a:t>
            </a:r>
          </a:p>
        </p:txBody>
      </p:sp>
      <p:sp>
        <p:nvSpPr>
          <p:cNvPr id="17" name="TextBox 17"/>
          <p:cNvSpPr txBox="1"/>
          <p:nvPr/>
        </p:nvSpPr>
        <p:spPr>
          <a:xfrm>
            <a:off x="1068795" y="8142850"/>
            <a:ext cx="4633079" cy="457835"/>
          </a:xfrm>
          <a:prstGeom prst="rect">
            <a:avLst/>
          </a:prstGeom>
        </p:spPr>
        <p:txBody>
          <a:bodyPr lIns="0" tIns="0" rIns="0" bIns="0" rtlCol="0" anchor="t">
            <a:spAutoFit/>
          </a:bodyPr>
          <a:lstStyle/>
          <a:p>
            <a:pPr algn="ctr">
              <a:lnSpc>
                <a:spcPts val="3640"/>
              </a:lnSpc>
              <a:spcBef>
                <a:spcPct val="0"/>
              </a:spcBef>
            </a:pPr>
            <a:r>
              <a:rPr lang="en-US" sz="2600" b="1">
                <a:solidFill>
                  <a:srgbClr val="121212"/>
                </a:solidFill>
                <a:latin typeface="Public Sans Bold"/>
                <a:ea typeface="Public Sans Bold"/>
                <a:cs typeface="Public Sans Bold"/>
                <a:sym typeface="Public Sans Bold"/>
              </a:rPr>
              <a:t>self.handler = GameHandler()</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9144000" y="0"/>
            <a:ext cx="9144000" cy="10287000"/>
          </a:xfrm>
          <a:prstGeom prst="rect">
            <a:avLst/>
          </a:prstGeom>
          <a:solidFill>
            <a:srgbClr val="F6F6F6"/>
          </a:solidFill>
        </p:spPr>
      </p:sp>
      <p:sp>
        <p:nvSpPr>
          <p:cNvPr id="3" name="Freeform 3"/>
          <p:cNvSpPr/>
          <p:nvPr/>
        </p:nvSpPr>
        <p:spPr>
          <a:xfrm>
            <a:off x="9749992" y="1092446"/>
            <a:ext cx="6526251" cy="5111893"/>
          </a:xfrm>
          <a:custGeom>
            <a:avLst/>
            <a:gdLst/>
            <a:ahLst/>
            <a:cxnLst/>
            <a:rect l="l" t="t" r="r" b="b"/>
            <a:pathLst>
              <a:path w="6526251" h="5111893">
                <a:moveTo>
                  <a:pt x="0" y="0"/>
                </a:moveTo>
                <a:lnTo>
                  <a:pt x="6526251" y="0"/>
                </a:lnTo>
                <a:lnTo>
                  <a:pt x="6526251" y="5111893"/>
                </a:lnTo>
                <a:lnTo>
                  <a:pt x="0" y="5111893"/>
                </a:lnTo>
                <a:lnTo>
                  <a:pt x="0" y="0"/>
                </a:lnTo>
                <a:close/>
              </a:path>
            </a:pathLst>
          </a:custGeom>
          <a:blipFill>
            <a:blip r:embed="rId2"/>
            <a:stretch>
              <a:fillRect/>
            </a:stretch>
          </a:blipFill>
        </p:spPr>
      </p:sp>
      <p:sp>
        <p:nvSpPr>
          <p:cNvPr id="4" name="TextBox 4"/>
          <p:cNvSpPr txBox="1"/>
          <p:nvPr/>
        </p:nvSpPr>
        <p:spPr>
          <a:xfrm>
            <a:off x="5385806" y="-22929"/>
            <a:ext cx="7035900" cy="981075"/>
          </a:xfrm>
          <a:prstGeom prst="rect">
            <a:avLst/>
          </a:prstGeom>
        </p:spPr>
        <p:txBody>
          <a:bodyPr lIns="0" tIns="0" rIns="0" bIns="0" rtlCol="0" anchor="t">
            <a:spAutoFit/>
          </a:bodyPr>
          <a:lstStyle/>
          <a:p>
            <a:pPr algn="l">
              <a:lnSpc>
                <a:spcPts val="7679"/>
              </a:lnSpc>
            </a:pPr>
            <a:r>
              <a:rPr lang="en-US" sz="6399">
                <a:solidFill>
                  <a:srgbClr val="121212"/>
                </a:solidFill>
                <a:latin typeface="Public Sans"/>
                <a:ea typeface="Public Sans"/>
                <a:cs typeface="Public Sans"/>
                <a:sym typeface="Public Sans"/>
              </a:rPr>
              <a:t>HANDLER.PY</a:t>
            </a:r>
          </a:p>
        </p:txBody>
      </p:sp>
      <p:sp>
        <p:nvSpPr>
          <p:cNvPr id="5" name="TextBox 5"/>
          <p:cNvSpPr txBox="1"/>
          <p:nvPr/>
        </p:nvSpPr>
        <p:spPr>
          <a:xfrm>
            <a:off x="423577" y="1361757"/>
            <a:ext cx="8272320" cy="2286635"/>
          </a:xfrm>
          <a:prstGeom prst="rect">
            <a:avLst/>
          </a:prstGeom>
        </p:spPr>
        <p:txBody>
          <a:bodyPr lIns="0" tIns="0" rIns="0" bIns="0" rtlCol="0" anchor="t">
            <a:spAutoFit/>
          </a:bodyPr>
          <a:lstStyle/>
          <a:p>
            <a:pPr algn="l">
              <a:lnSpc>
                <a:spcPts val="3640"/>
              </a:lnSpc>
              <a:spcBef>
                <a:spcPct val="0"/>
              </a:spcBef>
            </a:pPr>
            <a:r>
              <a:rPr lang="en-US" sz="2600" b="1">
                <a:solidFill>
                  <a:srgbClr val="121212"/>
                </a:solidFill>
                <a:latin typeface="Public Sans Bold"/>
                <a:ea typeface="Public Sans Bold"/>
                <a:cs typeface="Public Sans Bold"/>
                <a:sym typeface="Public Sans Bold"/>
              </a:rPr>
              <a:t>GameHandler là thành phần xử lý toàn bộ logic game. Nó nhận lệnh từ client, phân tích command, cập nhật trạng thái hệ thống như người chơi online, lời mời và trận đấu, sau đó gửi phản hồi để đồng bộ giữa các client.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AutoShape 2"/>
          <p:cNvSpPr/>
          <p:nvPr/>
        </p:nvSpPr>
        <p:spPr>
          <a:xfrm>
            <a:off x="13397102" y="-186709"/>
            <a:ext cx="4890898" cy="10473709"/>
          </a:xfrm>
          <a:prstGeom prst="rect">
            <a:avLst/>
          </a:prstGeom>
          <a:solidFill>
            <a:srgbClr val="FFFFFF"/>
          </a:solidFill>
        </p:spPr>
      </p:sp>
      <p:grpSp>
        <p:nvGrpSpPr>
          <p:cNvPr id="3" name="Group 3"/>
          <p:cNvGrpSpPr>
            <a:grpSpLocks noChangeAspect="1"/>
          </p:cNvGrpSpPr>
          <p:nvPr/>
        </p:nvGrpSpPr>
        <p:grpSpPr>
          <a:xfrm>
            <a:off x="9356119" y="1183994"/>
            <a:ext cx="7903181" cy="7919013"/>
            <a:chOff x="0" y="0"/>
            <a:chExt cx="10143490" cy="10163810"/>
          </a:xfrm>
        </p:grpSpPr>
        <p:sp>
          <p:nvSpPr>
            <p:cNvPr id="4" name="Freeform 4"/>
            <p:cNvSpPr/>
            <p:nvPr/>
          </p:nvSpPr>
          <p:spPr>
            <a:xfrm>
              <a:off x="0" y="0"/>
              <a:ext cx="10143351" cy="10163632"/>
            </a:xfrm>
            <a:custGeom>
              <a:avLst/>
              <a:gdLst/>
              <a:ahLst/>
              <a:cxnLst/>
              <a:rect l="l" t="t" r="r" b="b"/>
              <a:pathLst>
                <a:path w="10143351" h="10163632">
                  <a:moveTo>
                    <a:pt x="0" y="0"/>
                  </a:moveTo>
                  <a:lnTo>
                    <a:pt x="10143351" y="0"/>
                  </a:lnTo>
                  <a:lnTo>
                    <a:pt x="10143351" y="10163632"/>
                  </a:lnTo>
                  <a:lnTo>
                    <a:pt x="0" y="10163632"/>
                  </a:lnTo>
                  <a:close/>
                </a:path>
              </a:pathLst>
            </a:custGeom>
            <a:blipFill>
              <a:blip r:embed="rId2"/>
              <a:stretch>
                <a:fillRect t="-25" b="-25"/>
              </a:stretch>
            </a:blipFill>
          </p:spPr>
        </p:sp>
        <p:sp>
          <p:nvSpPr>
            <p:cNvPr id="5" name="Freeform 5"/>
            <p:cNvSpPr/>
            <p:nvPr/>
          </p:nvSpPr>
          <p:spPr>
            <a:xfrm>
              <a:off x="3149600" y="2368550"/>
              <a:ext cx="5156200" cy="6858000"/>
            </a:xfrm>
            <a:custGeom>
              <a:avLst/>
              <a:gdLst/>
              <a:ahLst/>
              <a:cxnLst/>
              <a:rect l="l" t="t" r="r" b="b"/>
              <a:pathLst>
                <a:path w="5156200" h="6858000">
                  <a:moveTo>
                    <a:pt x="0" y="0"/>
                  </a:moveTo>
                  <a:lnTo>
                    <a:pt x="5156200" y="0"/>
                  </a:lnTo>
                  <a:lnTo>
                    <a:pt x="5156200" y="6858000"/>
                  </a:lnTo>
                  <a:lnTo>
                    <a:pt x="0" y="6858000"/>
                  </a:lnTo>
                  <a:close/>
                </a:path>
              </a:pathLst>
            </a:custGeom>
            <a:blipFill>
              <a:blip r:embed="rId3"/>
              <a:stretch>
                <a:fillRect t="-8926" b="-8926"/>
              </a:stretch>
            </a:blipFill>
          </p:spPr>
        </p:sp>
        <p:sp>
          <p:nvSpPr>
            <p:cNvPr id="6" name="Freeform 6"/>
            <p:cNvSpPr/>
            <p:nvPr/>
          </p:nvSpPr>
          <p:spPr>
            <a:xfrm>
              <a:off x="374650" y="673100"/>
              <a:ext cx="6318250" cy="8427288"/>
            </a:xfrm>
            <a:custGeom>
              <a:avLst/>
              <a:gdLst/>
              <a:ahLst/>
              <a:cxnLst/>
              <a:rect l="l" t="t" r="r" b="b"/>
              <a:pathLst>
                <a:path w="6318250" h="8427288">
                  <a:moveTo>
                    <a:pt x="2560460" y="1417091"/>
                  </a:moveTo>
                  <a:lnTo>
                    <a:pt x="2559050" y="8427288"/>
                  </a:lnTo>
                  <a:lnTo>
                    <a:pt x="0" y="8427288"/>
                  </a:lnTo>
                  <a:lnTo>
                    <a:pt x="0" y="0"/>
                  </a:lnTo>
                  <a:lnTo>
                    <a:pt x="6318250" y="0"/>
                  </a:lnTo>
                  <a:lnTo>
                    <a:pt x="6318250" y="1098550"/>
                  </a:lnTo>
                  <a:lnTo>
                    <a:pt x="2878087" y="1099439"/>
                  </a:lnTo>
                  <a:cubicBezTo>
                    <a:pt x="2702674" y="1099490"/>
                    <a:pt x="2560498" y="1241679"/>
                    <a:pt x="2560460" y="1417091"/>
                  </a:cubicBezTo>
                  <a:close/>
                </a:path>
              </a:pathLst>
            </a:custGeom>
            <a:blipFill>
              <a:blip r:embed="rId4"/>
              <a:stretch>
                <a:fillRect l="-11870" t="-45989" r="-23178" b="-5887"/>
              </a:stretch>
            </a:blipFill>
          </p:spPr>
        </p:sp>
      </p:grpSp>
      <p:sp>
        <p:nvSpPr>
          <p:cNvPr id="7" name="TextBox 7"/>
          <p:cNvSpPr txBox="1"/>
          <p:nvPr/>
        </p:nvSpPr>
        <p:spPr>
          <a:xfrm>
            <a:off x="1181100" y="3592501"/>
            <a:ext cx="7021062" cy="2930547"/>
          </a:xfrm>
          <a:prstGeom prst="rect">
            <a:avLst/>
          </a:prstGeom>
        </p:spPr>
        <p:txBody>
          <a:bodyPr lIns="0" tIns="0" rIns="0" bIns="0" rtlCol="0" anchor="t">
            <a:spAutoFit/>
          </a:bodyPr>
          <a:lstStyle/>
          <a:p>
            <a:pPr algn="l">
              <a:lnSpc>
                <a:spcPts val="11723"/>
              </a:lnSpc>
            </a:pPr>
            <a:r>
              <a:rPr lang="en-US" sz="8374" b="1">
                <a:solidFill>
                  <a:srgbClr val="67DB7D"/>
                </a:solidFill>
                <a:latin typeface="Public Sans Bold"/>
                <a:ea typeface="Public Sans Bold"/>
                <a:cs typeface="Public Sans Bold"/>
                <a:sym typeface="Public Sans Bold"/>
              </a:rPr>
              <a:t>PHẦN 3  - Client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EEDE"/>
        </a:solidFill>
        <a:effectLst/>
      </p:bgPr>
    </p:bg>
    <p:spTree>
      <p:nvGrpSpPr>
        <p:cNvPr id="1" name=""/>
        <p:cNvGrpSpPr/>
        <p:nvPr/>
      </p:nvGrpSpPr>
      <p:grpSpPr>
        <a:xfrm>
          <a:off x="0" y="0"/>
          <a:ext cx="0" cy="0"/>
          <a:chOff x="0" y="0"/>
          <a:chExt cx="0" cy="0"/>
        </a:xfrm>
      </p:grpSpPr>
      <p:sp>
        <p:nvSpPr>
          <p:cNvPr id="2" name="Freeform 2"/>
          <p:cNvSpPr/>
          <p:nvPr/>
        </p:nvSpPr>
        <p:spPr>
          <a:xfrm>
            <a:off x="8478978" y="1156456"/>
            <a:ext cx="9809022" cy="3661703"/>
          </a:xfrm>
          <a:custGeom>
            <a:avLst/>
            <a:gdLst/>
            <a:ahLst/>
            <a:cxnLst/>
            <a:rect l="l" t="t" r="r" b="b"/>
            <a:pathLst>
              <a:path w="9809022" h="3661703">
                <a:moveTo>
                  <a:pt x="0" y="0"/>
                </a:moveTo>
                <a:lnTo>
                  <a:pt x="9809022" y="0"/>
                </a:lnTo>
                <a:lnTo>
                  <a:pt x="9809022" y="3661703"/>
                </a:lnTo>
                <a:lnTo>
                  <a:pt x="0" y="3661703"/>
                </a:lnTo>
                <a:lnTo>
                  <a:pt x="0" y="0"/>
                </a:lnTo>
                <a:close/>
              </a:path>
            </a:pathLst>
          </a:custGeom>
          <a:blipFill>
            <a:blip r:embed="rId2"/>
            <a:stretch>
              <a:fillRect r="-1121"/>
            </a:stretch>
          </a:blipFill>
        </p:spPr>
      </p:sp>
      <p:sp>
        <p:nvSpPr>
          <p:cNvPr id="3" name="TextBox 3"/>
          <p:cNvSpPr txBox="1"/>
          <p:nvPr/>
        </p:nvSpPr>
        <p:spPr>
          <a:xfrm>
            <a:off x="2103216" y="1362954"/>
            <a:ext cx="8521822" cy="8478520"/>
          </a:xfrm>
          <a:prstGeom prst="rect">
            <a:avLst/>
          </a:prstGeom>
        </p:spPr>
        <p:txBody>
          <a:bodyPr lIns="0" tIns="0" rIns="0" bIns="0" rtlCol="0" anchor="t">
            <a:spAutoFit/>
          </a:bodyPr>
          <a:lstStyle/>
          <a:p>
            <a:pPr algn="l">
              <a:lnSpc>
                <a:spcPts val="8599"/>
              </a:lnSpc>
            </a:pPr>
            <a:r>
              <a:rPr lang="en-US" sz="3999" b="1">
                <a:solidFill>
                  <a:srgbClr val="000000"/>
                </a:solidFill>
                <a:latin typeface="Canva Sans Bold"/>
                <a:ea typeface="Canva Sans Bold"/>
                <a:cs typeface="Canva Sans Bold"/>
                <a:sym typeface="Canva Sans Bold"/>
              </a:rPr>
              <a:t>1. GUI</a:t>
            </a:r>
          </a:p>
          <a:p>
            <a:pPr algn="l">
              <a:lnSpc>
                <a:spcPts val="8599"/>
              </a:lnSpc>
            </a:pPr>
            <a:r>
              <a:rPr lang="en-US" sz="3999" b="1">
                <a:solidFill>
                  <a:srgbClr val="000000"/>
                </a:solidFill>
                <a:latin typeface="Canva Sans Bold"/>
                <a:ea typeface="Canva Sans Bold"/>
                <a:cs typeface="Canva Sans Bold"/>
                <a:sym typeface="Canva Sans Bold"/>
              </a:rPr>
              <a:t>2. Challenge</a:t>
            </a:r>
          </a:p>
          <a:p>
            <a:pPr algn="l">
              <a:lnSpc>
                <a:spcPts val="8599"/>
              </a:lnSpc>
            </a:pPr>
            <a:r>
              <a:rPr lang="en-US" sz="3999" b="1">
                <a:solidFill>
                  <a:srgbClr val="000000"/>
                </a:solidFill>
                <a:latin typeface="Canva Sans Bold"/>
                <a:ea typeface="Canva Sans Bold"/>
                <a:cs typeface="Canva Sans Bold"/>
                <a:sym typeface="Canva Sans Bold"/>
              </a:rPr>
              <a:t>3.History</a:t>
            </a:r>
          </a:p>
          <a:p>
            <a:pPr algn="l">
              <a:lnSpc>
                <a:spcPts val="8599"/>
              </a:lnSpc>
            </a:pPr>
            <a:r>
              <a:rPr lang="en-US" sz="3999" b="1">
                <a:solidFill>
                  <a:srgbClr val="000000"/>
                </a:solidFill>
                <a:latin typeface="Canva Sans Bold"/>
                <a:ea typeface="Canva Sans Bold"/>
                <a:cs typeface="Canva Sans Bold"/>
                <a:sym typeface="Canva Sans Bold"/>
              </a:rPr>
              <a:t>4. Netwwork</a:t>
            </a:r>
          </a:p>
          <a:p>
            <a:pPr algn="l">
              <a:lnSpc>
                <a:spcPts val="8599"/>
              </a:lnSpc>
            </a:pPr>
            <a:r>
              <a:rPr lang="en-US" sz="3999" b="1">
                <a:solidFill>
                  <a:srgbClr val="000000"/>
                </a:solidFill>
                <a:latin typeface="Canva Sans Bold"/>
                <a:ea typeface="Canva Sans Bold"/>
                <a:cs typeface="Canva Sans Bold"/>
                <a:sym typeface="Canva Sans Bold"/>
              </a:rPr>
              <a:t>5. Game</a:t>
            </a:r>
          </a:p>
          <a:p>
            <a:pPr algn="l">
              <a:lnSpc>
                <a:spcPts val="8599"/>
              </a:lnSpc>
            </a:pPr>
            <a:endParaRPr lang="en-US" sz="3999" b="1">
              <a:solidFill>
                <a:srgbClr val="000000"/>
              </a:solidFill>
              <a:latin typeface="Canva Sans Bold"/>
              <a:ea typeface="Canva Sans Bold"/>
              <a:cs typeface="Canva Sans Bold"/>
              <a:sym typeface="Canva Sans Bold"/>
            </a:endParaRPr>
          </a:p>
          <a:p>
            <a:pPr algn="l">
              <a:lnSpc>
                <a:spcPts val="5473"/>
              </a:lnSpc>
            </a:pPr>
            <a:endParaRPr lang="en-US" sz="3999" b="1">
              <a:solidFill>
                <a:srgbClr val="000000"/>
              </a:solidFill>
              <a:latin typeface="Canva Sans Bold"/>
              <a:ea typeface="Canva Sans Bold"/>
              <a:cs typeface="Canva Sans Bold"/>
              <a:sym typeface="Canva Sans Bold"/>
            </a:endParaRPr>
          </a:p>
          <a:p>
            <a:pPr algn="l">
              <a:lnSpc>
                <a:spcPts val="4759"/>
              </a:lnSpc>
            </a:pPr>
            <a:endParaRPr lang="en-US" sz="3999" b="1">
              <a:solidFill>
                <a:srgbClr val="000000"/>
              </a:solidFill>
              <a:latin typeface="Canva Sans Bold"/>
              <a:ea typeface="Canva Sans Bold"/>
              <a:cs typeface="Canva Sans Bold"/>
              <a:sym typeface="Canva Sans Bold"/>
            </a:endParaRPr>
          </a:p>
          <a:p>
            <a:pPr algn="l">
              <a:lnSpc>
                <a:spcPts val="4759"/>
              </a:lnSpc>
            </a:pPr>
            <a:endParaRPr lang="en-US" sz="3999" b="1">
              <a:solidFill>
                <a:srgbClr val="000000"/>
              </a:solidFill>
              <a:latin typeface="Canva Sans Bold"/>
              <a:ea typeface="Canva Sans Bold"/>
              <a:cs typeface="Canva Sans Bold"/>
              <a:sym typeface="Canva Sans Bo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EEDE"/>
        </a:solidFill>
        <a:effectLst/>
      </p:bgPr>
    </p:bg>
    <p:spTree>
      <p:nvGrpSpPr>
        <p:cNvPr id="1" name=""/>
        <p:cNvGrpSpPr/>
        <p:nvPr/>
      </p:nvGrpSpPr>
      <p:grpSpPr>
        <a:xfrm>
          <a:off x="0" y="0"/>
          <a:ext cx="0" cy="0"/>
          <a:chOff x="0" y="0"/>
          <a:chExt cx="0" cy="0"/>
        </a:xfrm>
      </p:grpSpPr>
      <p:sp>
        <p:nvSpPr>
          <p:cNvPr id="2" name="TextBox 2"/>
          <p:cNvSpPr txBox="1"/>
          <p:nvPr/>
        </p:nvSpPr>
        <p:spPr>
          <a:xfrm>
            <a:off x="1577899" y="1639110"/>
            <a:ext cx="15132202" cy="3904615"/>
          </a:xfrm>
          <a:prstGeom prst="rect">
            <a:avLst/>
          </a:prstGeom>
        </p:spPr>
        <p:txBody>
          <a:bodyPr lIns="0" tIns="0" rIns="0" bIns="0" rtlCol="0" anchor="t">
            <a:spAutoFit/>
          </a:bodyPr>
          <a:lstStyle/>
          <a:p>
            <a:pPr algn="l">
              <a:lnSpc>
                <a:spcPts val="7879"/>
              </a:lnSpc>
            </a:pPr>
            <a:r>
              <a:rPr lang="en-US" sz="3999" b="1" spc="187">
                <a:solidFill>
                  <a:srgbClr val="000000"/>
                </a:solidFill>
                <a:latin typeface="Canva Sans Bold"/>
                <a:ea typeface="Canva Sans Bold"/>
                <a:cs typeface="Canva Sans Bold"/>
                <a:sym typeface="Canva Sans Bold"/>
              </a:rPr>
              <a:t>Giao diện người dùng bao gồm các màn hình chính như đăng nhập,đăng ký phòng chờ và bàn cờ.</a:t>
            </a:r>
          </a:p>
          <a:p>
            <a:pPr algn="l">
              <a:lnSpc>
                <a:spcPts val="7879"/>
              </a:lnSpc>
            </a:pPr>
            <a:r>
              <a:rPr lang="en-US" sz="3999" b="1" spc="187">
                <a:solidFill>
                  <a:srgbClr val="000000"/>
                </a:solidFill>
                <a:latin typeface="Canva Sans Bold"/>
                <a:ea typeface="Canva Sans Bold"/>
                <a:cs typeface="Canva Sans Bold"/>
                <a:sym typeface="Canva Sans Bold"/>
              </a:rPr>
              <a:t> Cho phép người chơi nhập thông tin, chọn đối thủ và tương tác trong quá trình chơi.</a:t>
            </a:r>
          </a:p>
        </p:txBody>
      </p:sp>
      <p:sp>
        <p:nvSpPr>
          <p:cNvPr id="3" name="TextBox 3"/>
          <p:cNvSpPr txBox="1"/>
          <p:nvPr/>
        </p:nvSpPr>
        <p:spPr>
          <a:xfrm>
            <a:off x="1028700" y="468084"/>
            <a:ext cx="15132202" cy="811531"/>
          </a:xfrm>
          <a:prstGeom prst="rect">
            <a:avLst/>
          </a:prstGeom>
        </p:spPr>
        <p:txBody>
          <a:bodyPr lIns="0" tIns="0" rIns="0" bIns="0" rtlCol="0" anchor="t">
            <a:spAutoFit/>
          </a:bodyPr>
          <a:lstStyle/>
          <a:p>
            <a:pPr algn="ctr">
              <a:lnSpc>
                <a:spcPts val="6719"/>
              </a:lnSpc>
              <a:spcBef>
                <a:spcPct val="0"/>
              </a:spcBef>
            </a:pPr>
            <a:r>
              <a:rPr lang="en-US" sz="4799" b="1">
                <a:solidFill>
                  <a:srgbClr val="000000"/>
                </a:solidFill>
                <a:latin typeface="Canva Sans Bold"/>
                <a:ea typeface="Canva Sans Bold"/>
                <a:cs typeface="Canva Sans Bold"/>
                <a:sym typeface="Canva Sans Bold"/>
              </a:rPr>
              <a:t>GUI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67DB7D"/>
        </a:solidFill>
        <a:effectLst/>
      </p:bgPr>
    </p:bg>
    <p:spTree>
      <p:nvGrpSpPr>
        <p:cNvPr id="1" name=""/>
        <p:cNvGrpSpPr/>
        <p:nvPr/>
      </p:nvGrpSpPr>
      <p:grpSpPr>
        <a:xfrm>
          <a:off x="0" y="0"/>
          <a:ext cx="0" cy="0"/>
          <a:chOff x="0" y="0"/>
          <a:chExt cx="0" cy="0"/>
        </a:xfrm>
      </p:grpSpPr>
      <p:grpSp>
        <p:nvGrpSpPr>
          <p:cNvPr id="2" name="Group 2"/>
          <p:cNvGrpSpPr/>
          <p:nvPr/>
        </p:nvGrpSpPr>
        <p:grpSpPr>
          <a:xfrm>
            <a:off x="6766972" y="467371"/>
            <a:ext cx="10956657" cy="9352258"/>
            <a:chOff x="0" y="0"/>
            <a:chExt cx="3193467" cy="2725843"/>
          </a:xfrm>
        </p:grpSpPr>
        <p:sp>
          <p:nvSpPr>
            <p:cNvPr id="3" name="Freeform 3"/>
            <p:cNvSpPr/>
            <p:nvPr/>
          </p:nvSpPr>
          <p:spPr>
            <a:xfrm>
              <a:off x="0" y="0"/>
              <a:ext cx="3193467" cy="2725844"/>
            </a:xfrm>
            <a:custGeom>
              <a:avLst/>
              <a:gdLst/>
              <a:ahLst/>
              <a:cxnLst/>
              <a:rect l="l" t="t" r="r" b="b"/>
              <a:pathLst>
                <a:path w="3193467" h="2725844">
                  <a:moveTo>
                    <a:pt x="3069007" y="2725843"/>
                  </a:moveTo>
                  <a:lnTo>
                    <a:pt x="124460" y="2725843"/>
                  </a:lnTo>
                  <a:cubicBezTo>
                    <a:pt x="55880" y="2725843"/>
                    <a:pt x="0" y="2669963"/>
                    <a:pt x="0" y="2601383"/>
                  </a:cubicBezTo>
                  <a:lnTo>
                    <a:pt x="0" y="124460"/>
                  </a:lnTo>
                  <a:cubicBezTo>
                    <a:pt x="0" y="55880"/>
                    <a:pt x="55880" y="0"/>
                    <a:pt x="124460" y="0"/>
                  </a:cubicBezTo>
                  <a:lnTo>
                    <a:pt x="3069007" y="0"/>
                  </a:lnTo>
                  <a:cubicBezTo>
                    <a:pt x="3137587" y="0"/>
                    <a:pt x="3193467" y="55880"/>
                    <a:pt x="3193467" y="124460"/>
                  </a:cubicBezTo>
                  <a:lnTo>
                    <a:pt x="3193467" y="2601383"/>
                  </a:lnTo>
                  <a:cubicBezTo>
                    <a:pt x="3193467" y="2669963"/>
                    <a:pt x="3137587" y="2725844"/>
                    <a:pt x="3069007" y="2725844"/>
                  </a:cubicBezTo>
                  <a:close/>
                </a:path>
              </a:pathLst>
            </a:custGeom>
            <a:solidFill>
              <a:srgbClr val="FFFFFF"/>
            </a:solidFill>
          </p:spPr>
        </p:sp>
      </p:grpSp>
      <p:sp>
        <p:nvSpPr>
          <p:cNvPr id="4" name="Freeform 4"/>
          <p:cNvSpPr/>
          <p:nvPr/>
        </p:nvSpPr>
        <p:spPr>
          <a:xfrm>
            <a:off x="1028700" y="1754668"/>
            <a:ext cx="5161667" cy="6117531"/>
          </a:xfrm>
          <a:custGeom>
            <a:avLst/>
            <a:gdLst/>
            <a:ahLst/>
            <a:cxnLst/>
            <a:rect l="l" t="t" r="r" b="b"/>
            <a:pathLst>
              <a:path w="5161667" h="6117531">
                <a:moveTo>
                  <a:pt x="0" y="0"/>
                </a:moveTo>
                <a:lnTo>
                  <a:pt x="5161667" y="0"/>
                </a:lnTo>
                <a:lnTo>
                  <a:pt x="5161667" y="6117531"/>
                </a:lnTo>
                <a:lnTo>
                  <a:pt x="0" y="6117531"/>
                </a:lnTo>
                <a:lnTo>
                  <a:pt x="0" y="0"/>
                </a:lnTo>
                <a:close/>
              </a:path>
            </a:pathLst>
          </a:custGeom>
          <a:blipFill>
            <a:blip r:embed="rId2"/>
            <a:stretch>
              <a:fillRect/>
            </a:stretch>
          </a:blipFill>
        </p:spPr>
      </p:sp>
      <p:sp>
        <p:nvSpPr>
          <p:cNvPr id="5" name="TextBox 5"/>
          <p:cNvSpPr txBox="1"/>
          <p:nvPr/>
        </p:nvSpPr>
        <p:spPr>
          <a:xfrm>
            <a:off x="1028700" y="457846"/>
            <a:ext cx="4166518" cy="971550"/>
          </a:xfrm>
          <a:prstGeom prst="rect">
            <a:avLst/>
          </a:prstGeom>
        </p:spPr>
        <p:txBody>
          <a:bodyPr lIns="0" tIns="0" rIns="0" bIns="0" rtlCol="0" anchor="t">
            <a:spAutoFit/>
          </a:bodyPr>
          <a:lstStyle/>
          <a:p>
            <a:pPr algn="l">
              <a:lnSpc>
                <a:spcPts val="7620"/>
              </a:lnSpc>
            </a:pPr>
            <a:r>
              <a:rPr lang="en-US" sz="6350">
                <a:solidFill>
                  <a:srgbClr val="FFFFFF"/>
                </a:solidFill>
                <a:latin typeface="Public Sans"/>
                <a:ea typeface="Public Sans"/>
                <a:cs typeface="Public Sans"/>
                <a:sym typeface="Public Sans"/>
              </a:rPr>
              <a:t>LOGIN</a:t>
            </a:r>
          </a:p>
        </p:txBody>
      </p:sp>
      <p:sp>
        <p:nvSpPr>
          <p:cNvPr id="6" name="TextBox 6"/>
          <p:cNvSpPr txBox="1"/>
          <p:nvPr/>
        </p:nvSpPr>
        <p:spPr>
          <a:xfrm>
            <a:off x="7373320" y="1707043"/>
            <a:ext cx="8273758" cy="4677625"/>
          </a:xfrm>
          <a:prstGeom prst="rect">
            <a:avLst/>
          </a:prstGeom>
        </p:spPr>
        <p:txBody>
          <a:bodyPr lIns="0" tIns="0" rIns="0" bIns="0" rtlCol="0" anchor="t">
            <a:spAutoFit/>
          </a:bodyPr>
          <a:lstStyle/>
          <a:p>
            <a:pPr algn="l">
              <a:lnSpc>
                <a:spcPts val="3103"/>
              </a:lnSpc>
              <a:spcBef>
                <a:spcPct val="0"/>
              </a:spcBef>
            </a:pPr>
            <a:r>
              <a:rPr lang="en-US" sz="2216" b="1">
                <a:solidFill>
                  <a:srgbClr val="000000"/>
                </a:solidFill>
                <a:latin typeface="Canva Sans Bold"/>
                <a:ea typeface="Canva Sans Bold"/>
                <a:cs typeface="Canva Sans Bold"/>
                <a:sym typeface="Canva Sans Bold"/>
              </a:rPr>
              <a:t>LoginUI chịu trách nhiệm xác thực người dùng và kết nối server, là bước khởi đầu trước khi vào hệ thống game.</a:t>
            </a:r>
          </a:p>
          <a:p>
            <a:pPr algn="l">
              <a:lnSpc>
                <a:spcPts val="3103"/>
              </a:lnSpc>
              <a:spcBef>
                <a:spcPct val="0"/>
              </a:spcBef>
            </a:pPr>
            <a:r>
              <a:rPr lang="en-US" sz="2216" b="1">
                <a:solidFill>
                  <a:srgbClr val="000000"/>
                </a:solidFill>
                <a:latin typeface="Canva Sans Bold"/>
                <a:ea typeface="Canva Sans Bold"/>
                <a:cs typeface="Canva Sans Bold"/>
                <a:sym typeface="Canva Sans Bold"/>
              </a:rPr>
              <a:t>Các chức năng chính:</a:t>
            </a:r>
          </a:p>
          <a:p>
            <a:pPr marL="478550" lvl="1" indent="-239275"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Đăng ký tài khoản mới nếu chưa có</a:t>
            </a:r>
          </a:p>
          <a:p>
            <a:pPr marL="478550" lvl="1" indent="-239275"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Đăng nhập vào hệ thống</a:t>
            </a:r>
          </a:p>
          <a:p>
            <a:pPr marL="478550" lvl="1" indent="-239275"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Kiểm tra dữ liệu đầu vào</a:t>
            </a:r>
          </a:p>
          <a:p>
            <a:pPr marL="478550" lvl="1" indent="-239275"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Báo lỗi khi:</a:t>
            </a:r>
          </a:p>
          <a:p>
            <a:pPr marL="957100" lvl="2" indent="-319033"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Tài khoản không tồn tại</a:t>
            </a:r>
          </a:p>
          <a:p>
            <a:pPr marL="957100" lvl="2" indent="-319033"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Sai mật khẩu</a:t>
            </a:r>
          </a:p>
          <a:p>
            <a:pPr marL="957100" lvl="2" indent="-319033"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Trùng tài khoản khi đăng ký</a:t>
            </a:r>
          </a:p>
          <a:p>
            <a:pPr algn="l">
              <a:lnSpc>
                <a:spcPts val="3103"/>
              </a:lnSpc>
              <a:spcBef>
                <a:spcPct val="0"/>
              </a:spcBef>
            </a:pPr>
            <a:r>
              <a:rPr lang="en-US" sz="2216" b="1">
                <a:solidFill>
                  <a:srgbClr val="000000"/>
                </a:solidFill>
                <a:latin typeface="Canva Sans Bold"/>
                <a:ea typeface="Canva Sans Bold"/>
                <a:cs typeface="Canva Sans Bold"/>
                <a:sym typeface="Canva Sans Bold"/>
              </a:rPr>
              <a:t>⟶ LoginUI đảm bảo người dùng hợp lệ trước khi truy cập vào hệ thống game.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67DB7D"/>
        </a:solidFill>
        <a:effectLst/>
      </p:bgPr>
    </p:bg>
    <p:spTree>
      <p:nvGrpSpPr>
        <p:cNvPr id="1" name=""/>
        <p:cNvGrpSpPr/>
        <p:nvPr/>
      </p:nvGrpSpPr>
      <p:grpSpPr>
        <a:xfrm>
          <a:off x="0" y="0"/>
          <a:ext cx="0" cy="0"/>
          <a:chOff x="0" y="0"/>
          <a:chExt cx="0" cy="0"/>
        </a:xfrm>
      </p:grpSpPr>
      <p:sp>
        <p:nvSpPr>
          <p:cNvPr id="2" name="Freeform 2"/>
          <p:cNvSpPr/>
          <p:nvPr/>
        </p:nvSpPr>
        <p:spPr>
          <a:xfrm>
            <a:off x="649046" y="3248898"/>
            <a:ext cx="3591490" cy="4288060"/>
          </a:xfrm>
          <a:custGeom>
            <a:avLst/>
            <a:gdLst/>
            <a:ahLst/>
            <a:cxnLst/>
            <a:rect l="l" t="t" r="r" b="b"/>
            <a:pathLst>
              <a:path w="3591490" h="4288060">
                <a:moveTo>
                  <a:pt x="0" y="0"/>
                </a:moveTo>
                <a:lnTo>
                  <a:pt x="3591490" y="0"/>
                </a:lnTo>
                <a:lnTo>
                  <a:pt x="3591490" y="4288060"/>
                </a:lnTo>
                <a:lnTo>
                  <a:pt x="0" y="4288060"/>
                </a:lnTo>
                <a:lnTo>
                  <a:pt x="0" y="0"/>
                </a:lnTo>
                <a:close/>
              </a:path>
            </a:pathLst>
          </a:custGeom>
          <a:blipFill>
            <a:blip r:embed="rId2"/>
            <a:stretch>
              <a:fillRect/>
            </a:stretch>
          </a:blipFill>
        </p:spPr>
      </p:sp>
      <p:sp>
        <p:nvSpPr>
          <p:cNvPr id="3" name="Freeform 3"/>
          <p:cNvSpPr/>
          <p:nvPr/>
        </p:nvSpPr>
        <p:spPr>
          <a:xfrm>
            <a:off x="4726584" y="3248898"/>
            <a:ext cx="3437729" cy="4288060"/>
          </a:xfrm>
          <a:custGeom>
            <a:avLst/>
            <a:gdLst/>
            <a:ahLst/>
            <a:cxnLst/>
            <a:rect l="l" t="t" r="r" b="b"/>
            <a:pathLst>
              <a:path w="3437729" h="4288060">
                <a:moveTo>
                  <a:pt x="0" y="0"/>
                </a:moveTo>
                <a:lnTo>
                  <a:pt x="3437728" y="0"/>
                </a:lnTo>
                <a:lnTo>
                  <a:pt x="3437728" y="4288060"/>
                </a:lnTo>
                <a:lnTo>
                  <a:pt x="0" y="4288060"/>
                </a:lnTo>
                <a:lnTo>
                  <a:pt x="0" y="0"/>
                </a:lnTo>
                <a:close/>
              </a:path>
            </a:pathLst>
          </a:custGeom>
          <a:blipFill>
            <a:blip r:embed="rId3"/>
            <a:stretch>
              <a:fillRect l="-2143" r="-2143"/>
            </a:stretch>
          </a:blipFill>
        </p:spPr>
      </p:sp>
      <p:sp>
        <p:nvSpPr>
          <p:cNvPr id="4" name="Freeform 4"/>
          <p:cNvSpPr/>
          <p:nvPr/>
        </p:nvSpPr>
        <p:spPr>
          <a:xfrm>
            <a:off x="12586302" y="3306494"/>
            <a:ext cx="4343329" cy="4172870"/>
          </a:xfrm>
          <a:custGeom>
            <a:avLst/>
            <a:gdLst/>
            <a:ahLst/>
            <a:cxnLst/>
            <a:rect l="l" t="t" r="r" b="b"/>
            <a:pathLst>
              <a:path w="4343329" h="4172870">
                <a:moveTo>
                  <a:pt x="0" y="0"/>
                </a:moveTo>
                <a:lnTo>
                  <a:pt x="4343329" y="0"/>
                </a:lnTo>
                <a:lnTo>
                  <a:pt x="4343329" y="4172869"/>
                </a:lnTo>
                <a:lnTo>
                  <a:pt x="0" y="4172869"/>
                </a:lnTo>
                <a:lnTo>
                  <a:pt x="0" y="0"/>
                </a:lnTo>
                <a:close/>
              </a:path>
            </a:pathLst>
          </a:custGeom>
          <a:blipFill>
            <a:blip r:embed="rId4"/>
            <a:stretch>
              <a:fillRect l="-1149" t="-581" r="-1149"/>
            </a:stretch>
          </a:blipFill>
        </p:spPr>
      </p:sp>
      <p:sp>
        <p:nvSpPr>
          <p:cNvPr id="5" name="Freeform 5"/>
          <p:cNvSpPr/>
          <p:nvPr/>
        </p:nvSpPr>
        <p:spPr>
          <a:xfrm>
            <a:off x="8694134" y="3248898"/>
            <a:ext cx="3570361" cy="4288060"/>
          </a:xfrm>
          <a:custGeom>
            <a:avLst/>
            <a:gdLst/>
            <a:ahLst/>
            <a:cxnLst/>
            <a:rect l="l" t="t" r="r" b="b"/>
            <a:pathLst>
              <a:path w="3570361" h="4288060">
                <a:moveTo>
                  <a:pt x="0" y="0"/>
                </a:moveTo>
                <a:lnTo>
                  <a:pt x="3570361" y="0"/>
                </a:lnTo>
                <a:lnTo>
                  <a:pt x="3570361" y="4288060"/>
                </a:lnTo>
                <a:lnTo>
                  <a:pt x="0" y="4288060"/>
                </a:lnTo>
                <a:lnTo>
                  <a:pt x="0" y="0"/>
                </a:lnTo>
                <a:close/>
              </a:path>
            </a:pathLst>
          </a:custGeom>
          <a:blipFill>
            <a:blip r:embed="rId5"/>
            <a:stretch>
              <a:fillRect l="-1087" r="-1087"/>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67DB7D"/>
        </a:solidFill>
        <a:effectLst/>
      </p:bgPr>
    </p:bg>
    <p:spTree>
      <p:nvGrpSpPr>
        <p:cNvPr id="1" name=""/>
        <p:cNvGrpSpPr/>
        <p:nvPr/>
      </p:nvGrpSpPr>
      <p:grpSpPr>
        <a:xfrm>
          <a:off x="0" y="0"/>
          <a:ext cx="0" cy="0"/>
          <a:chOff x="0" y="0"/>
          <a:chExt cx="0" cy="0"/>
        </a:xfrm>
      </p:grpSpPr>
      <p:grpSp>
        <p:nvGrpSpPr>
          <p:cNvPr id="2" name="Group 2"/>
          <p:cNvGrpSpPr/>
          <p:nvPr/>
        </p:nvGrpSpPr>
        <p:grpSpPr>
          <a:xfrm>
            <a:off x="6905140" y="467371"/>
            <a:ext cx="10956657" cy="9352258"/>
            <a:chOff x="0" y="0"/>
            <a:chExt cx="3193467" cy="2725843"/>
          </a:xfrm>
        </p:grpSpPr>
        <p:sp>
          <p:nvSpPr>
            <p:cNvPr id="3" name="Freeform 3"/>
            <p:cNvSpPr/>
            <p:nvPr/>
          </p:nvSpPr>
          <p:spPr>
            <a:xfrm>
              <a:off x="0" y="0"/>
              <a:ext cx="3193467" cy="2725844"/>
            </a:xfrm>
            <a:custGeom>
              <a:avLst/>
              <a:gdLst/>
              <a:ahLst/>
              <a:cxnLst/>
              <a:rect l="l" t="t" r="r" b="b"/>
              <a:pathLst>
                <a:path w="3193467" h="2725844">
                  <a:moveTo>
                    <a:pt x="3069007" y="2725843"/>
                  </a:moveTo>
                  <a:lnTo>
                    <a:pt x="124460" y="2725843"/>
                  </a:lnTo>
                  <a:cubicBezTo>
                    <a:pt x="55880" y="2725843"/>
                    <a:pt x="0" y="2669963"/>
                    <a:pt x="0" y="2601383"/>
                  </a:cubicBezTo>
                  <a:lnTo>
                    <a:pt x="0" y="124460"/>
                  </a:lnTo>
                  <a:cubicBezTo>
                    <a:pt x="0" y="55880"/>
                    <a:pt x="55880" y="0"/>
                    <a:pt x="124460" y="0"/>
                  </a:cubicBezTo>
                  <a:lnTo>
                    <a:pt x="3069007" y="0"/>
                  </a:lnTo>
                  <a:cubicBezTo>
                    <a:pt x="3137587" y="0"/>
                    <a:pt x="3193467" y="55880"/>
                    <a:pt x="3193467" y="124460"/>
                  </a:cubicBezTo>
                  <a:lnTo>
                    <a:pt x="3193467" y="2601383"/>
                  </a:lnTo>
                  <a:cubicBezTo>
                    <a:pt x="3193467" y="2669963"/>
                    <a:pt x="3137587" y="2725844"/>
                    <a:pt x="3069007" y="2725844"/>
                  </a:cubicBezTo>
                  <a:close/>
                </a:path>
              </a:pathLst>
            </a:custGeom>
            <a:solidFill>
              <a:srgbClr val="FFFFFF"/>
            </a:solidFill>
          </p:spPr>
        </p:sp>
      </p:grpSp>
      <p:sp>
        <p:nvSpPr>
          <p:cNvPr id="4" name="Freeform 4"/>
          <p:cNvSpPr/>
          <p:nvPr/>
        </p:nvSpPr>
        <p:spPr>
          <a:xfrm>
            <a:off x="871509" y="2429943"/>
            <a:ext cx="5556965" cy="6160597"/>
          </a:xfrm>
          <a:custGeom>
            <a:avLst/>
            <a:gdLst/>
            <a:ahLst/>
            <a:cxnLst/>
            <a:rect l="l" t="t" r="r" b="b"/>
            <a:pathLst>
              <a:path w="5556965" h="6160597">
                <a:moveTo>
                  <a:pt x="0" y="0"/>
                </a:moveTo>
                <a:lnTo>
                  <a:pt x="5556965" y="0"/>
                </a:lnTo>
                <a:lnTo>
                  <a:pt x="5556965" y="6160596"/>
                </a:lnTo>
                <a:lnTo>
                  <a:pt x="0" y="6160596"/>
                </a:lnTo>
                <a:lnTo>
                  <a:pt x="0" y="0"/>
                </a:lnTo>
                <a:close/>
              </a:path>
            </a:pathLst>
          </a:custGeom>
          <a:blipFill>
            <a:blip r:embed="rId2"/>
            <a:stretch>
              <a:fillRect/>
            </a:stretch>
          </a:blipFill>
        </p:spPr>
      </p:sp>
      <p:sp>
        <p:nvSpPr>
          <p:cNvPr id="5" name="Freeform 5"/>
          <p:cNvSpPr/>
          <p:nvPr/>
        </p:nvSpPr>
        <p:spPr>
          <a:xfrm>
            <a:off x="7707710" y="4923455"/>
            <a:ext cx="6573672" cy="3020487"/>
          </a:xfrm>
          <a:custGeom>
            <a:avLst/>
            <a:gdLst/>
            <a:ahLst/>
            <a:cxnLst/>
            <a:rect l="l" t="t" r="r" b="b"/>
            <a:pathLst>
              <a:path w="6573672" h="3020487">
                <a:moveTo>
                  <a:pt x="0" y="0"/>
                </a:moveTo>
                <a:lnTo>
                  <a:pt x="6573671" y="0"/>
                </a:lnTo>
                <a:lnTo>
                  <a:pt x="6573671" y="3020487"/>
                </a:lnTo>
                <a:lnTo>
                  <a:pt x="0" y="3020487"/>
                </a:lnTo>
                <a:lnTo>
                  <a:pt x="0" y="0"/>
                </a:lnTo>
                <a:close/>
              </a:path>
            </a:pathLst>
          </a:custGeom>
          <a:blipFill>
            <a:blip r:embed="rId3"/>
            <a:stretch>
              <a:fillRect r="-278"/>
            </a:stretch>
          </a:blipFill>
        </p:spPr>
      </p:sp>
      <p:sp>
        <p:nvSpPr>
          <p:cNvPr id="6" name="TextBox 6"/>
          <p:cNvSpPr txBox="1"/>
          <p:nvPr/>
        </p:nvSpPr>
        <p:spPr>
          <a:xfrm>
            <a:off x="7321358" y="942975"/>
            <a:ext cx="9537435" cy="3726164"/>
          </a:xfrm>
          <a:prstGeom prst="rect">
            <a:avLst/>
          </a:prstGeom>
        </p:spPr>
        <p:txBody>
          <a:bodyPr lIns="0" tIns="0" rIns="0" bIns="0" rtlCol="0" anchor="t">
            <a:spAutoFit/>
          </a:bodyPr>
          <a:lstStyle/>
          <a:p>
            <a:pPr marL="615406" lvl="1" indent="-307703" algn="just">
              <a:lnSpc>
                <a:spcPts val="4275"/>
              </a:lnSpc>
              <a:buFont typeface="Arial"/>
              <a:buChar char="•"/>
            </a:pPr>
            <a:r>
              <a:rPr lang="en-US" sz="2850" b="1">
                <a:solidFill>
                  <a:srgbClr val="121212"/>
                </a:solidFill>
                <a:latin typeface="Public Sans Bold"/>
                <a:ea typeface="Public Sans Bold"/>
                <a:cs typeface="Public Sans Bold"/>
                <a:sym typeface="Public Sans Bold"/>
              </a:rPr>
              <a:t>Hiển thị danh sách người chơi online</a:t>
            </a:r>
          </a:p>
          <a:p>
            <a:pPr marL="615406" lvl="1" indent="-307703" algn="just">
              <a:lnSpc>
                <a:spcPts val="4275"/>
              </a:lnSpc>
              <a:buFont typeface="Arial"/>
              <a:buChar char="•"/>
            </a:pPr>
            <a:r>
              <a:rPr lang="en-US" sz="2850" b="1">
                <a:solidFill>
                  <a:srgbClr val="121212"/>
                </a:solidFill>
                <a:latin typeface="Public Sans Bold"/>
                <a:ea typeface="Public Sans Bold"/>
                <a:cs typeface="Public Sans Bold"/>
                <a:sym typeface="Public Sans Bold"/>
              </a:rPr>
              <a:t>Gửi / nhận lời thách đấu</a:t>
            </a:r>
          </a:p>
          <a:p>
            <a:pPr marL="615406" lvl="1" indent="-307703" algn="just">
              <a:lnSpc>
                <a:spcPts val="4275"/>
              </a:lnSpc>
              <a:buFont typeface="Arial"/>
              <a:buChar char="•"/>
            </a:pPr>
            <a:r>
              <a:rPr lang="en-US" sz="2850" b="1">
                <a:solidFill>
                  <a:srgbClr val="121212"/>
                </a:solidFill>
                <a:latin typeface="Public Sans Bold"/>
                <a:ea typeface="Public Sans Bold"/>
                <a:cs typeface="Public Sans Bold"/>
                <a:sym typeface="Public Sans Bold"/>
              </a:rPr>
              <a:t>Kết nối server qua ClientSocket</a:t>
            </a:r>
          </a:p>
          <a:p>
            <a:pPr marL="615406" lvl="1" indent="-307703" algn="just">
              <a:lnSpc>
                <a:spcPts val="4275"/>
              </a:lnSpc>
              <a:buFont typeface="Arial"/>
              <a:buChar char="•"/>
            </a:pPr>
            <a:r>
              <a:rPr lang="en-US" sz="2850" b="1">
                <a:solidFill>
                  <a:srgbClr val="121212"/>
                </a:solidFill>
                <a:latin typeface="Public Sans Bold"/>
                <a:ea typeface="Public Sans Bold"/>
                <a:cs typeface="Public Sans Bold"/>
                <a:sym typeface="Public Sans Bold"/>
              </a:rPr>
              <a:t>Xử lý sự kiện bằng ClientListener</a:t>
            </a:r>
          </a:p>
          <a:p>
            <a:pPr marL="615406" lvl="1" indent="-307703" algn="just">
              <a:lnSpc>
                <a:spcPts val="4275"/>
              </a:lnSpc>
              <a:buFont typeface="Arial"/>
              <a:buChar char="•"/>
            </a:pPr>
            <a:r>
              <a:rPr lang="en-US" sz="2850" b="1">
                <a:solidFill>
                  <a:srgbClr val="121212"/>
                </a:solidFill>
                <a:latin typeface="Public Sans Bold"/>
                <a:ea typeface="Public Sans Bold"/>
                <a:cs typeface="Public Sans Bold"/>
                <a:sym typeface="Public Sans Bold"/>
              </a:rPr>
              <a:t>Chấp nhận / từ chối thách đấu</a:t>
            </a:r>
          </a:p>
          <a:p>
            <a:pPr marL="615406" lvl="1" indent="-307703" algn="just">
              <a:lnSpc>
                <a:spcPts val="4275"/>
              </a:lnSpc>
              <a:buFont typeface="Arial"/>
              <a:buChar char="•"/>
            </a:pPr>
            <a:r>
              <a:rPr lang="en-US" sz="2850" b="1">
                <a:solidFill>
                  <a:srgbClr val="121212"/>
                </a:solidFill>
                <a:latin typeface="Public Sans Bold"/>
                <a:ea typeface="Public Sans Bold"/>
                <a:cs typeface="Public Sans Bold"/>
                <a:sym typeface="Public Sans Bold"/>
              </a:rPr>
              <a:t>Chuyển sang màn chơi (BoardUI) khi game bắt đầu</a:t>
            </a:r>
          </a:p>
          <a:p>
            <a:pPr algn="just">
              <a:lnSpc>
                <a:spcPts val="3825"/>
              </a:lnSpc>
            </a:pPr>
            <a:endParaRPr lang="en-US" sz="2850" b="1">
              <a:solidFill>
                <a:srgbClr val="121212"/>
              </a:solidFill>
              <a:latin typeface="Public Sans Bold"/>
              <a:ea typeface="Public Sans Bold"/>
              <a:cs typeface="Public Sans Bold"/>
              <a:sym typeface="Public Sans Bold"/>
            </a:endParaRPr>
          </a:p>
        </p:txBody>
      </p:sp>
      <p:sp>
        <p:nvSpPr>
          <p:cNvPr id="7" name="TextBox 7"/>
          <p:cNvSpPr txBox="1"/>
          <p:nvPr/>
        </p:nvSpPr>
        <p:spPr>
          <a:xfrm>
            <a:off x="1175396" y="952500"/>
            <a:ext cx="2474595" cy="679450"/>
          </a:xfrm>
          <a:prstGeom prst="rect">
            <a:avLst/>
          </a:prstGeom>
        </p:spPr>
        <p:txBody>
          <a:bodyPr lIns="0" tIns="0" rIns="0" bIns="0" rtlCol="0" anchor="t">
            <a:spAutoFit/>
          </a:bodyPr>
          <a:lstStyle/>
          <a:p>
            <a:pPr algn="ctr">
              <a:lnSpc>
                <a:spcPts val="5599"/>
              </a:lnSpc>
              <a:spcBef>
                <a:spcPct val="0"/>
              </a:spcBef>
            </a:pPr>
            <a:r>
              <a:rPr lang="en-US" sz="3999" b="1">
                <a:solidFill>
                  <a:srgbClr val="FFFFFF"/>
                </a:solidFill>
                <a:latin typeface="Canva Sans Bold"/>
                <a:ea typeface="Canva Sans Bold"/>
                <a:cs typeface="Canva Sans Bold"/>
                <a:sym typeface="Canva Sans Bold"/>
              </a:rPr>
              <a:t>Challenge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67DB7D"/>
        </a:solidFill>
        <a:effectLst/>
      </p:bgPr>
    </p:bg>
    <p:spTree>
      <p:nvGrpSpPr>
        <p:cNvPr id="1" name=""/>
        <p:cNvGrpSpPr/>
        <p:nvPr/>
      </p:nvGrpSpPr>
      <p:grpSpPr>
        <a:xfrm>
          <a:off x="0" y="0"/>
          <a:ext cx="0" cy="0"/>
          <a:chOff x="0" y="0"/>
          <a:chExt cx="0" cy="0"/>
        </a:xfrm>
      </p:grpSpPr>
      <p:grpSp>
        <p:nvGrpSpPr>
          <p:cNvPr id="2" name="Group 2"/>
          <p:cNvGrpSpPr/>
          <p:nvPr/>
        </p:nvGrpSpPr>
        <p:grpSpPr>
          <a:xfrm>
            <a:off x="6905140" y="467371"/>
            <a:ext cx="10956657" cy="9352258"/>
            <a:chOff x="0" y="0"/>
            <a:chExt cx="3193467" cy="2725843"/>
          </a:xfrm>
        </p:grpSpPr>
        <p:sp>
          <p:nvSpPr>
            <p:cNvPr id="3" name="Freeform 3"/>
            <p:cNvSpPr/>
            <p:nvPr/>
          </p:nvSpPr>
          <p:spPr>
            <a:xfrm>
              <a:off x="0" y="0"/>
              <a:ext cx="3193467" cy="2725844"/>
            </a:xfrm>
            <a:custGeom>
              <a:avLst/>
              <a:gdLst/>
              <a:ahLst/>
              <a:cxnLst/>
              <a:rect l="l" t="t" r="r" b="b"/>
              <a:pathLst>
                <a:path w="3193467" h="2725844">
                  <a:moveTo>
                    <a:pt x="3069007" y="2725843"/>
                  </a:moveTo>
                  <a:lnTo>
                    <a:pt x="124460" y="2725843"/>
                  </a:lnTo>
                  <a:cubicBezTo>
                    <a:pt x="55880" y="2725843"/>
                    <a:pt x="0" y="2669963"/>
                    <a:pt x="0" y="2601383"/>
                  </a:cubicBezTo>
                  <a:lnTo>
                    <a:pt x="0" y="124460"/>
                  </a:lnTo>
                  <a:cubicBezTo>
                    <a:pt x="0" y="55880"/>
                    <a:pt x="55880" y="0"/>
                    <a:pt x="124460" y="0"/>
                  </a:cubicBezTo>
                  <a:lnTo>
                    <a:pt x="3069007" y="0"/>
                  </a:lnTo>
                  <a:cubicBezTo>
                    <a:pt x="3137587" y="0"/>
                    <a:pt x="3193467" y="55880"/>
                    <a:pt x="3193467" y="124460"/>
                  </a:cubicBezTo>
                  <a:lnTo>
                    <a:pt x="3193467" y="2601383"/>
                  </a:lnTo>
                  <a:cubicBezTo>
                    <a:pt x="3193467" y="2669963"/>
                    <a:pt x="3137587" y="2725844"/>
                    <a:pt x="3069007" y="2725844"/>
                  </a:cubicBezTo>
                  <a:close/>
                </a:path>
              </a:pathLst>
            </a:custGeom>
            <a:solidFill>
              <a:srgbClr val="FFFFFF"/>
            </a:solidFill>
          </p:spPr>
        </p:sp>
      </p:grpSp>
      <p:sp>
        <p:nvSpPr>
          <p:cNvPr id="4" name="TextBox 4"/>
          <p:cNvSpPr txBox="1"/>
          <p:nvPr/>
        </p:nvSpPr>
        <p:spPr>
          <a:xfrm>
            <a:off x="7614751" y="1348270"/>
            <a:ext cx="9537435" cy="7504734"/>
          </a:xfrm>
          <a:prstGeom prst="rect">
            <a:avLst/>
          </a:prstGeom>
        </p:spPr>
        <p:txBody>
          <a:bodyPr lIns="0" tIns="0" rIns="0" bIns="0" rtlCol="0" anchor="t">
            <a:spAutoFit/>
          </a:bodyPr>
          <a:lstStyle/>
          <a:p>
            <a:pPr algn="just">
              <a:lnSpc>
                <a:spcPts val="4275"/>
              </a:lnSpc>
            </a:pPr>
            <a:r>
              <a:rPr lang="en-US" sz="2850" b="1">
                <a:solidFill>
                  <a:srgbClr val="121212"/>
                </a:solidFill>
                <a:latin typeface="Public Sans Bold"/>
                <a:ea typeface="Public Sans Bold"/>
                <a:cs typeface="Public Sans Bold"/>
                <a:sym typeface="Public Sans Bold"/>
              </a:rPr>
              <a:t>Board (Bàn cờ)</a:t>
            </a:r>
          </a:p>
          <a:p>
            <a:pPr algn="just">
              <a:lnSpc>
                <a:spcPts val="4275"/>
              </a:lnSpc>
            </a:pPr>
            <a:r>
              <a:rPr lang="en-US" sz="2850" b="1">
                <a:solidFill>
                  <a:srgbClr val="121212"/>
                </a:solidFill>
                <a:latin typeface="Public Sans Bold"/>
                <a:ea typeface="Public Sans Bold"/>
                <a:cs typeface="Public Sans Bold"/>
                <a:sym typeface="Public Sans Bold"/>
              </a:rPr>
              <a:t>Bàn cờ được thiết kế với kích thước 15 x 15.</a:t>
            </a:r>
          </a:p>
          <a:p>
            <a:pPr algn="just">
              <a:lnSpc>
                <a:spcPts val="4275"/>
              </a:lnSpc>
            </a:pPr>
            <a:r>
              <a:rPr lang="en-US" sz="2850" b="1">
                <a:solidFill>
                  <a:srgbClr val="121212"/>
                </a:solidFill>
                <a:latin typeface="Public Sans Bold"/>
                <a:ea typeface="Public Sans Bold"/>
                <a:cs typeface="Public Sans Bold"/>
                <a:sym typeface="Public Sans Bold"/>
              </a:rPr>
              <a:t> Luật chơi: người chơi nào đạt được 5 quân liên tiếp theo hàng, cột hoặc đường chéo trước sẽ giành chiến thắng.</a:t>
            </a:r>
          </a:p>
          <a:p>
            <a:pPr algn="just">
              <a:lnSpc>
                <a:spcPts val="4275"/>
              </a:lnSpc>
            </a:pPr>
            <a:r>
              <a:rPr lang="en-US" sz="2850" b="1">
                <a:solidFill>
                  <a:srgbClr val="121212"/>
                </a:solidFill>
                <a:latin typeface="Public Sans Bold"/>
                <a:ea typeface="Public Sans Bold"/>
                <a:cs typeface="Public Sans Bold"/>
                <a:sym typeface="Public Sans Bold"/>
              </a:rPr>
              <a:t>Cơ chế trong game</a:t>
            </a:r>
          </a:p>
          <a:p>
            <a:pPr marL="615406" lvl="1" indent="-307703" algn="just">
              <a:lnSpc>
                <a:spcPts val="4275"/>
              </a:lnSpc>
              <a:buFont typeface="Arial"/>
              <a:buChar char="•"/>
            </a:pPr>
            <a:r>
              <a:rPr lang="en-US" sz="2850" b="1">
                <a:solidFill>
                  <a:srgbClr val="121212"/>
                </a:solidFill>
                <a:latin typeface="Public Sans Bold"/>
                <a:ea typeface="Public Sans Bold"/>
                <a:cs typeface="Public Sans Bold"/>
                <a:sym typeface="Public Sans Bold"/>
              </a:rPr>
              <a:t>Người chơi có thể đầu hàng (Surrender) và sẽ bị xử thua</a:t>
            </a:r>
          </a:p>
          <a:p>
            <a:pPr marL="615406" lvl="1" indent="-307703" algn="just">
              <a:lnSpc>
                <a:spcPts val="4275"/>
              </a:lnSpc>
              <a:buFont typeface="Arial"/>
              <a:buChar char="•"/>
            </a:pPr>
            <a:r>
              <a:rPr lang="en-US" sz="2850" b="1">
                <a:solidFill>
                  <a:srgbClr val="121212"/>
                </a:solidFill>
                <a:latin typeface="Public Sans Bold"/>
                <a:ea typeface="Public Sans Bold"/>
                <a:cs typeface="Public Sans Bold"/>
                <a:sym typeface="Public Sans Bold"/>
              </a:rPr>
              <a:t>Nếu hết thời gian, hệ thống tự động xử thua</a:t>
            </a:r>
          </a:p>
          <a:p>
            <a:pPr marL="615406" lvl="1" indent="-307703" algn="just">
              <a:lnSpc>
                <a:spcPts val="4275"/>
              </a:lnSpc>
              <a:buFont typeface="Arial"/>
              <a:buChar char="•"/>
            </a:pPr>
            <a:r>
              <a:rPr lang="en-US" sz="2850" b="1">
                <a:solidFill>
                  <a:srgbClr val="121212"/>
                </a:solidFill>
                <a:latin typeface="Public Sans Bold"/>
                <a:ea typeface="Public Sans Bold"/>
                <a:cs typeface="Public Sans Bold"/>
                <a:sym typeface="Public Sans Bold"/>
              </a:rPr>
              <a:t>Trong khi đang thi đấu:</a:t>
            </a:r>
          </a:p>
          <a:p>
            <a:pPr marL="1230811" lvl="2" indent="-410270" algn="just">
              <a:lnSpc>
                <a:spcPts val="4275"/>
              </a:lnSpc>
              <a:buFont typeface="Arial"/>
              <a:buChar char="⚬"/>
            </a:pPr>
            <a:r>
              <a:rPr lang="en-US" sz="2850" b="1">
                <a:solidFill>
                  <a:srgbClr val="121212"/>
                </a:solidFill>
                <a:latin typeface="Public Sans Bold"/>
                <a:ea typeface="Public Sans Bold"/>
                <a:cs typeface="Public Sans Bold"/>
                <a:sym typeface="Public Sans Bold"/>
              </a:rPr>
              <a:t>Không nhận thêm lời thách đấu</a:t>
            </a:r>
          </a:p>
          <a:p>
            <a:pPr marL="1230811" lvl="2" indent="-410270" algn="just">
              <a:lnSpc>
                <a:spcPts val="4275"/>
              </a:lnSpc>
              <a:buFont typeface="Arial"/>
              <a:buChar char="⚬"/>
            </a:pPr>
            <a:r>
              <a:rPr lang="en-US" sz="2850" b="1">
                <a:solidFill>
                  <a:srgbClr val="121212"/>
                </a:solidFill>
                <a:latin typeface="Public Sans Bold"/>
                <a:ea typeface="Public Sans Bold"/>
                <a:cs typeface="Public Sans Bold"/>
                <a:sym typeface="Public Sans Bold"/>
              </a:rPr>
              <a:t>Người thứ ba không thể gửi lời mời đến hai người đang chơi </a:t>
            </a:r>
          </a:p>
          <a:p>
            <a:pPr algn="just">
              <a:lnSpc>
                <a:spcPts val="3570"/>
              </a:lnSpc>
            </a:pPr>
            <a:endParaRPr lang="en-US" sz="2850" b="1">
              <a:solidFill>
                <a:srgbClr val="121212"/>
              </a:solidFill>
              <a:latin typeface="Public Sans Bold"/>
              <a:ea typeface="Public Sans Bold"/>
              <a:cs typeface="Public Sans Bold"/>
              <a:sym typeface="Public Sans Bold"/>
            </a:endParaRPr>
          </a:p>
        </p:txBody>
      </p:sp>
      <p:sp>
        <p:nvSpPr>
          <p:cNvPr id="5" name="Freeform 5"/>
          <p:cNvSpPr/>
          <p:nvPr/>
        </p:nvSpPr>
        <p:spPr>
          <a:xfrm>
            <a:off x="634392" y="2111717"/>
            <a:ext cx="4839234" cy="6356958"/>
          </a:xfrm>
          <a:custGeom>
            <a:avLst/>
            <a:gdLst/>
            <a:ahLst/>
            <a:cxnLst/>
            <a:rect l="l" t="t" r="r" b="b"/>
            <a:pathLst>
              <a:path w="4839234" h="6356958">
                <a:moveTo>
                  <a:pt x="0" y="0"/>
                </a:moveTo>
                <a:lnTo>
                  <a:pt x="4839234" y="0"/>
                </a:lnTo>
                <a:lnTo>
                  <a:pt x="4839234" y="6356958"/>
                </a:lnTo>
                <a:lnTo>
                  <a:pt x="0" y="6356958"/>
                </a:lnTo>
                <a:lnTo>
                  <a:pt x="0" y="0"/>
                </a:lnTo>
                <a:close/>
              </a:path>
            </a:pathLst>
          </a:custGeom>
          <a:blipFill>
            <a:blip r:embed="rId2"/>
            <a:stretch>
              <a:fillRect/>
            </a:stretch>
          </a:blipFill>
        </p:spPr>
      </p:sp>
      <p:sp>
        <p:nvSpPr>
          <p:cNvPr id="6" name="TextBox 6"/>
          <p:cNvSpPr txBox="1"/>
          <p:nvPr/>
        </p:nvSpPr>
        <p:spPr>
          <a:xfrm>
            <a:off x="634392" y="457846"/>
            <a:ext cx="4166518" cy="1933575"/>
          </a:xfrm>
          <a:prstGeom prst="rect">
            <a:avLst/>
          </a:prstGeom>
        </p:spPr>
        <p:txBody>
          <a:bodyPr lIns="0" tIns="0" rIns="0" bIns="0" rtlCol="0" anchor="t">
            <a:spAutoFit/>
          </a:bodyPr>
          <a:lstStyle/>
          <a:p>
            <a:pPr algn="l">
              <a:lnSpc>
                <a:spcPts val="7620"/>
              </a:lnSpc>
            </a:pPr>
            <a:r>
              <a:rPr lang="en-US" sz="6350">
                <a:solidFill>
                  <a:srgbClr val="FFFFFF"/>
                </a:solidFill>
                <a:latin typeface="Public Sans"/>
                <a:ea typeface="Public Sans"/>
                <a:cs typeface="Public Sans"/>
                <a:sym typeface="Public Sans"/>
              </a:rPr>
              <a:t>Board</a:t>
            </a:r>
          </a:p>
          <a:p>
            <a:pPr algn="l">
              <a:lnSpc>
                <a:spcPts val="7619"/>
              </a:lnSpc>
            </a:pPr>
            <a:endParaRPr lang="en-US" sz="6350">
              <a:solidFill>
                <a:srgbClr val="FFFFFF"/>
              </a:solidFill>
              <a:latin typeface="Public Sans"/>
              <a:ea typeface="Public Sans"/>
              <a:cs typeface="Public Sans"/>
              <a:sym typeface="Public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67DB7D"/>
        </a:solidFill>
        <a:effectLst/>
      </p:bgPr>
    </p:bg>
    <p:spTree>
      <p:nvGrpSpPr>
        <p:cNvPr id="1" name=""/>
        <p:cNvGrpSpPr/>
        <p:nvPr/>
      </p:nvGrpSpPr>
      <p:grpSpPr>
        <a:xfrm>
          <a:off x="0" y="0"/>
          <a:ext cx="0" cy="0"/>
          <a:chOff x="0" y="0"/>
          <a:chExt cx="0" cy="0"/>
        </a:xfrm>
      </p:grpSpPr>
      <p:sp>
        <p:nvSpPr>
          <p:cNvPr id="2" name="Freeform 2"/>
          <p:cNvSpPr/>
          <p:nvPr/>
        </p:nvSpPr>
        <p:spPr>
          <a:xfrm>
            <a:off x="8374155" y="2868837"/>
            <a:ext cx="9461296" cy="4182585"/>
          </a:xfrm>
          <a:custGeom>
            <a:avLst/>
            <a:gdLst/>
            <a:ahLst/>
            <a:cxnLst/>
            <a:rect l="l" t="t" r="r" b="b"/>
            <a:pathLst>
              <a:path w="9461296" h="4182585">
                <a:moveTo>
                  <a:pt x="0" y="0"/>
                </a:moveTo>
                <a:lnTo>
                  <a:pt x="9461296" y="0"/>
                </a:lnTo>
                <a:lnTo>
                  <a:pt x="9461296" y="4182585"/>
                </a:lnTo>
                <a:lnTo>
                  <a:pt x="0" y="4182585"/>
                </a:lnTo>
                <a:lnTo>
                  <a:pt x="0" y="0"/>
                </a:lnTo>
                <a:close/>
              </a:path>
            </a:pathLst>
          </a:custGeom>
          <a:blipFill>
            <a:blip r:embed="rId2"/>
            <a:stretch>
              <a:fillRect/>
            </a:stretch>
          </a:blipFill>
        </p:spPr>
      </p:sp>
      <p:sp>
        <p:nvSpPr>
          <p:cNvPr id="3" name="Freeform 3"/>
          <p:cNvSpPr/>
          <p:nvPr/>
        </p:nvSpPr>
        <p:spPr>
          <a:xfrm>
            <a:off x="1719892" y="2111717"/>
            <a:ext cx="5276275" cy="6356958"/>
          </a:xfrm>
          <a:custGeom>
            <a:avLst/>
            <a:gdLst/>
            <a:ahLst/>
            <a:cxnLst/>
            <a:rect l="l" t="t" r="r" b="b"/>
            <a:pathLst>
              <a:path w="5276275" h="6356958">
                <a:moveTo>
                  <a:pt x="0" y="0"/>
                </a:moveTo>
                <a:lnTo>
                  <a:pt x="5276275" y="0"/>
                </a:lnTo>
                <a:lnTo>
                  <a:pt x="5276275" y="6356958"/>
                </a:lnTo>
                <a:lnTo>
                  <a:pt x="0" y="6356958"/>
                </a:lnTo>
                <a:lnTo>
                  <a:pt x="0" y="0"/>
                </a:lnTo>
                <a:close/>
              </a:path>
            </a:pathLst>
          </a:custGeom>
          <a:blipFill>
            <a:blip r:embed="rId3"/>
            <a:stretch>
              <a:fillRect/>
            </a:stretch>
          </a:blipFill>
        </p:spPr>
      </p:sp>
      <p:sp>
        <p:nvSpPr>
          <p:cNvPr id="4" name="TextBox 4"/>
          <p:cNvSpPr txBox="1"/>
          <p:nvPr/>
        </p:nvSpPr>
        <p:spPr>
          <a:xfrm>
            <a:off x="634392" y="548333"/>
            <a:ext cx="4166518" cy="1752600"/>
          </a:xfrm>
          <a:prstGeom prst="rect">
            <a:avLst/>
          </a:prstGeom>
        </p:spPr>
        <p:txBody>
          <a:bodyPr lIns="0" tIns="0" rIns="0" bIns="0" rtlCol="0" anchor="t">
            <a:spAutoFit/>
          </a:bodyPr>
          <a:lstStyle/>
          <a:p>
            <a:pPr algn="l">
              <a:lnSpc>
                <a:spcPts val="6180"/>
              </a:lnSpc>
            </a:pPr>
            <a:r>
              <a:rPr lang="en-US" sz="5150">
                <a:solidFill>
                  <a:srgbClr val="FFFFFF"/>
                </a:solidFill>
                <a:latin typeface="Public Sans"/>
                <a:ea typeface="Public Sans"/>
                <a:cs typeface="Public Sans"/>
                <a:sym typeface="Public Sans"/>
              </a:rPr>
              <a:t>GameManger</a:t>
            </a:r>
          </a:p>
          <a:p>
            <a:pPr algn="l">
              <a:lnSpc>
                <a:spcPts val="7619"/>
              </a:lnSpc>
            </a:pPr>
            <a:endParaRPr lang="en-US" sz="5150">
              <a:solidFill>
                <a:srgbClr val="FFFFFF"/>
              </a:solidFill>
              <a:latin typeface="Public Sans"/>
              <a:ea typeface="Public Sans"/>
              <a:cs typeface="Public Sans"/>
              <a:sym typeface="Public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67DB7D"/>
        </a:solidFill>
        <a:effectLst/>
      </p:bgPr>
    </p:bg>
    <p:spTree>
      <p:nvGrpSpPr>
        <p:cNvPr id="1" name=""/>
        <p:cNvGrpSpPr/>
        <p:nvPr/>
      </p:nvGrpSpPr>
      <p:grpSpPr>
        <a:xfrm>
          <a:off x="0" y="0"/>
          <a:ext cx="0" cy="0"/>
          <a:chOff x="0" y="0"/>
          <a:chExt cx="0" cy="0"/>
        </a:xfrm>
      </p:grpSpPr>
      <p:sp>
        <p:nvSpPr>
          <p:cNvPr id="2" name="Freeform 2"/>
          <p:cNvSpPr/>
          <p:nvPr/>
        </p:nvSpPr>
        <p:spPr>
          <a:xfrm>
            <a:off x="1229681" y="1744976"/>
            <a:ext cx="5992960" cy="7134477"/>
          </a:xfrm>
          <a:custGeom>
            <a:avLst/>
            <a:gdLst/>
            <a:ahLst/>
            <a:cxnLst/>
            <a:rect l="l" t="t" r="r" b="b"/>
            <a:pathLst>
              <a:path w="5992960" h="7134477">
                <a:moveTo>
                  <a:pt x="0" y="0"/>
                </a:moveTo>
                <a:lnTo>
                  <a:pt x="5992960" y="0"/>
                </a:lnTo>
                <a:lnTo>
                  <a:pt x="5992960" y="7134477"/>
                </a:lnTo>
                <a:lnTo>
                  <a:pt x="0" y="7134477"/>
                </a:lnTo>
                <a:lnTo>
                  <a:pt x="0" y="0"/>
                </a:lnTo>
                <a:close/>
              </a:path>
            </a:pathLst>
          </a:custGeom>
          <a:blipFill>
            <a:blip r:embed="rId2"/>
            <a:stretch>
              <a:fillRect/>
            </a:stretch>
          </a:blipFill>
        </p:spPr>
      </p:sp>
      <p:sp>
        <p:nvSpPr>
          <p:cNvPr id="3" name="Freeform 3"/>
          <p:cNvSpPr/>
          <p:nvPr/>
        </p:nvSpPr>
        <p:spPr>
          <a:xfrm>
            <a:off x="8245012" y="2966523"/>
            <a:ext cx="9499538" cy="4353955"/>
          </a:xfrm>
          <a:custGeom>
            <a:avLst/>
            <a:gdLst/>
            <a:ahLst/>
            <a:cxnLst/>
            <a:rect l="l" t="t" r="r" b="b"/>
            <a:pathLst>
              <a:path w="9499538" h="4353955">
                <a:moveTo>
                  <a:pt x="0" y="0"/>
                </a:moveTo>
                <a:lnTo>
                  <a:pt x="9499538" y="0"/>
                </a:lnTo>
                <a:lnTo>
                  <a:pt x="9499538" y="4353954"/>
                </a:lnTo>
                <a:lnTo>
                  <a:pt x="0" y="4353954"/>
                </a:lnTo>
                <a:lnTo>
                  <a:pt x="0" y="0"/>
                </a:lnTo>
                <a:close/>
              </a:path>
            </a:pathLst>
          </a:custGeom>
          <a:blipFill>
            <a:blip r:embed="rId3"/>
            <a:stretch>
              <a:fillRect/>
            </a:stretch>
          </a:blipFill>
        </p:spPr>
      </p:sp>
      <p:sp>
        <p:nvSpPr>
          <p:cNvPr id="4" name="TextBox 4"/>
          <p:cNvSpPr txBox="1"/>
          <p:nvPr/>
        </p:nvSpPr>
        <p:spPr>
          <a:xfrm>
            <a:off x="634392" y="548333"/>
            <a:ext cx="4166518" cy="1752600"/>
          </a:xfrm>
          <a:prstGeom prst="rect">
            <a:avLst/>
          </a:prstGeom>
        </p:spPr>
        <p:txBody>
          <a:bodyPr lIns="0" tIns="0" rIns="0" bIns="0" rtlCol="0" anchor="t">
            <a:spAutoFit/>
          </a:bodyPr>
          <a:lstStyle/>
          <a:p>
            <a:pPr algn="l">
              <a:lnSpc>
                <a:spcPts val="6180"/>
              </a:lnSpc>
            </a:pPr>
            <a:r>
              <a:rPr lang="en-US" sz="5150">
                <a:solidFill>
                  <a:srgbClr val="FFFFFF"/>
                </a:solidFill>
                <a:latin typeface="Public Sans"/>
                <a:ea typeface="Public Sans"/>
                <a:cs typeface="Public Sans"/>
                <a:sym typeface="Public Sans"/>
              </a:rPr>
              <a:t>GameManger</a:t>
            </a:r>
          </a:p>
          <a:p>
            <a:pPr algn="l">
              <a:lnSpc>
                <a:spcPts val="7619"/>
              </a:lnSpc>
            </a:pPr>
            <a:endParaRPr lang="en-US" sz="5150">
              <a:solidFill>
                <a:srgbClr val="FFFFFF"/>
              </a:solidFill>
              <a:latin typeface="Public Sans"/>
              <a:ea typeface="Public Sans"/>
              <a:cs typeface="Public Sans"/>
              <a:sym typeface="Public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67DB7D"/>
        </a:solidFill>
        <a:effectLst/>
      </p:bgPr>
    </p:bg>
    <p:spTree>
      <p:nvGrpSpPr>
        <p:cNvPr id="1" name=""/>
        <p:cNvGrpSpPr/>
        <p:nvPr/>
      </p:nvGrpSpPr>
      <p:grpSpPr>
        <a:xfrm>
          <a:off x="0" y="0"/>
          <a:ext cx="0" cy="0"/>
          <a:chOff x="0" y="0"/>
          <a:chExt cx="0" cy="0"/>
        </a:xfrm>
      </p:grpSpPr>
      <p:sp>
        <p:nvSpPr>
          <p:cNvPr id="2" name="Freeform 2"/>
          <p:cNvSpPr/>
          <p:nvPr/>
        </p:nvSpPr>
        <p:spPr>
          <a:xfrm>
            <a:off x="1834500" y="2075043"/>
            <a:ext cx="5157082" cy="6356958"/>
          </a:xfrm>
          <a:custGeom>
            <a:avLst/>
            <a:gdLst/>
            <a:ahLst/>
            <a:cxnLst/>
            <a:rect l="l" t="t" r="r" b="b"/>
            <a:pathLst>
              <a:path w="5157082" h="6356958">
                <a:moveTo>
                  <a:pt x="0" y="0"/>
                </a:moveTo>
                <a:lnTo>
                  <a:pt x="5157082" y="0"/>
                </a:lnTo>
                <a:lnTo>
                  <a:pt x="5157082" y="6356958"/>
                </a:lnTo>
                <a:lnTo>
                  <a:pt x="0" y="6356958"/>
                </a:lnTo>
                <a:lnTo>
                  <a:pt x="0" y="0"/>
                </a:lnTo>
                <a:close/>
              </a:path>
            </a:pathLst>
          </a:custGeom>
          <a:blipFill>
            <a:blip r:embed="rId2"/>
            <a:stretch>
              <a:fillRect/>
            </a:stretch>
          </a:blipFill>
        </p:spPr>
      </p:sp>
      <p:sp>
        <p:nvSpPr>
          <p:cNvPr id="3" name="Freeform 3"/>
          <p:cNvSpPr/>
          <p:nvPr/>
        </p:nvSpPr>
        <p:spPr>
          <a:xfrm>
            <a:off x="9144000" y="2075043"/>
            <a:ext cx="5244490" cy="6356958"/>
          </a:xfrm>
          <a:custGeom>
            <a:avLst/>
            <a:gdLst/>
            <a:ahLst/>
            <a:cxnLst/>
            <a:rect l="l" t="t" r="r" b="b"/>
            <a:pathLst>
              <a:path w="5244490" h="6356958">
                <a:moveTo>
                  <a:pt x="0" y="0"/>
                </a:moveTo>
                <a:lnTo>
                  <a:pt x="5244490" y="0"/>
                </a:lnTo>
                <a:lnTo>
                  <a:pt x="5244490" y="6356958"/>
                </a:lnTo>
                <a:lnTo>
                  <a:pt x="0" y="6356958"/>
                </a:lnTo>
                <a:lnTo>
                  <a:pt x="0" y="0"/>
                </a:lnTo>
                <a:close/>
              </a:path>
            </a:pathLst>
          </a:custGeom>
          <a:blipFill>
            <a:blip r:embed="rId3"/>
            <a:stretch>
              <a:fillRect/>
            </a:stretch>
          </a:blipFill>
        </p:spPr>
      </p:sp>
      <p:sp>
        <p:nvSpPr>
          <p:cNvPr id="4" name="TextBox 4"/>
          <p:cNvSpPr txBox="1"/>
          <p:nvPr/>
        </p:nvSpPr>
        <p:spPr>
          <a:xfrm>
            <a:off x="634392" y="548333"/>
            <a:ext cx="4166518" cy="1752600"/>
          </a:xfrm>
          <a:prstGeom prst="rect">
            <a:avLst/>
          </a:prstGeom>
        </p:spPr>
        <p:txBody>
          <a:bodyPr lIns="0" tIns="0" rIns="0" bIns="0" rtlCol="0" anchor="t">
            <a:spAutoFit/>
          </a:bodyPr>
          <a:lstStyle/>
          <a:p>
            <a:pPr algn="l">
              <a:lnSpc>
                <a:spcPts val="6180"/>
              </a:lnSpc>
            </a:pPr>
            <a:r>
              <a:rPr lang="en-US" sz="5150">
                <a:solidFill>
                  <a:srgbClr val="FFFFFF"/>
                </a:solidFill>
                <a:latin typeface="Public Sans"/>
                <a:ea typeface="Public Sans"/>
                <a:cs typeface="Public Sans"/>
                <a:sym typeface="Public Sans"/>
              </a:rPr>
              <a:t>GameManger</a:t>
            </a:r>
          </a:p>
          <a:p>
            <a:pPr algn="l">
              <a:lnSpc>
                <a:spcPts val="7619"/>
              </a:lnSpc>
            </a:pPr>
            <a:endParaRPr lang="en-US" sz="5150">
              <a:solidFill>
                <a:srgbClr val="FFFFFF"/>
              </a:solidFill>
              <a:latin typeface="Public Sans"/>
              <a:ea typeface="Public Sans"/>
              <a:cs typeface="Public Sans"/>
              <a:sym typeface="Public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67DB7D"/>
        </a:solidFill>
        <a:effectLst/>
      </p:bgPr>
    </p:bg>
    <p:spTree>
      <p:nvGrpSpPr>
        <p:cNvPr id="1" name=""/>
        <p:cNvGrpSpPr/>
        <p:nvPr/>
      </p:nvGrpSpPr>
      <p:grpSpPr>
        <a:xfrm>
          <a:off x="0" y="0"/>
          <a:ext cx="0" cy="0"/>
          <a:chOff x="0" y="0"/>
          <a:chExt cx="0" cy="0"/>
        </a:xfrm>
      </p:grpSpPr>
      <p:grpSp>
        <p:nvGrpSpPr>
          <p:cNvPr id="2" name="Group 2"/>
          <p:cNvGrpSpPr/>
          <p:nvPr/>
        </p:nvGrpSpPr>
        <p:grpSpPr>
          <a:xfrm>
            <a:off x="6905140" y="467371"/>
            <a:ext cx="10956657" cy="9352258"/>
            <a:chOff x="0" y="0"/>
            <a:chExt cx="3193467" cy="2725843"/>
          </a:xfrm>
        </p:grpSpPr>
        <p:sp>
          <p:nvSpPr>
            <p:cNvPr id="3" name="Freeform 3"/>
            <p:cNvSpPr/>
            <p:nvPr/>
          </p:nvSpPr>
          <p:spPr>
            <a:xfrm>
              <a:off x="0" y="0"/>
              <a:ext cx="3193467" cy="2725844"/>
            </a:xfrm>
            <a:custGeom>
              <a:avLst/>
              <a:gdLst/>
              <a:ahLst/>
              <a:cxnLst/>
              <a:rect l="l" t="t" r="r" b="b"/>
              <a:pathLst>
                <a:path w="3193467" h="2725844">
                  <a:moveTo>
                    <a:pt x="3069007" y="2725843"/>
                  </a:moveTo>
                  <a:lnTo>
                    <a:pt x="124460" y="2725843"/>
                  </a:lnTo>
                  <a:cubicBezTo>
                    <a:pt x="55880" y="2725843"/>
                    <a:pt x="0" y="2669963"/>
                    <a:pt x="0" y="2601383"/>
                  </a:cubicBezTo>
                  <a:lnTo>
                    <a:pt x="0" y="124460"/>
                  </a:lnTo>
                  <a:cubicBezTo>
                    <a:pt x="0" y="55880"/>
                    <a:pt x="55880" y="0"/>
                    <a:pt x="124460" y="0"/>
                  </a:cubicBezTo>
                  <a:lnTo>
                    <a:pt x="3069007" y="0"/>
                  </a:lnTo>
                  <a:cubicBezTo>
                    <a:pt x="3137587" y="0"/>
                    <a:pt x="3193467" y="55880"/>
                    <a:pt x="3193467" y="124460"/>
                  </a:cubicBezTo>
                  <a:lnTo>
                    <a:pt x="3193467" y="2601383"/>
                  </a:lnTo>
                  <a:cubicBezTo>
                    <a:pt x="3193467" y="2669963"/>
                    <a:pt x="3137587" y="2725844"/>
                    <a:pt x="3069007" y="2725844"/>
                  </a:cubicBezTo>
                  <a:close/>
                </a:path>
              </a:pathLst>
            </a:custGeom>
            <a:solidFill>
              <a:srgbClr val="FFFFFF"/>
            </a:solidFill>
          </p:spPr>
        </p:sp>
      </p:grpSp>
      <p:sp>
        <p:nvSpPr>
          <p:cNvPr id="4" name="TextBox 4"/>
          <p:cNvSpPr txBox="1"/>
          <p:nvPr/>
        </p:nvSpPr>
        <p:spPr>
          <a:xfrm>
            <a:off x="7229673" y="1121410"/>
            <a:ext cx="9537435" cy="3704259"/>
          </a:xfrm>
          <a:prstGeom prst="rect">
            <a:avLst/>
          </a:prstGeom>
        </p:spPr>
        <p:txBody>
          <a:bodyPr lIns="0" tIns="0" rIns="0" bIns="0" rtlCol="0" anchor="t">
            <a:spAutoFit/>
          </a:bodyPr>
          <a:lstStyle/>
          <a:p>
            <a:pPr algn="just">
              <a:lnSpc>
                <a:spcPts val="4275"/>
              </a:lnSpc>
            </a:pPr>
            <a:r>
              <a:rPr lang="en-US" sz="2850">
                <a:solidFill>
                  <a:srgbClr val="121212"/>
                </a:solidFill>
                <a:latin typeface="Public Sans"/>
                <a:ea typeface="Public Sans"/>
                <a:cs typeface="Public Sans"/>
                <a:sym typeface="Public Sans"/>
              </a:rPr>
              <a:t>Data được sử dụng để lưu trữ thông tin người dùng và lịch sử trận đấu.</a:t>
            </a:r>
          </a:p>
          <a:p>
            <a:pPr marL="615406" lvl="1" indent="-307703" algn="just">
              <a:lnSpc>
                <a:spcPts val="4275"/>
              </a:lnSpc>
              <a:buFont typeface="Arial"/>
              <a:buChar char="•"/>
            </a:pPr>
            <a:r>
              <a:rPr lang="en-US" sz="2850">
                <a:solidFill>
                  <a:srgbClr val="121212"/>
                </a:solidFill>
                <a:latin typeface="Public Sans"/>
                <a:ea typeface="Public Sans"/>
                <a:cs typeface="Public Sans"/>
                <a:sym typeface="Public Sans"/>
              </a:rPr>
              <a:t>Lưu tài khoản đã đăng ký (username, password)</a:t>
            </a:r>
          </a:p>
          <a:p>
            <a:pPr marL="615406" lvl="1" indent="-307703" algn="just">
              <a:lnSpc>
                <a:spcPts val="4275"/>
              </a:lnSpc>
              <a:buFont typeface="Arial"/>
              <a:buChar char="•"/>
            </a:pPr>
            <a:r>
              <a:rPr lang="en-US" sz="2850">
                <a:solidFill>
                  <a:srgbClr val="121212"/>
                </a:solidFill>
                <a:latin typeface="Public Sans"/>
                <a:ea typeface="Public Sans"/>
                <a:cs typeface="Public Sans"/>
                <a:sym typeface="Public Sans"/>
              </a:rPr>
              <a:t>Lưu kết quả các trận đấu của người chơi</a:t>
            </a:r>
          </a:p>
          <a:p>
            <a:pPr marL="615406" lvl="1" indent="-307703" algn="just">
              <a:lnSpc>
                <a:spcPts val="4275"/>
              </a:lnSpc>
              <a:buFont typeface="Arial"/>
              <a:buChar char="•"/>
            </a:pPr>
            <a:r>
              <a:rPr lang="en-US" sz="2850">
                <a:solidFill>
                  <a:srgbClr val="121212"/>
                </a:solidFill>
                <a:latin typeface="Public Sans"/>
                <a:ea typeface="Public Sans"/>
                <a:cs typeface="Public Sans"/>
                <a:sym typeface="Public Sans"/>
              </a:rPr>
              <a:t>Đảm bảo dữ liệu được giữ lại để sử dụng lâu dài</a:t>
            </a:r>
          </a:p>
          <a:p>
            <a:pPr algn="just">
              <a:lnSpc>
                <a:spcPts val="4275"/>
              </a:lnSpc>
            </a:pPr>
            <a:endParaRPr lang="en-US" sz="2850">
              <a:solidFill>
                <a:srgbClr val="121212"/>
              </a:solidFill>
              <a:latin typeface="Public Sans"/>
              <a:ea typeface="Public Sans"/>
              <a:cs typeface="Public Sans"/>
              <a:sym typeface="Public Sans"/>
            </a:endParaRPr>
          </a:p>
          <a:p>
            <a:pPr algn="just">
              <a:lnSpc>
                <a:spcPts val="3570"/>
              </a:lnSpc>
            </a:pPr>
            <a:endParaRPr lang="en-US" sz="2850">
              <a:solidFill>
                <a:srgbClr val="121212"/>
              </a:solidFill>
              <a:latin typeface="Public Sans"/>
              <a:ea typeface="Public Sans"/>
              <a:cs typeface="Public Sans"/>
              <a:sym typeface="Public Sans"/>
            </a:endParaRPr>
          </a:p>
        </p:txBody>
      </p:sp>
      <p:sp>
        <p:nvSpPr>
          <p:cNvPr id="5" name="Freeform 5"/>
          <p:cNvSpPr/>
          <p:nvPr/>
        </p:nvSpPr>
        <p:spPr>
          <a:xfrm>
            <a:off x="634392" y="2111717"/>
            <a:ext cx="4839234" cy="6356958"/>
          </a:xfrm>
          <a:custGeom>
            <a:avLst/>
            <a:gdLst/>
            <a:ahLst/>
            <a:cxnLst/>
            <a:rect l="l" t="t" r="r" b="b"/>
            <a:pathLst>
              <a:path w="4839234" h="6356958">
                <a:moveTo>
                  <a:pt x="0" y="0"/>
                </a:moveTo>
                <a:lnTo>
                  <a:pt x="4839234" y="0"/>
                </a:lnTo>
                <a:lnTo>
                  <a:pt x="4839234" y="6356958"/>
                </a:lnTo>
                <a:lnTo>
                  <a:pt x="0" y="6356958"/>
                </a:lnTo>
                <a:lnTo>
                  <a:pt x="0" y="0"/>
                </a:lnTo>
                <a:close/>
              </a:path>
            </a:pathLst>
          </a:custGeom>
          <a:blipFill>
            <a:blip r:embed="rId2"/>
            <a:stretch>
              <a:fillRect/>
            </a:stretch>
          </a:blipFill>
        </p:spPr>
      </p:sp>
      <p:sp>
        <p:nvSpPr>
          <p:cNvPr id="6" name="TextBox 6"/>
          <p:cNvSpPr txBox="1"/>
          <p:nvPr/>
        </p:nvSpPr>
        <p:spPr>
          <a:xfrm>
            <a:off x="634392" y="457846"/>
            <a:ext cx="4166518" cy="1933575"/>
          </a:xfrm>
          <a:prstGeom prst="rect">
            <a:avLst/>
          </a:prstGeom>
        </p:spPr>
        <p:txBody>
          <a:bodyPr lIns="0" tIns="0" rIns="0" bIns="0" rtlCol="0" anchor="t">
            <a:spAutoFit/>
          </a:bodyPr>
          <a:lstStyle/>
          <a:p>
            <a:pPr algn="l">
              <a:lnSpc>
                <a:spcPts val="7620"/>
              </a:lnSpc>
            </a:pPr>
            <a:r>
              <a:rPr lang="en-US" sz="6350">
                <a:solidFill>
                  <a:srgbClr val="FFFFFF"/>
                </a:solidFill>
                <a:latin typeface="Public Sans"/>
                <a:ea typeface="Public Sans"/>
                <a:cs typeface="Public Sans"/>
                <a:sym typeface="Public Sans"/>
              </a:rPr>
              <a:t>Data </a:t>
            </a:r>
          </a:p>
          <a:p>
            <a:pPr algn="l">
              <a:lnSpc>
                <a:spcPts val="7619"/>
              </a:lnSpc>
            </a:pPr>
            <a:endParaRPr lang="en-US" sz="6350">
              <a:solidFill>
                <a:srgbClr val="FFFFFF"/>
              </a:solidFill>
              <a:latin typeface="Public Sans"/>
              <a:ea typeface="Public Sans"/>
              <a:cs typeface="Public Sans"/>
              <a:sym typeface="Public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67DB7D"/>
        </a:solidFill>
        <a:effectLst/>
      </p:bgPr>
    </p:bg>
    <p:spTree>
      <p:nvGrpSpPr>
        <p:cNvPr id="1" name=""/>
        <p:cNvGrpSpPr/>
        <p:nvPr/>
      </p:nvGrpSpPr>
      <p:grpSpPr>
        <a:xfrm>
          <a:off x="0" y="0"/>
          <a:ext cx="0" cy="0"/>
          <a:chOff x="0" y="0"/>
          <a:chExt cx="0" cy="0"/>
        </a:xfrm>
      </p:grpSpPr>
      <p:sp>
        <p:nvSpPr>
          <p:cNvPr id="2" name="TextBox 2"/>
          <p:cNvSpPr txBox="1"/>
          <p:nvPr/>
        </p:nvSpPr>
        <p:spPr>
          <a:xfrm>
            <a:off x="634392" y="548333"/>
            <a:ext cx="4166518" cy="1752600"/>
          </a:xfrm>
          <a:prstGeom prst="rect">
            <a:avLst/>
          </a:prstGeom>
        </p:spPr>
        <p:txBody>
          <a:bodyPr lIns="0" tIns="0" rIns="0" bIns="0" rtlCol="0" anchor="t">
            <a:spAutoFit/>
          </a:bodyPr>
          <a:lstStyle/>
          <a:p>
            <a:pPr algn="l">
              <a:lnSpc>
                <a:spcPts val="6180"/>
              </a:lnSpc>
            </a:pPr>
            <a:r>
              <a:rPr lang="en-US" sz="5150">
                <a:solidFill>
                  <a:srgbClr val="FFFFFF"/>
                </a:solidFill>
                <a:latin typeface="Public Sans"/>
                <a:ea typeface="Public Sans"/>
                <a:cs typeface="Public Sans"/>
                <a:sym typeface="Public Sans"/>
              </a:rPr>
              <a:t>History </a:t>
            </a:r>
          </a:p>
          <a:p>
            <a:pPr algn="l">
              <a:lnSpc>
                <a:spcPts val="7619"/>
              </a:lnSpc>
            </a:pPr>
            <a:endParaRPr lang="en-US" sz="5150">
              <a:solidFill>
                <a:srgbClr val="FFFFFF"/>
              </a:solidFill>
              <a:latin typeface="Public Sans"/>
              <a:ea typeface="Public Sans"/>
              <a:cs typeface="Public Sans"/>
              <a:sym typeface="Public Sans"/>
            </a:endParaRPr>
          </a:p>
        </p:txBody>
      </p:sp>
      <p:sp>
        <p:nvSpPr>
          <p:cNvPr id="3" name="Freeform 3"/>
          <p:cNvSpPr/>
          <p:nvPr/>
        </p:nvSpPr>
        <p:spPr>
          <a:xfrm>
            <a:off x="1834500" y="2075043"/>
            <a:ext cx="5157082" cy="6356958"/>
          </a:xfrm>
          <a:custGeom>
            <a:avLst/>
            <a:gdLst/>
            <a:ahLst/>
            <a:cxnLst/>
            <a:rect l="l" t="t" r="r" b="b"/>
            <a:pathLst>
              <a:path w="5157082" h="6356958">
                <a:moveTo>
                  <a:pt x="0" y="0"/>
                </a:moveTo>
                <a:lnTo>
                  <a:pt x="5157082" y="0"/>
                </a:lnTo>
                <a:lnTo>
                  <a:pt x="5157082" y="6356958"/>
                </a:lnTo>
                <a:lnTo>
                  <a:pt x="0" y="6356958"/>
                </a:lnTo>
                <a:lnTo>
                  <a:pt x="0" y="0"/>
                </a:lnTo>
                <a:close/>
              </a:path>
            </a:pathLst>
          </a:custGeom>
          <a:blipFill>
            <a:blip r:embed="rId2"/>
            <a:stretch>
              <a:fillRect/>
            </a:stretch>
          </a:blipFill>
        </p:spPr>
      </p:sp>
      <p:sp>
        <p:nvSpPr>
          <p:cNvPr id="4" name="Freeform 4"/>
          <p:cNvSpPr/>
          <p:nvPr/>
        </p:nvSpPr>
        <p:spPr>
          <a:xfrm>
            <a:off x="9652585" y="2026026"/>
            <a:ext cx="5290775" cy="6234948"/>
          </a:xfrm>
          <a:custGeom>
            <a:avLst/>
            <a:gdLst/>
            <a:ahLst/>
            <a:cxnLst/>
            <a:rect l="l" t="t" r="r" b="b"/>
            <a:pathLst>
              <a:path w="5290775" h="6234948">
                <a:moveTo>
                  <a:pt x="0" y="0"/>
                </a:moveTo>
                <a:lnTo>
                  <a:pt x="5290775" y="0"/>
                </a:lnTo>
                <a:lnTo>
                  <a:pt x="5290775" y="6234948"/>
                </a:lnTo>
                <a:lnTo>
                  <a:pt x="0" y="6234948"/>
                </a:lnTo>
                <a:lnTo>
                  <a:pt x="0" y="0"/>
                </a:lnTo>
                <a:close/>
              </a:path>
            </a:pathLst>
          </a:custGeom>
          <a:blipFill>
            <a:blip r:embed="rId3"/>
            <a:stretch>
              <a:fillRect/>
            </a:stretch>
          </a:blipFill>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885825"/>
            <a:ext cx="15537287" cy="901700"/>
          </a:xfrm>
          <a:prstGeom prst="rect">
            <a:avLst/>
          </a:prstGeom>
        </p:spPr>
        <p:txBody>
          <a:bodyPr lIns="0" tIns="0" rIns="0" bIns="0" rtlCol="0" anchor="t">
            <a:spAutoFit/>
          </a:bodyPr>
          <a:lstStyle/>
          <a:p>
            <a:pPr algn="l">
              <a:lnSpc>
                <a:spcPts val="6400"/>
              </a:lnSpc>
            </a:pPr>
            <a:r>
              <a:rPr lang="en-US" sz="5000" spc="710">
                <a:solidFill>
                  <a:srgbClr val="FFFFFF"/>
                </a:solidFill>
                <a:latin typeface="Times New Roman MT"/>
                <a:ea typeface="Times New Roman MT"/>
                <a:cs typeface="Times New Roman MT"/>
                <a:sym typeface="Times New Roman MT"/>
              </a:rPr>
              <a:t>4.Khó Khăn </a:t>
            </a:r>
          </a:p>
        </p:txBody>
      </p:sp>
      <p:sp>
        <p:nvSpPr>
          <p:cNvPr id="3" name="TextBox 3"/>
          <p:cNvSpPr txBox="1"/>
          <p:nvPr/>
        </p:nvSpPr>
        <p:spPr>
          <a:xfrm>
            <a:off x="1028700" y="2149599"/>
            <a:ext cx="18288000" cy="3676650"/>
          </a:xfrm>
          <a:prstGeom prst="rect">
            <a:avLst/>
          </a:prstGeom>
        </p:spPr>
        <p:txBody>
          <a:bodyPr lIns="0" tIns="0" rIns="0" bIns="0" rtlCol="0" anchor="t">
            <a:spAutoFit/>
          </a:bodyPr>
          <a:lstStyle/>
          <a:p>
            <a:pPr algn="l">
              <a:lnSpc>
                <a:spcPts val="3600"/>
              </a:lnSpc>
              <a:spcBef>
                <a:spcPct val="0"/>
              </a:spcBef>
            </a:pPr>
            <a:r>
              <a:rPr lang="en-US" sz="3000" b="1">
                <a:solidFill>
                  <a:srgbClr val="FFFFFF"/>
                </a:solidFill>
                <a:latin typeface="Public Sans Bold"/>
                <a:ea typeface="Public Sans Bold"/>
                <a:cs typeface="Public Sans Bold"/>
                <a:sym typeface="Public Sans Bold"/>
              </a:rPr>
              <a:t>- Học tập, làm quen với git, github trong thời gian ngắn.</a:t>
            </a:r>
          </a:p>
          <a:p>
            <a:pPr algn="l">
              <a:lnSpc>
                <a:spcPts val="3600"/>
              </a:lnSpc>
              <a:spcBef>
                <a:spcPct val="0"/>
              </a:spcBef>
            </a:pPr>
            <a:r>
              <a:rPr lang="en-US" sz="3000" b="1">
                <a:solidFill>
                  <a:srgbClr val="FFFFFF"/>
                </a:solidFill>
                <a:latin typeface="Public Sans Bold"/>
                <a:ea typeface="Public Sans Bold"/>
                <a:cs typeface="Public Sans Bold"/>
                <a:sym typeface="Public Sans Bold"/>
              </a:rPr>
              <a:t>- Truyền dữ liệu giữa client và server không ổn định, do sai cấu hình port dẫn đến mất kết nối và đồng bộ dữ liệu </a:t>
            </a:r>
          </a:p>
          <a:p>
            <a:pPr algn="l">
              <a:lnSpc>
                <a:spcPts val="3600"/>
              </a:lnSpc>
              <a:spcBef>
                <a:spcPct val="0"/>
              </a:spcBef>
            </a:pPr>
            <a:r>
              <a:rPr lang="en-US" sz="3000" b="1">
                <a:solidFill>
                  <a:srgbClr val="FFFFFF"/>
                </a:solidFill>
                <a:latin typeface="Public Sans Bold"/>
                <a:ea typeface="Public Sans Bold"/>
                <a:cs typeface="Public Sans Bold"/>
                <a:sym typeface="Public Sans Bold"/>
              </a:rPr>
              <a:t>- Debug lỗi liên tục do sự không đồng điệu ở code mỗi thành viên </a:t>
            </a:r>
          </a:p>
          <a:p>
            <a:pPr algn="l">
              <a:lnSpc>
                <a:spcPts val="3600"/>
              </a:lnSpc>
              <a:spcBef>
                <a:spcPct val="0"/>
              </a:spcBef>
            </a:pPr>
            <a:r>
              <a:rPr lang="en-US" sz="3000" b="1">
                <a:solidFill>
                  <a:srgbClr val="FFFFFF"/>
                </a:solidFill>
                <a:latin typeface="Public Sans Bold"/>
                <a:ea typeface="Public Sans Bold"/>
                <a:cs typeface="Public Sans Bold"/>
                <a:sym typeface="Public Sans Bold"/>
              </a:rPr>
              <a:t>- Làm quen với ngôn ngữ mới trong thời gian ngắn</a:t>
            </a:r>
          </a:p>
          <a:p>
            <a:pPr algn="l">
              <a:lnSpc>
                <a:spcPts val="3600"/>
              </a:lnSpc>
              <a:spcBef>
                <a:spcPct val="0"/>
              </a:spcBef>
            </a:pPr>
            <a:r>
              <a:rPr lang="en-US" sz="3000" b="1">
                <a:solidFill>
                  <a:srgbClr val="FFFFFF"/>
                </a:solidFill>
                <a:latin typeface="Public Sans Bold"/>
                <a:ea typeface="Public Sans Bold"/>
                <a:cs typeface="Public Sans Bold"/>
                <a:sym typeface="Public Sans Bold"/>
              </a:rPr>
              <a:t>- Học cách làm quen tạo giao diện với NetBeans</a:t>
            </a:r>
          </a:p>
          <a:p>
            <a:pPr algn="l">
              <a:lnSpc>
                <a:spcPts val="3600"/>
              </a:lnSpc>
              <a:spcBef>
                <a:spcPct val="0"/>
              </a:spcBef>
            </a:pPr>
            <a:r>
              <a:rPr lang="en-US" sz="3000" b="1">
                <a:solidFill>
                  <a:srgbClr val="FFFFFF"/>
                </a:solidFill>
                <a:latin typeface="Public Sans Bold"/>
                <a:ea typeface="Public Sans Bold"/>
                <a:cs typeface="Public Sans Bold"/>
                <a:sym typeface="Public Sans Bold"/>
              </a:rPr>
              <a:t>- Fix liên tục những lỗi nhỏ do tester trải nghiệm </a:t>
            </a:r>
          </a:p>
          <a:p>
            <a:pPr algn="l">
              <a:lnSpc>
                <a:spcPts val="3600"/>
              </a:lnSpc>
              <a:spcBef>
                <a:spcPct val="0"/>
              </a:spcBef>
            </a:pPr>
            <a:endParaRPr lang="en-US" sz="3000" b="1">
              <a:solidFill>
                <a:srgbClr val="FFFFFF"/>
              </a:solidFill>
              <a:latin typeface="Public Sans Bold"/>
              <a:ea typeface="Public Sans Bold"/>
              <a:cs typeface="Public Sans Bold"/>
              <a:sym typeface="Public Sans Bo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885825"/>
            <a:ext cx="15537287" cy="901700"/>
          </a:xfrm>
          <a:prstGeom prst="rect">
            <a:avLst/>
          </a:prstGeom>
        </p:spPr>
        <p:txBody>
          <a:bodyPr lIns="0" tIns="0" rIns="0" bIns="0" rtlCol="0" anchor="t">
            <a:spAutoFit/>
          </a:bodyPr>
          <a:lstStyle/>
          <a:p>
            <a:pPr algn="l">
              <a:lnSpc>
                <a:spcPts val="6400"/>
              </a:lnSpc>
            </a:pPr>
            <a:r>
              <a:rPr lang="en-US" sz="5000" spc="710">
                <a:solidFill>
                  <a:srgbClr val="FFFFFF"/>
                </a:solidFill>
                <a:latin typeface="Times New Roman MT"/>
                <a:ea typeface="Times New Roman MT"/>
                <a:cs typeface="Times New Roman MT"/>
                <a:sym typeface="Times New Roman MT"/>
              </a:rPr>
              <a:t>5.Thành Tựu</a:t>
            </a:r>
          </a:p>
        </p:txBody>
      </p:sp>
      <p:sp>
        <p:nvSpPr>
          <p:cNvPr id="3" name="TextBox 3"/>
          <p:cNvSpPr txBox="1"/>
          <p:nvPr/>
        </p:nvSpPr>
        <p:spPr>
          <a:xfrm>
            <a:off x="1028700" y="2149599"/>
            <a:ext cx="12689206" cy="3219450"/>
          </a:xfrm>
          <a:prstGeom prst="rect">
            <a:avLst/>
          </a:prstGeom>
        </p:spPr>
        <p:txBody>
          <a:bodyPr lIns="0" tIns="0" rIns="0" bIns="0" rtlCol="0" anchor="t">
            <a:spAutoFit/>
          </a:bodyPr>
          <a:lstStyle/>
          <a:p>
            <a:pPr marL="647700" lvl="1" indent="-323850" algn="l">
              <a:lnSpc>
                <a:spcPts val="3600"/>
              </a:lnSpc>
              <a:spcBef>
                <a:spcPct val="0"/>
              </a:spcBef>
              <a:buFont typeface="Arial"/>
              <a:buChar char="•"/>
            </a:pPr>
            <a:r>
              <a:rPr lang="en-US" sz="3000" b="1">
                <a:solidFill>
                  <a:srgbClr val="FFFFFF"/>
                </a:solidFill>
                <a:latin typeface="Public Sans Bold"/>
                <a:ea typeface="Public Sans Bold"/>
                <a:cs typeface="Public Sans Bold"/>
                <a:sym typeface="Public Sans Bold"/>
              </a:rPr>
              <a:t>Làm quen nhanh với Git/GitHub, biết quản lý code và làm việc nhóm</a:t>
            </a:r>
          </a:p>
          <a:p>
            <a:pPr marL="647700" lvl="1" indent="-323850" algn="l">
              <a:lnSpc>
                <a:spcPts val="3600"/>
              </a:lnSpc>
              <a:spcBef>
                <a:spcPct val="0"/>
              </a:spcBef>
              <a:buFont typeface="Arial"/>
              <a:buChar char="•"/>
            </a:pPr>
            <a:r>
              <a:rPr lang="en-US" sz="3000" b="1">
                <a:solidFill>
                  <a:srgbClr val="FFFFFF"/>
                </a:solidFill>
                <a:latin typeface="Public Sans Bold"/>
                <a:ea typeface="Public Sans Bold"/>
                <a:cs typeface="Public Sans Bold"/>
                <a:sym typeface="Public Sans Bold"/>
              </a:rPr>
              <a:t>Khắc phục lỗi kết nối client–server, cải thiện truyền dữ liệu</a:t>
            </a:r>
          </a:p>
          <a:p>
            <a:pPr marL="647700" lvl="1" indent="-323850" algn="l">
              <a:lnSpc>
                <a:spcPts val="3600"/>
              </a:lnSpc>
              <a:spcBef>
                <a:spcPct val="0"/>
              </a:spcBef>
              <a:buFont typeface="Arial"/>
              <a:buChar char="•"/>
            </a:pPr>
            <a:r>
              <a:rPr lang="en-US" sz="3000" b="1">
                <a:solidFill>
                  <a:srgbClr val="FFFFFF"/>
                </a:solidFill>
                <a:latin typeface="Public Sans Bold"/>
                <a:ea typeface="Public Sans Bold"/>
                <a:cs typeface="Public Sans Bold"/>
                <a:sym typeface="Public Sans Bold"/>
              </a:rPr>
              <a:t>Đồng bộ code giữa các thành viên, nâng cao kỹ năng debug</a:t>
            </a:r>
          </a:p>
          <a:p>
            <a:pPr marL="647700" lvl="1" indent="-323850" algn="l">
              <a:lnSpc>
                <a:spcPts val="3600"/>
              </a:lnSpc>
              <a:spcBef>
                <a:spcPct val="0"/>
              </a:spcBef>
              <a:buFont typeface="Arial"/>
              <a:buChar char="•"/>
            </a:pPr>
            <a:r>
              <a:rPr lang="en-US" sz="3000" b="1">
                <a:solidFill>
                  <a:srgbClr val="FFFFFF"/>
                </a:solidFill>
                <a:latin typeface="Public Sans Bold"/>
                <a:ea typeface="Public Sans Bold"/>
                <a:cs typeface="Public Sans Bold"/>
                <a:sym typeface="Public Sans Bold"/>
              </a:rPr>
              <a:t>Nhanh chóng tiếp cận và sử dụng ngôn ngữ lập trình mới</a:t>
            </a:r>
          </a:p>
          <a:p>
            <a:pPr marL="647700" lvl="1" indent="-323850" algn="l">
              <a:lnSpc>
                <a:spcPts val="3600"/>
              </a:lnSpc>
              <a:spcBef>
                <a:spcPct val="0"/>
              </a:spcBef>
              <a:buFont typeface="Arial"/>
              <a:buChar char="•"/>
            </a:pPr>
            <a:r>
              <a:rPr lang="en-US" sz="3000" b="1">
                <a:solidFill>
                  <a:srgbClr val="FFFFFF"/>
                </a:solidFill>
                <a:latin typeface="Public Sans Bold"/>
                <a:ea typeface="Public Sans Bold"/>
                <a:cs typeface="Public Sans Bold"/>
                <a:sym typeface="Public Sans Bold"/>
              </a:rPr>
              <a:t>Học và thiết kế được giao diện GUI bằng NetBeans</a:t>
            </a:r>
          </a:p>
          <a:p>
            <a:pPr marL="647700" lvl="1" indent="-323850" algn="l">
              <a:lnSpc>
                <a:spcPts val="3600"/>
              </a:lnSpc>
              <a:spcBef>
                <a:spcPct val="0"/>
              </a:spcBef>
              <a:buFont typeface="Arial"/>
              <a:buChar char="•"/>
            </a:pPr>
            <a:r>
              <a:rPr lang="en-US" sz="3000" b="1">
                <a:solidFill>
                  <a:srgbClr val="FFFFFF"/>
                </a:solidFill>
                <a:latin typeface="Public Sans Bold"/>
                <a:ea typeface="Public Sans Bold"/>
                <a:cs typeface="Public Sans Bold"/>
                <a:sym typeface="Public Sans Bold"/>
              </a:rPr>
              <a:t>Cải thiện hệ thống thông qua quá trình test và sửa lỗi</a:t>
            </a:r>
          </a:p>
          <a:p>
            <a:pPr algn="l">
              <a:lnSpc>
                <a:spcPts val="3600"/>
              </a:lnSpc>
              <a:spcBef>
                <a:spcPct val="0"/>
              </a:spcBef>
            </a:pPr>
            <a:endParaRPr lang="en-US" sz="3000" b="1">
              <a:solidFill>
                <a:srgbClr val="FFFFFF"/>
              </a:solidFill>
              <a:latin typeface="Public Sans Bold"/>
              <a:ea typeface="Public Sans Bold"/>
              <a:cs typeface="Public Sans Bold"/>
              <a:sym typeface="Public Sans Bo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885825"/>
            <a:ext cx="15537287" cy="901700"/>
          </a:xfrm>
          <a:prstGeom prst="rect">
            <a:avLst/>
          </a:prstGeom>
        </p:spPr>
        <p:txBody>
          <a:bodyPr lIns="0" tIns="0" rIns="0" bIns="0" rtlCol="0" anchor="t">
            <a:spAutoFit/>
          </a:bodyPr>
          <a:lstStyle/>
          <a:p>
            <a:pPr algn="l">
              <a:lnSpc>
                <a:spcPts val="6400"/>
              </a:lnSpc>
            </a:pPr>
            <a:r>
              <a:rPr lang="en-US" sz="5000" spc="710">
                <a:solidFill>
                  <a:srgbClr val="FFFFFF"/>
                </a:solidFill>
                <a:latin typeface="Times New Roman MT"/>
                <a:ea typeface="Times New Roman MT"/>
                <a:cs typeface="Times New Roman MT"/>
                <a:sym typeface="Times New Roman MT"/>
              </a:rPr>
              <a:t>6.Những gì chưa làm được </a:t>
            </a:r>
          </a:p>
        </p:txBody>
      </p:sp>
      <p:sp>
        <p:nvSpPr>
          <p:cNvPr id="3" name="TextBox 3"/>
          <p:cNvSpPr txBox="1"/>
          <p:nvPr/>
        </p:nvSpPr>
        <p:spPr>
          <a:xfrm>
            <a:off x="1028700" y="2417411"/>
            <a:ext cx="12062045" cy="3173396"/>
          </a:xfrm>
          <a:prstGeom prst="rect">
            <a:avLst/>
          </a:prstGeom>
        </p:spPr>
        <p:txBody>
          <a:bodyPr lIns="0" tIns="0" rIns="0" bIns="0" rtlCol="0" anchor="t">
            <a:spAutoFit/>
          </a:bodyPr>
          <a:lstStyle/>
          <a:p>
            <a:pPr algn="l">
              <a:lnSpc>
                <a:spcPts val="4997"/>
              </a:lnSpc>
              <a:spcBef>
                <a:spcPct val="0"/>
              </a:spcBef>
            </a:pPr>
            <a:r>
              <a:rPr lang="en-US" sz="4164" b="1">
                <a:solidFill>
                  <a:srgbClr val="FFFFFF"/>
                </a:solidFill>
                <a:latin typeface="Public Sans Bold"/>
                <a:ea typeface="Public Sans Bold"/>
                <a:cs typeface="Public Sans Bold"/>
                <a:sym typeface="Public Sans Bold"/>
              </a:rPr>
              <a:t>- Tạo chat cho 2 client trò chuyện với nhau </a:t>
            </a:r>
          </a:p>
          <a:p>
            <a:pPr algn="l">
              <a:lnSpc>
                <a:spcPts val="4997"/>
              </a:lnSpc>
              <a:spcBef>
                <a:spcPct val="0"/>
              </a:spcBef>
            </a:pPr>
            <a:r>
              <a:rPr lang="en-US" sz="4164" b="1">
                <a:solidFill>
                  <a:srgbClr val="FFFFFF"/>
                </a:solidFill>
                <a:latin typeface="Public Sans Bold"/>
                <a:ea typeface="Public Sans Bold"/>
                <a:cs typeface="Public Sans Bold"/>
                <a:sym typeface="Public Sans Bold"/>
              </a:rPr>
              <a:t>- Tạo kết nối cho 2 máy kết nối với nhau </a:t>
            </a:r>
          </a:p>
          <a:p>
            <a:pPr algn="l">
              <a:lnSpc>
                <a:spcPts val="4997"/>
              </a:lnSpc>
              <a:spcBef>
                <a:spcPct val="0"/>
              </a:spcBef>
            </a:pPr>
            <a:r>
              <a:rPr lang="en-US" sz="4164" b="1">
                <a:solidFill>
                  <a:srgbClr val="FFFFFF"/>
                </a:solidFill>
                <a:latin typeface="Public Sans Bold"/>
                <a:ea typeface="Public Sans Bold"/>
                <a:cs typeface="Public Sans Bold"/>
                <a:sym typeface="Public Sans Bold"/>
              </a:rPr>
              <a:t>- Tích hợp Ai phân tích lối đánh </a:t>
            </a:r>
          </a:p>
          <a:p>
            <a:pPr algn="l">
              <a:lnSpc>
                <a:spcPts val="4997"/>
              </a:lnSpc>
              <a:spcBef>
                <a:spcPct val="0"/>
              </a:spcBef>
            </a:pPr>
            <a:r>
              <a:rPr lang="en-US" sz="4164" b="1">
                <a:solidFill>
                  <a:srgbClr val="FFFFFF"/>
                </a:solidFill>
                <a:latin typeface="Public Sans Bold"/>
                <a:ea typeface="Public Sans Bold"/>
                <a:cs typeface="Public Sans Bold"/>
                <a:sym typeface="Public Sans Bold"/>
              </a:rPr>
              <a:t>- Tạo ra cơ chế xếp để tạo môi trường cạnh tranh </a:t>
            </a:r>
          </a:p>
          <a:p>
            <a:pPr algn="l">
              <a:lnSpc>
                <a:spcPts val="4997"/>
              </a:lnSpc>
              <a:spcBef>
                <a:spcPct val="0"/>
              </a:spcBef>
            </a:pPr>
            <a:endParaRPr lang="en-US" sz="4164" b="1">
              <a:solidFill>
                <a:srgbClr val="FFFFFF"/>
              </a:solidFill>
              <a:latin typeface="Public Sans Bold"/>
              <a:ea typeface="Public Sans Bold"/>
              <a:cs typeface="Public Sans Bold"/>
              <a:sym typeface="Public Sans 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4097649"/>
            <a:ext cx="16877369" cy="1725937"/>
          </a:xfrm>
          <a:prstGeom prst="rect">
            <a:avLst/>
          </a:prstGeom>
        </p:spPr>
        <p:txBody>
          <a:bodyPr lIns="0" tIns="0" rIns="0" bIns="0" rtlCol="0" anchor="t">
            <a:spAutoFit/>
          </a:bodyPr>
          <a:lstStyle/>
          <a:p>
            <a:pPr algn="ctr">
              <a:lnSpc>
                <a:spcPts val="13858"/>
              </a:lnSpc>
              <a:spcBef>
                <a:spcPct val="0"/>
              </a:spcBef>
            </a:pPr>
            <a:r>
              <a:rPr lang="en-US" sz="10999">
                <a:solidFill>
                  <a:srgbClr val="FFFFFF"/>
                </a:solidFill>
                <a:latin typeface="DM Sans"/>
                <a:ea typeface="DM Sans"/>
                <a:cs typeface="DM Sans"/>
                <a:sym typeface="DM Sans"/>
              </a:rPr>
              <a:t>Thank's For Watching!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1069</Words>
  <Application>Microsoft Office PowerPoint</Application>
  <PresentationFormat>Custom</PresentationFormat>
  <Paragraphs>117</Paragraphs>
  <Slides>25</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25</vt:i4>
      </vt:variant>
    </vt:vector>
  </HeadingPairs>
  <TitlesOfParts>
    <vt:vector size="38" baseType="lpstr">
      <vt:lpstr>Cooper Hewitt Bold</vt:lpstr>
      <vt:lpstr>Public Sans Thin</vt:lpstr>
      <vt:lpstr>Arial</vt:lpstr>
      <vt:lpstr>Times New Roman MT</vt:lpstr>
      <vt:lpstr>Open Sauce Medium</vt:lpstr>
      <vt:lpstr>Open Sauce</vt:lpstr>
      <vt:lpstr>DM Sans</vt:lpstr>
      <vt:lpstr>Canva Sans Bold</vt:lpstr>
      <vt:lpstr>Public Sans</vt:lpstr>
      <vt:lpstr>Calibri</vt:lpstr>
      <vt:lpstr>Barlow SemiCondensed Bold</vt:lpstr>
      <vt:lpstr>Public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Phân tích hoạch  định công ty AMD</dc:title>
  <dc:creator>Windows</dc:creator>
  <cp:lastModifiedBy>Lê thành An</cp:lastModifiedBy>
  <cp:revision>1</cp:revision>
  <dcterms:created xsi:type="dcterms:W3CDTF">2006-08-16T00:00:00Z</dcterms:created>
  <dcterms:modified xsi:type="dcterms:W3CDTF">2026-04-17T04:50:37Z</dcterms:modified>
  <dc:identifier>DAHHCfo-5cc</dc:identifier>
</cp:coreProperties>
</file>